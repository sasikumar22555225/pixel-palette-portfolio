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8" r:id="rId2"/>
    <p:sldId id="496" r:id="rId3"/>
    <p:sldId id="497" r:id="rId4"/>
    <p:sldId id="498" r:id="rId5"/>
    <p:sldId id="499" r:id="rId6"/>
    <p:sldId id="500" r:id="rId7"/>
    <p:sldId id="501" r:id="rId8"/>
    <p:sldId id="502" r:id="rId9"/>
    <p:sldId id="505" r:id="rId10"/>
    <p:sldId id="503" r:id="rId11"/>
    <p:sldId id="455" r:id="rId12"/>
    <p:sldId id="477" r:id="rId13"/>
    <p:sldId id="478" r:id="rId14"/>
    <p:sldId id="492" r:id="rId15"/>
    <p:sldId id="479" r:id="rId16"/>
    <p:sldId id="493" r:id="rId17"/>
    <p:sldId id="481" r:id="rId18"/>
    <p:sldId id="483" r:id="rId19"/>
    <p:sldId id="485" r:id="rId20"/>
    <p:sldId id="494" r:id="rId21"/>
    <p:sldId id="495" r:id="rId22"/>
    <p:sldId id="476" r:id="rId23"/>
    <p:sldId id="491" r:id="rId24"/>
    <p:sldId id="47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45454"/>
    <a:srgbClr val="7F7F7F"/>
    <a:srgbClr val="F04034"/>
    <a:srgbClr val="EE2516"/>
    <a:srgbClr val="D61E10"/>
    <a:srgbClr val="6D7A8B"/>
    <a:srgbClr val="FF60AF"/>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67" autoAdjust="0"/>
    <p:restoredTop sz="94660"/>
  </p:normalViewPr>
  <p:slideViewPr>
    <p:cSldViewPr snapToGrid="0">
      <p:cViewPr varScale="1">
        <p:scale>
          <a:sx n="93" d="100"/>
          <a:sy n="93" d="100"/>
        </p:scale>
        <p:origin x="44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734F4134-E1D5-43D5-B528-B54D97585CBB}">
      <dgm:prSet phldrT="[Text]" custT="1"/>
      <dgm:spPr>
        <a:solidFill>
          <a:srgbClr val="EE2516"/>
        </a:solidFill>
      </dgm:spPr>
      <dgm:t>
        <a:bodyPr/>
        <a:lstStyle/>
        <a:p>
          <a:pPr algn="l">
            <a:buNone/>
          </a:pPr>
          <a:r>
            <a:rPr lang="en-US" sz="2800" b="0" i="0" dirty="0"/>
            <a:t>The Wearable Brainwave Monitoring Cap is an EEG-based stress detection system that continuously monitors brainwave activity to identify cognitive stress in real time. It alerts users through a mobile app and provides personalized stress-relief recommendations using scientifically validated techniques</a:t>
          </a:r>
          <a:endParaRPr lang="en-IN" sz="2800" dirty="0">
            <a:solidFill>
              <a:schemeClr val="bg1"/>
            </a:solidFill>
            <a:latin typeface="Montserrat" panose="00000500000000000000" pitchFamily="2" charset="0"/>
          </a:endParaRPr>
        </a:p>
      </dgm:t>
    </dgm:pt>
    <dgm:pt modelId="{EFEEB090-9026-4FC6-95E9-04981C53B35E}" type="parTrans" cxnId="{DD1786C4-3186-4B5B-AE30-1E7ADECE388F}">
      <dgm:prSet/>
      <dgm:spPr/>
      <dgm:t>
        <a:bodyPr/>
        <a:lstStyle/>
        <a:p>
          <a:endParaRPr lang="en-IN">
            <a:latin typeface="Montserrat" panose="00000500000000000000" pitchFamily="2" charset="0"/>
          </a:endParaRPr>
        </a:p>
      </dgm:t>
    </dgm:pt>
    <dgm:pt modelId="{08E6E445-881C-4479-85D7-BE7945FAC530}" type="sibTrans" cxnId="{DD1786C4-3186-4B5B-AE30-1E7ADECE388F}">
      <dgm:prSet/>
      <dgm:spPr/>
      <dgm:t>
        <a:bodyPr/>
        <a:lstStyle/>
        <a:p>
          <a:endParaRPr lang="en-IN">
            <a:latin typeface="Montserrat" panose="00000500000000000000" pitchFamily="2" charset="0"/>
          </a:endParaRPr>
        </a:p>
      </dgm:t>
    </dgm:pt>
    <dgm:pt modelId="{FA200A2F-C330-431E-BDD2-CDE3B3595162}">
      <dgm:prSet phldrT="[Text]" custT="1"/>
      <dgm:spPr>
        <a:solidFill>
          <a:schemeClr val="tx1">
            <a:lumMod val="50000"/>
            <a:lumOff val="50000"/>
          </a:schemeClr>
        </a:solidFill>
      </dgm:spPr>
      <dgm:t>
        <a:bodyPr/>
        <a:lstStyle/>
        <a:p>
          <a:pPr algn="l"/>
          <a:r>
            <a:rPr lang="en-US" sz="2800" b="0" i="0" dirty="0"/>
            <a:t>This solution bridges the gap between mental health awareness and real-time monitoring by offering a portable, affordable, and non-invasive device for students, professionals, and defense personnel.</a:t>
          </a:r>
        </a:p>
        <a:p>
          <a:pPr algn="l"/>
          <a:endParaRPr lang="en-IN" sz="2800" dirty="0">
            <a:solidFill>
              <a:schemeClr val="bg1"/>
            </a:solidFill>
            <a:latin typeface="Montserrat" panose="00000500000000000000" pitchFamily="2" charset="0"/>
          </a:endParaRPr>
        </a:p>
      </dgm:t>
    </dgm:pt>
    <dgm:pt modelId="{EDACE483-FB25-487E-AE3F-18DDD456604E}" type="parTrans" cxnId="{FC50C7E3-644C-41DC-9392-BAEC48D274A6}">
      <dgm:prSet/>
      <dgm:spPr/>
      <dgm:t>
        <a:bodyPr/>
        <a:lstStyle/>
        <a:p>
          <a:endParaRPr lang="en-IN">
            <a:latin typeface="Montserrat" panose="00000500000000000000" pitchFamily="2" charset="0"/>
          </a:endParaRPr>
        </a:p>
      </dgm:t>
    </dgm:pt>
    <dgm:pt modelId="{2017CCE2-2B64-4B81-8732-0E2B02FC527F}" type="sibTrans" cxnId="{FC50C7E3-644C-41DC-9392-BAEC48D274A6}">
      <dgm:prSet/>
      <dgm:spPr/>
      <dgm:t>
        <a:bodyPr/>
        <a:lstStyle/>
        <a:p>
          <a:endParaRPr lang="en-IN">
            <a:latin typeface="Montserrat" panose="00000500000000000000" pitchFamily="2" charset="0"/>
          </a:endParaRPr>
        </a:p>
      </dgm:t>
    </dgm:pt>
    <dgm:pt modelId="{4BC6EFDF-A91D-4DDE-B436-D0306CA8FB22}" type="pres">
      <dgm:prSet presAssocID="{F63AB343-5A73-47E4-8646-CD6F6FB8F31C}" presName="diagram" presStyleCnt="0">
        <dgm:presLayoutVars>
          <dgm:dir/>
          <dgm:resizeHandles val="exact"/>
        </dgm:presLayoutVars>
      </dgm:prSet>
      <dgm:spPr/>
    </dgm:pt>
    <dgm:pt modelId="{C7D0697F-16F4-44E2-AFF3-63CF0A714EEB}" type="pres">
      <dgm:prSet presAssocID="{734F4134-E1D5-43D5-B528-B54D97585CBB}" presName="node" presStyleLbl="node1" presStyleIdx="0" presStyleCnt="2" custScaleX="136914" custScaleY="157874" custLinFactNeighborX="338" custLinFactNeighborY="498">
        <dgm:presLayoutVars>
          <dgm:bulletEnabled val="1"/>
        </dgm:presLayoutVars>
      </dgm:prSet>
      <dgm:spPr/>
    </dgm:pt>
    <dgm:pt modelId="{CDEC6380-52CC-4823-8F32-7DE41D09C832}" type="pres">
      <dgm:prSet presAssocID="{08E6E445-881C-4479-85D7-BE7945FAC530}" presName="sibTrans" presStyleCnt="0"/>
      <dgm:spPr/>
    </dgm:pt>
    <dgm:pt modelId="{1B6A54B0-7323-418C-B8EE-1A870FF5188A}" type="pres">
      <dgm:prSet presAssocID="{FA200A2F-C330-431E-BDD2-CDE3B3595162}" presName="node" presStyleLbl="node1" presStyleIdx="1" presStyleCnt="2" custScaleX="118628" custScaleY="145477" custLinFactNeighborX="-4723" custLinFactNeighborY="-2471">
        <dgm:presLayoutVars>
          <dgm:bulletEnabled val="1"/>
        </dgm:presLayoutVars>
      </dgm:prSet>
      <dgm:spPr/>
    </dgm:pt>
  </dgm:ptLst>
  <dgm:cxnLst>
    <dgm:cxn modelId="{77EF6D1D-FD7A-47D8-BDE6-522163C31357}" type="presOf" srcId="{F63AB343-5A73-47E4-8646-CD6F6FB8F31C}" destId="{4BC6EFDF-A91D-4DDE-B436-D0306CA8FB22}" srcOrd="0" destOrd="0" presId="urn:microsoft.com/office/officeart/2005/8/layout/default"/>
    <dgm:cxn modelId="{3EFDD747-74B2-4981-9869-3F85B2DE49DC}" type="presOf" srcId="{FA200A2F-C330-431E-BDD2-CDE3B3595162}" destId="{1B6A54B0-7323-418C-B8EE-1A870FF5188A}" srcOrd="0" destOrd="0" presId="urn:microsoft.com/office/officeart/2005/8/layout/default"/>
    <dgm:cxn modelId="{DD1786C4-3186-4B5B-AE30-1E7ADECE388F}" srcId="{F63AB343-5A73-47E4-8646-CD6F6FB8F31C}" destId="{734F4134-E1D5-43D5-B528-B54D97585CBB}" srcOrd="0" destOrd="0" parTransId="{EFEEB090-9026-4FC6-95E9-04981C53B35E}" sibTransId="{08E6E445-881C-4479-85D7-BE7945FAC530}"/>
    <dgm:cxn modelId="{FC50C7E3-644C-41DC-9392-BAEC48D274A6}" srcId="{F63AB343-5A73-47E4-8646-CD6F6FB8F31C}" destId="{FA200A2F-C330-431E-BDD2-CDE3B3595162}" srcOrd="1" destOrd="0" parTransId="{EDACE483-FB25-487E-AE3F-18DDD456604E}" sibTransId="{2017CCE2-2B64-4B81-8732-0E2B02FC527F}"/>
    <dgm:cxn modelId="{38BFDAF7-E9F9-4E3A-872D-65DB2787DC51}" type="presOf" srcId="{734F4134-E1D5-43D5-B528-B54D97585CBB}" destId="{C7D0697F-16F4-44E2-AFF3-63CF0A714EEB}" srcOrd="0" destOrd="0" presId="urn:microsoft.com/office/officeart/2005/8/layout/default"/>
    <dgm:cxn modelId="{CC870701-D926-46F5-9F33-575B800D1DC3}" type="presParOf" srcId="{4BC6EFDF-A91D-4DDE-B436-D0306CA8FB22}" destId="{C7D0697F-16F4-44E2-AFF3-63CF0A714EEB}" srcOrd="0" destOrd="0" presId="urn:microsoft.com/office/officeart/2005/8/layout/default"/>
    <dgm:cxn modelId="{FD7B9305-BF2B-4392-AE15-86B33C51610F}" type="presParOf" srcId="{4BC6EFDF-A91D-4DDE-B436-D0306CA8FB22}" destId="{CDEC6380-52CC-4823-8F32-7DE41D09C832}" srcOrd="1" destOrd="0" presId="urn:microsoft.com/office/officeart/2005/8/layout/default"/>
    <dgm:cxn modelId="{CE01DBE9-E7BA-4532-9CE4-09DB7FBA437A}" type="presParOf" srcId="{4BC6EFDF-A91D-4DDE-B436-D0306CA8FB22}" destId="{1B6A54B0-7323-418C-B8EE-1A870FF5188A}" srcOrd="2"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734F4134-E1D5-43D5-B528-B54D97585CBB}">
      <dgm:prSet phldrT="[Text]" custT="1"/>
      <dgm:spPr>
        <a:solidFill>
          <a:srgbClr val="7F7F7F"/>
        </a:solidFill>
      </dgm:spPr>
      <dgm:t>
        <a:bodyPr/>
        <a:lstStyle/>
        <a:p>
          <a:pPr algn="l"/>
          <a:r>
            <a:rPr lang="en-US" sz="2400" b="0" i="0" dirty="0"/>
            <a:t>Cognitive stress is rising dramatically in high-pressure environments such as education, corporate workplaces, and defense. </a:t>
          </a:r>
          <a:endParaRPr lang="en-IN" sz="2400" dirty="0">
            <a:solidFill>
              <a:schemeClr val="bg1"/>
            </a:solidFill>
            <a:latin typeface="Montserrat" panose="00000500000000000000" pitchFamily="2" charset="0"/>
          </a:endParaRPr>
        </a:p>
      </dgm:t>
    </dgm:pt>
    <dgm:pt modelId="{EFEEB090-9026-4FC6-95E9-04981C53B35E}" type="parTrans" cxnId="{DD1786C4-3186-4B5B-AE30-1E7ADECE388F}">
      <dgm:prSet/>
      <dgm:spPr/>
      <dgm:t>
        <a:bodyPr/>
        <a:lstStyle/>
        <a:p>
          <a:endParaRPr lang="en-IN" sz="2400">
            <a:latin typeface="Montserrat" panose="00000500000000000000" pitchFamily="2" charset="0"/>
          </a:endParaRPr>
        </a:p>
      </dgm:t>
    </dgm:pt>
    <dgm:pt modelId="{08E6E445-881C-4479-85D7-BE7945FAC530}" type="sibTrans" cxnId="{DD1786C4-3186-4B5B-AE30-1E7ADECE388F}">
      <dgm:prSet/>
      <dgm:spPr/>
      <dgm:t>
        <a:bodyPr/>
        <a:lstStyle/>
        <a:p>
          <a:endParaRPr lang="en-IN" sz="2400">
            <a:latin typeface="Montserrat" panose="00000500000000000000" pitchFamily="2" charset="0"/>
          </a:endParaRPr>
        </a:p>
      </dgm:t>
    </dgm:pt>
    <dgm:pt modelId="{FA200A2F-C330-431E-BDD2-CDE3B3595162}">
      <dgm:prSet phldrT="[Text]" custT="1"/>
      <dgm:spPr>
        <a:solidFill>
          <a:schemeClr val="tx1">
            <a:lumMod val="50000"/>
            <a:lumOff val="50000"/>
          </a:schemeClr>
        </a:solidFill>
      </dgm:spPr>
      <dgm:t>
        <a:bodyPr/>
        <a:lstStyle/>
        <a:p>
          <a:pPr algn="l"/>
          <a:r>
            <a:rPr lang="en-US" sz="2400" b="0" i="0" dirty="0"/>
            <a:t>Existing stress detection methods rely on subjective questionnaires or expensive clinical tools, making real-time monitoring difficult and inaccessible.</a:t>
          </a:r>
          <a:endParaRPr lang="en-IN" sz="2400" dirty="0">
            <a:solidFill>
              <a:schemeClr val="bg1"/>
            </a:solidFill>
            <a:latin typeface="Montserrat" panose="00000500000000000000" pitchFamily="2" charset="0"/>
          </a:endParaRPr>
        </a:p>
      </dgm:t>
    </dgm:pt>
    <dgm:pt modelId="{EDACE483-FB25-487E-AE3F-18DDD456604E}" type="parTrans" cxnId="{FC50C7E3-644C-41DC-9392-BAEC48D274A6}">
      <dgm:prSet/>
      <dgm:spPr/>
      <dgm:t>
        <a:bodyPr/>
        <a:lstStyle/>
        <a:p>
          <a:endParaRPr lang="en-IN" sz="2400">
            <a:latin typeface="Montserrat" panose="00000500000000000000" pitchFamily="2" charset="0"/>
          </a:endParaRPr>
        </a:p>
      </dgm:t>
    </dgm:pt>
    <dgm:pt modelId="{2017CCE2-2B64-4B81-8732-0E2B02FC527F}" type="sibTrans" cxnId="{FC50C7E3-644C-41DC-9392-BAEC48D274A6}">
      <dgm:prSet/>
      <dgm:spPr/>
      <dgm:t>
        <a:bodyPr/>
        <a:lstStyle/>
        <a:p>
          <a:endParaRPr lang="en-IN" sz="2400">
            <a:latin typeface="Montserrat" panose="00000500000000000000" pitchFamily="2" charset="0"/>
          </a:endParaRPr>
        </a:p>
      </dgm:t>
    </dgm:pt>
    <dgm:pt modelId="{69CFE273-6634-4AF2-ADF7-195FCFD02937}">
      <dgm:prSet phldrT="[Text]" custT="1"/>
      <dgm:spPr>
        <a:solidFill>
          <a:srgbClr val="F04034"/>
        </a:solidFill>
      </dgm:spPr>
      <dgm:t>
        <a:bodyPr/>
        <a:lstStyle/>
        <a:p>
          <a:pPr algn="l"/>
          <a:r>
            <a:rPr lang="en-US" sz="2400" b="0" i="0" dirty="0"/>
            <a:t>Without timely detection, stress negatively impacts mental health, productivity, decision-making, and overall well-being.</a:t>
          </a:r>
        </a:p>
        <a:p>
          <a:pPr algn="l"/>
          <a:endParaRPr lang="en-IN" sz="2400" dirty="0">
            <a:solidFill>
              <a:schemeClr val="bg1"/>
            </a:solidFill>
            <a:latin typeface="Montserrat" panose="00000500000000000000" pitchFamily="2" charset="0"/>
          </a:endParaRPr>
        </a:p>
      </dgm:t>
    </dgm:pt>
    <dgm:pt modelId="{464AEF01-3A62-4C91-9C64-6508F6716BD3}" type="parTrans" cxnId="{F2D26463-A756-459D-8F8F-64F6F789D0EB}">
      <dgm:prSet/>
      <dgm:spPr/>
      <dgm:t>
        <a:bodyPr/>
        <a:lstStyle/>
        <a:p>
          <a:endParaRPr lang="en-IN" sz="2400">
            <a:latin typeface="Montserrat" panose="00000500000000000000" pitchFamily="2" charset="0"/>
          </a:endParaRPr>
        </a:p>
      </dgm:t>
    </dgm:pt>
    <dgm:pt modelId="{F652DB56-D174-4C1C-A4B6-0A7ADDCA9A74}" type="sibTrans" cxnId="{F2D26463-A756-459D-8F8F-64F6F789D0EB}">
      <dgm:prSet/>
      <dgm:spPr/>
      <dgm:t>
        <a:bodyPr/>
        <a:lstStyle/>
        <a:p>
          <a:endParaRPr lang="en-IN" sz="2400">
            <a:latin typeface="Montserrat" panose="00000500000000000000" pitchFamily="2" charset="0"/>
          </a:endParaRPr>
        </a:p>
      </dgm:t>
    </dgm:pt>
    <dgm:pt modelId="{4BC6EFDF-A91D-4DDE-B436-D0306CA8FB22}" type="pres">
      <dgm:prSet presAssocID="{F63AB343-5A73-47E4-8646-CD6F6FB8F31C}" presName="diagram" presStyleCnt="0">
        <dgm:presLayoutVars>
          <dgm:dir/>
          <dgm:resizeHandles val="exact"/>
        </dgm:presLayoutVars>
      </dgm:prSet>
      <dgm:spPr/>
    </dgm:pt>
    <dgm:pt modelId="{C7D0697F-16F4-44E2-AFF3-63CF0A714EEB}" type="pres">
      <dgm:prSet presAssocID="{734F4134-E1D5-43D5-B528-B54D97585CBB}" presName="node" presStyleLbl="node1" presStyleIdx="0" presStyleCnt="3" custScaleX="132821" custScaleY="84616" custLinFactNeighborX="-599" custLinFactNeighborY="1700">
        <dgm:presLayoutVars>
          <dgm:bulletEnabled val="1"/>
        </dgm:presLayoutVars>
      </dgm:prSet>
      <dgm:spPr/>
    </dgm:pt>
    <dgm:pt modelId="{CDEC6380-52CC-4823-8F32-7DE41D09C832}" type="pres">
      <dgm:prSet presAssocID="{08E6E445-881C-4479-85D7-BE7945FAC530}" presName="sibTrans" presStyleCnt="0"/>
      <dgm:spPr/>
    </dgm:pt>
    <dgm:pt modelId="{1B6A54B0-7323-418C-B8EE-1A870FF5188A}" type="pres">
      <dgm:prSet presAssocID="{FA200A2F-C330-431E-BDD2-CDE3B3595162}" presName="node" presStyleLbl="node1" presStyleIdx="1" presStyleCnt="3" custScaleX="132821" custScaleY="87245" custLinFactNeighborX="651" custLinFactNeighborY="1836">
        <dgm:presLayoutVars>
          <dgm:bulletEnabled val="1"/>
        </dgm:presLayoutVars>
      </dgm:prSet>
      <dgm:spPr/>
    </dgm:pt>
    <dgm:pt modelId="{31BF777E-F773-4B16-B97D-600CC3D57321}" type="pres">
      <dgm:prSet presAssocID="{2017CCE2-2B64-4B81-8732-0E2B02FC527F}" presName="sibTrans" presStyleCnt="0"/>
      <dgm:spPr/>
    </dgm:pt>
    <dgm:pt modelId="{7887EDED-12AF-4382-A7A3-8629FCB97637}" type="pres">
      <dgm:prSet presAssocID="{69CFE273-6634-4AF2-ADF7-195FCFD02937}" presName="node" presStyleLbl="node1" presStyleIdx="2" presStyleCnt="3" custScaleX="276011" custLinFactNeighborX="-1849" custLinFactNeighborY="-8978">
        <dgm:presLayoutVars>
          <dgm:bulletEnabled val="1"/>
        </dgm:presLayoutVars>
      </dgm:prSet>
      <dgm:spPr/>
    </dgm:pt>
  </dgm:ptLst>
  <dgm:cxnLst>
    <dgm:cxn modelId="{77EF6D1D-FD7A-47D8-BDE6-522163C31357}" type="presOf" srcId="{F63AB343-5A73-47E4-8646-CD6F6FB8F31C}" destId="{4BC6EFDF-A91D-4DDE-B436-D0306CA8FB22}" srcOrd="0" destOrd="0" presId="urn:microsoft.com/office/officeart/2005/8/layout/default"/>
    <dgm:cxn modelId="{30A5641E-68D1-416A-8E5E-C3EBDD465AA1}" type="presOf" srcId="{69CFE273-6634-4AF2-ADF7-195FCFD02937}" destId="{7887EDED-12AF-4382-A7A3-8629FCB97637}" srcOrd="0" destOrd="0" presId="urn:microsoft.com/office/officeart/2005/8/layout/default"/>
    <dgm:cxn modelId="{F2D26463-A756-459D-8F8F-64F6F789D0EB}" srcId="{F63AB343-5A73-47E4-8646-CD6F6FB8F31C}" destId="{69CFE273-6634-4AF2-ADF7-195FCFD02937}" srcOrd="2" destOrd="0" parTransId="{464AEF01-3A62-4C91-9C64-6508F6716BD3}" sibTransId="{F652DB56-D174-4C1C-A4B6-0A7ADDCA9A74}"/>
    <dgm:cxn modelId="{3EFDD747-74B2-4981-9869-3F85B2DE49DC}" type="presOf" srcId="{FA200A2F-C330-431E-BDD2-CDE3B3595162}" destId="{1B6A54B0-7323-418C-B8EE-1A870FF5188A}" srcOrd="0" destOrd="0" presId="urn:microsoft.com/office/officeart/2005/8/layout/default"/>
    <dgm:cxn modelId="{DD1786C4-3186-4B5B-AE30-1E7ADECE388F}" srcId="{F63AB343-5A73-47E4-8646-CD6F6FB8F31C}" destId="{734F4134-E1D5-43D5-B528-B54D97585CBB}" srcOrd="0" destOrd="0" parTransId="{EFEEB090-9026-4FC6-95E9-04981C53B35E}" sibTransId="{08E6E445-881C-4479-85D7-BE7945FAC530}"/>
    <dgm:cxn modelId="{FC50C7E3-644C-41DC-9392-BAEC48D274A6}" srcId="{F63AB343-5A73-47E4-8646-CD6F6FB8F31C}" destId="{FA200A2F-C330-431E-BDD2-CDE3B3595162}" srcOrd="1" destOrd="0" parTransId="{EDACE483-FB25-487E-AE3F-18DDD456604E}" sibTransId="{2017CCE2-2B64-4B81-8732-0E2B02FC527F}"/>
    <dgm:cxn modelId="{38BFDAF7-E9F9-4E3A-872D-65DB2787DC51}" type="presOf" srcId="{734F4134-E1D5-43D5-B528-B54D97585CBB}" destId="{C7D0697F-16F4-44E2-AFF3-63CF0A714EEB}" srcOrd="0" destOrd="0" presId="urn:microsoft.com/office/officeart/2005/8/layout/default"/>
    <dgm:cxn modelId="{CC870701-D926-46F5-9F33-575B800D1DC3}" type="presParOf" srcId="{4BC6EFDF-A91D-4DDE-B436-D0306CA8FB22}" destId="{C7D0697F-16F4-44E2-AFF3-63CF0A714EEB}" srcOrd="0" destOrd="0" presId="urn:microsoft.com/office/officeart/2005/8/layout/default"/>
    <dgm:cxn modelId="{FD7B9305-BF2B-4392-AE15-86B33C51610F}" type="presParOf" srcId="{4BC6EFDF-A91D-4DDE-B436-D0306CA8FB22}" destId="{CDEC6380-52CC-4823-8F32-7DE41D09C832}" srcOrd="1" destOrd="0" presId="urn:microsoft.com/office/officeart/2005/8/layout/default"/>
    <dgm:cxn modelId="{CE01DBE9-E7BA-4532-9CE4-09DB7FBA437A}" type="presParOf" srcId="{4BC6EFDF-A91D-4DDE-B436-D0306CA8FB22}" destId="{1B6A54B0-7323-418C-B8EE-1A870FF5188A}" srcOrd="2" destOrd="0" presId="urn:microsoft.com/office/officeart/2005/8/layout/default"/>
    <dgm:cxn modelId="{6CC580AA-C8EF-4614-80E1-02DFB1C7D5B5}" type="presParOf" srcId="{4BC6EFDF-A91D-4DDE-B436-D0306CA8FB22}" destId="{31BF777E-F773-4B16-B97D-600CC3D57321}" srcOrd="3" destOrd="0" presId="urn:microsoft.com/office/officeart/2005/8/layout/default"/>
    <dgm:cxn modelId="{ED29095C-383F-4177-AD69-9BFAFD17496C}" type="presParOf" srcId="{4BC6EFDF-A91D-4DDE-B436-D0306CA8FB22}" destId="{7887EDED-12AF-4382-A7A3-8629FCB97637}" srcOrd="4"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734F4134-E1D5-43D5-B528-B54D97585CBB}">
      <dgm:prSet phldrT="[Text]" custT="1"/>
      <dgm:spPr>
        <a:solidFill>
          <a:srgbClr val="7F7F7F"/>
        </a:solidFill>
      </dgm:spPr>
      <dgm:t>
        <a:bodyPr/>
        <a:lstStyle/>
        <a:p>
          <a:pPr algn="l"/>
          <a:r>
            <a:rPr lang="en-US" sz="2400" b="0" i="0" dirty="0"/>
            <a:t>Our solution integrates an EEG sensor-based cap that captures alpha and beta brainwave activity from the prefrontal cortex.</a:t>
          </a:r>
          <a:endParaRPr lang="en-IN" sz="2400" dirty="0">
            <a:solidFill>
              <a:schemeClr val="bg1"/>
            </a:solidFill>
            <a:latin typeface="Montserrat" panose="00000500000000000000" pitchFamily="2" charset="0"/>
          </a:endParaRPr>
        </a:p>
      </dgm:t>
    </dgm:pt>
    <dgm:pt modelId="{EFEEB090-9026-4FC6-95E9-04981C53B35E}" type="parTrans" cxnId="{DD1786C4-3186-4B5B-AE30-1E7ADECE388F}">
      <dgm:prSet/>
      <dgm:spPr/>
      <dgm:t>
        <a:bodyPr/>
        <a:lstStyle/>
        <a:p>
          <a:endParaRPr lang="en-IN" sz="2400">
            <a:latin typeface="Montserrat" panose="00000500000000000000" pitchFamily="2" charset="0"/>
          </a:endParaRPr>
        </a:p>
      </dgm:t>
    </dgm:pt>
    <dgm:pt modelId="{08E6E445-881C-4479-85D7-BE7945FAC530}" type="sibTrans" cxnId="{DD1786C4-3186-4B5B-AE30-1E7ADECE388F}">
      <dgm:prSet/>
      <dgm:spPr/>
      <dgm:t>
        <a:bodyPr/>
        <a:lstStyle/>
        <a:p>
          <a:endParaRPr lang="en-IN" sz="2400">
            <a:latin typeface="Montserrat" panose="00000500000000000000" pitchFamily="2" charset="0"/>
          </a:endParaRPr>
        </a:p>
      </dgm:t>
    </dgm:pt>
    <dgm:pt modelId="{FA200A2F-C330-431E-BDD2-CDE3B3595162}">
      <dgm:prSet phldrT="[Text]" custT="1"/>
      <dgm:spPr>
        <a:solidFill>
          <a:schemeClr val="tx1">
            <a:lumMod val="50000"/>
            <a:lumOff val="50000"/>
          </a:schemeClr>
        </a:solidFill>
      </dgm:spPr>
      <dgm:t>
        <a:bodyPr/>
        <a:lstStyle/>
        <a:p>
          <a:pPr algn="l"/>
          <a:r>
            <a:rPr lang="en-US" sz="2400" b="0" i="0" dirty="0"/>
            <a:t>Using real-time signal processing, the system identifies elevated stress levels and sends alerts through a mobile app.</a:t>
          </a:r>
          <a:endParaRPr lang="en-IN" sz="2400" dirty="0">
            <a:solidFill>
              <a:schemeClr val="bg1"/>
            </a:solidFill>
            <a:latin typeface="Montserrat" panose="00000500000000000000" pitchFamily="2" charset="0"/>
          </a:endParaRPr>
        </a:p>
      </dgm:t>
    </dgm:pt>
    <dgm:pt modelId="{EDACE483-FB25-487E-AE3F-18DDD456604E}" type="parTrans" cxnId="{FC50C7E3-644C-41DC-9392-BAEC48D274A6}">
      <dgm:prSet/>
      <dgm:spPr/>
      <dgm:t>
        <a:bodyPr/>
        <a:lstStyle/>
        <a:p>
          <a:endParaRPr lang="en-IN" sz="2400">
            <a:latin typeface="Montserrat" panose="00000500000000000000" pitchFamily="2" charset="0"/>
          </a:endParaRPr>
        </a:p>
      </dgm:t>
    </dgm:pt>
    <dgm:pt modelId="{2017CCE2-2B64-4B81-8732-0E2B02FC527F}" type="sibTrans" cxnId="{FC50C7E3-644C-41DC-9392-BAEC48D274A6}">
      <dgm:prSet/>
      <dgm:spPr/>
      <dgm:t>
        <a:bodyPr/>
        <a:lstStyle/>
        <a:p>
          <a:endParaRPr lang="en-IN" sz="2400">
            <a:latin typeface="Montserrat" panose="00000500000000000000" pitchFamily="2" charset="0"/>
          </a:endParaRPr>
        </a:p>
      </dgm:t>
    </dgm:pt>
    <dgm:pt modelId="{69CFE273-6634-4AF2-ADF7-195FCFD02937}">
      <dgm:prSet phldrT="[Text]" custT="1"/>
      <dgm:spPr>
        <a:solidFill>
          <a:srgbClr val="F04034"/>
        </a:solidFill>
      </dgm:spPr>
      <dgm:t>
        <a:bodyPr/>
        <a:lstStyle/>
        <a:p>
          <a:pPr algn="l"/>
          <a:r>
            <a:rPr lang="en-US" sz="2400" b="0" i="0" dirty="0"/>
            <a:t>The app then recommends personalized stress-relief activities such as meditation or calming music and tracks stress trends for long-term analysis.</a:t>
          </a:r>
          <a:endParaRPr lang="en-IN" sz="2400" dirty="0">
            <a:solidFill>
              <a:schemeClr val="bg1"/>
            </a:solidFill>
            <a:latin typeface="Montserrat" panose="00000500000000000000" pitchFamily="2" charset="0"/>
          </a:endParaRPr>
        </a:p>
      </dgm:t>
    </dgm:pt>
    <dgm:pt modelId="{464AEF01-3A62-4C91-9C64-6508F6716BD3}" type="parTrans" cxnId="{F2D26463-A756-459D-8F8F-64F6F789D0EB}">
      <dgm:prSet/>
      <dgm:spPr/>
      <dgm:t>
        <a:bodyPr/>
        <a:lstStyle/>
        <a:p>
          <a:endParaRPr lang="en-IN" sz="2400">
            <a:latin typeface="Montserrat" panose="00000500000000000000" pitchFamily="2" charset="0"/>
          </a:endParaRPr>
        </a:p>
      </dgm:t>
    </dgm:pt>
    <dgm:pt modelId="{F652DB56-D174-4C1C-A4B6-0A7ADDCA9A74}" type="sibTrans" cxnId="{F2D26463-A756-459D-8F8F-64F6F789D0EB}">
      <dgm:prSet/>
      <dgm:spPr/>
      <dgm:t>
        <a:bodyPr/>
        <a:lstStyle/>
        <a:p>
          <a:endParaRPr lang="en-IN" sz="2400">
            <a:latin typeface="Montserrat" panose="00000500000000000000" pitchFamily="2" charset="0"/>
          </a:endParaRPr>
        </a:p>
      </dgm:t>
    </dgm:pt>
    <dgm:pt modelId="{4BC6EFDF-A91D-4DDE-B436-D0306CA8FB22}" type="pres">
      <dgm:prSet presAssocID="{F63AB343-5A73-47E4-8646-CD6F6FB8F31C}" presName="diagram" presStyleCnt="0">
        <dgm:presLayoutVars>
          <dgm:dir/>
          <dgm:resizeHandles val="exact"/>
        </dgm:presLayoutVars>
      </dgm:prSet>
      <dgm:spPr/>
    </dgm:pt>
    <dgm:pt modelId="{C7D0697F-16F4-44E2-AFF3-63CF0A714EEB}" type="pres">
      <dgm:prSet presAssocID="{734F4134-E1D5-43D5-B528-B54D97585CBB}" presName="node" presStyleLbl="node1" presStyleIdx="0" presStyleCnt="3" custScaleX="132821" custLinFactNeighborX="-597" custLinFactNeighborY="553">
        <dgm:presLayoutVars>
          <dgm:bulletEnabled val="1"/>
        </dgm:presLayoutVars>
      </dgm:prSet>
      <dgm:spPr/>
    </dgm:pt>
    <dgm:pt modelId="{CDEC6380-52CC-4823-8F32-7DE41D09C832}" type="pres">
      <dgm:prSet presAssocID="{08E6E445-881C-4479-85D7-BE7945FAC530}" presName="sibTrans" presStyleCnt="0"/>
      <dgm:spPr/>
    </dgm:pt>
    <dgm:pt modelId="{1B6A54B0-7323-418C-B8EE-1A870FF5188A}" type="pres">
      <dgm:prSet presAssocID="{FA200A2F-C330-431E-BDD2-CDE3B3595162}" presName="node" presStyleLbl="node1" presStyleIdx="1" presStyleCnt="3" custScaleX="132821" custLinFactNeighborX="1705" custLinFactNeighborY="3000">
        <dgm:presLayoutVars>
          <dgm:bulletEnabled val="1"/>
        </dgm:presLayoutVars>
      </dgm:prSet>
      <dgm:spPr/>
    </dgm:pt>
    <dgm:pt modelId="{31BF777E-F773-4B16-B97D-600CC3D57321}" type="pres">
      <dgm:prSet presAssocID="{2017CCE2-2B64-4B81-8732-0E2B02FC527F}" presName="sibTrans" presStyleCnt="0"/>
      <dgm:spPr/>
    </dgm:pt>
    <dgm:pt modelId="{7887EDED-12AF-4382-A7A3-8629FCB97637}" type="pres">
      <dgm:prSet presAssocID="{69CFE273-6634-4AF2-ADF7-195FCFD02937}" presName="node" presStyleLbl="node1" presStyleIdx="2" presStyleCnt="3" custScaleX="276011" custLinFactNeighborX="-1849" custLinFactNeighborY="-8978">
        <dgm:presLayoutVars>
          <dgm:bulletEnabled val="1"/>
        </dgm:presLayoutVars>
      </dgm:prSet>
      <dgm:spPr/>
    </dgm:pt>
  </dgm:ptLst>
  <dgm:cxnLst>
    <dgm:cxn modelId="{77EF6D1D-FD7A-47D8-BDE6-522163C31357}" type="presOf" srcId="{F63AB343-5A73-47E4-8646-CD6F6FB8F31C}" destId="{4BC6EFDF-A91D-4DDE-B436-D0306CA8FB22}" srcOrd="0" destOrd="0" presId="urn:microsoft.com/office/officeart/2005/8/layout/default"/>
    <dgm:cxn modelId="{30A5641E-68D1-416A-8E5E-C3EBDD465AA1}" type="presOf" srcId="{69CFE273-6634-4AF2-ADF7-195FCFD02937}" destId="{7887EDED-12AF-4382-A7A3-8629FCB97637}" srcOrd="0" destOrd="0" presId="urn:microsoft.com/office/officeart/2005/8/layout/default"/>
    <dgm:cxn modelId="{F2D26463-A756-459D-8F8F-64F6F789D0EB}" srcId="{F63AB343-5A73-47E4-8646-CD6F6FB8F31C}" destId="{69CFE273-6634-4AF2-ADF7-195FCFD02937}" srcOrd="2" destOrd="0" parTransId="{464AEF01-3A62-4C91-9C64-6508F6716BD3}" sibTransId="{F652DB56-D174-4C1C-A4B6-0A7ADDCA9A74}"/>
    <dgm:cxn modelId="{3EFDD747-74B2-4981-9869-3F85B2DE49DC}" type="presOf" srcId="{FA200A2F-C330-431E-BDD2-CDE3B3595162}" destId="{1B6A54B0-7323-418C-B8EE-1A870FF5188A}" srcOrd="0" destOrd="0" presId="urn:microsoft.com/office/officeart/2005/8/layout/default"/>
    <dgm:cxn modelId="{DD1786C4-3186-4B5B-AE30-1E7ADECE388F}" srcId="{F63AB343-5A73-47E4-8646-CD6F6FB8F31C}" destId="{734F4134-E1D5-43D5-B528-B54D97585CBB}" srcOrd="0" destOrd="0" parTransId="{EFEEB090-9026-4FC6-95E9-04981C53B35E}" sibTransId="{08E6E445-881C-4479-85D7-BE7945FAC530}"/>
    <dgm:cxn modelId="{FC50C7E3-644C-41DC-9392-BAEC48D274A6}" srcId="{F63AB343-5A73-47E4-8646-CD6F6FB8F31C}" destId="{FA200A2F-C330-431E-BDD2-CDE3B3595162}" srcOrd="1" destOrd="0" parTransId="{EDACE483-FB25-487E-AE3F-18DDD456604E}" sibTransId="{2017CCE2-2B64-4B81-8732-0E2B02FC527F}"/>
    <dgm:cxn modelId="{38BFDAF7-E9F9-4E3A-872D-65DB2787DC51}" type="presOf" srcId="{734F4134-E1D5-43D5-B528-B54D97585CBB}" destId="{C7D0697F-16F4-44E2-AFF3-63CF0A714EEB}" srcOrd="0" destOrd="0" presId="urn:microsoft.com/office/officeart/2005/8/layout/default"/>
    <dgm:cxn modelId="{CC870701-D926-46F5-9F33-575B800D1DC3}" type="presParOf" srcId="{4BC6EFDF-A91D-4DDE-B436-D0306CA8FB22}" destId="{C7D0697F-16F4-44E2-AFF3-63CF0A714EEB}" srcOrd="0" destOrd="0" presId="urn:microsoft.com/office/officeart/2005/8/layout/default"/>
    <dgm:cxn modelId="{FD7B9305-BF2B-4392-AE15-86B33C51610F}" type="presParOf" srcId="{4BC6EFDF-A91D-4DDE-B436-D0306CA8FB22}" destId="{CDEC6380-52CC-4823-8F32-7DE41D09C832}" srcOrd="1" destOrd="0" presId="urn:microsoft.com/office/officeart/2005/8/layout/default"/>
    <dgm:cxn modelId="{CE01DBE9-E7BA-4532-9CE4-09DB7FBA437A}" type="presParOf" srcId="{4BC6EFDF-A91D-4DDE-B436-D0306CA8FB22}" destId="{1B6A54B0-7323-418C-B8EE-1A870FF5188A}" srcOrd="2" destOrd="0" presId="urn:microsoft.com/office/officeart/2005/8/layout/default"/>
    <dgm:cxn modelId="{6CC580AA-C8EF-4614-80E1-02DFB1C7D5B5}" type="presParOf" srcId="{4BC6EFDF-A91D-4DDE-B436-D0306CA8FB22}" destId="{31BF777E-F773-4B16-B97D-600CC3D57321}" srcOrd="3" destOrd="0" presId="urn:microsoft.com/office/officeart/2005/8/layout/default"/>
    <dgm:cxn modelId="{ED29095C-383F-4177-AD69-9BFAFD17496C}" type="presParOf" srcId="{4BC6EFDF-A91D-4DDE-B436-D0306CA8FB22}" destId="{7887EDED-12AF-4382-A7A3-8629FCB97637}" srcOrd="4"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69CFE273-6634-4AF2-ADF7-195FCFD02937}">
      <dgm:prSet phldrT="[Text]" custT="1"/>
      <dgm:spPr>
        <a:solidFill>
          <a:srgbClr val="F04034"/>
        </a:solidFill>
      </dgm:spPr>
      <dgm:t>
        <a:bodyPr/>
        <a:lstStyle/>
        <a:p>
          <a:pPr algn="l"/>
          <a:r>
            <a:rPr lang="en-IN" sz="2400" b="1" i="0" dirty="0"/>
            <a:t>Features:</a:t>
          </a:r>
          <a:endParaRPr lang="en-IN" sz="2400" b="0" i="0" dirty="0"/>
        </a:p>
        <a:p>
          <a:pPr algn="l">
            <a:buFont typeface="Arial" panose="020B0604020202020204" pitchFamily="34" charset="0"/>
            <a:buChar char="•"/>
          </a:pPr>
          <a:r>
            <a:rPr lang="en-IN" sz="2400" b="0" i="0" dirty="0"/>
            <a:t>Real-time stress alerts</a:t>
          </a:r>
        </a:p>
        <a:p>
          <a:pPr algn="l">
            <a:buFont typeface="Arial" panose="020B0604020202020204" pitchFamily="34" charset="0"/>
            <a:buChar char="•"/>
          </a:pPr>
          <a:r>
            <a:rPr lang="en-IN" sz="2400" b="0" i="0" dirty="0"/>
            <a:t>Stress-level visualization</a:t>
          </a:r>
        </a:p>
        <a:p>
          <a:pPr algn="l">
            <a:buFont typeface="Arial" panose="020B0604020202020204" pitchFamily="34" charset="0"/>
            <a:buChar char="•"/>
          </a:pPr>
          <a:r>
            <a:rPr lang="en-IN" sz="2400" b="0" i="0" dirty="0"/>
            <a:t>Personalized stress-relief recommendations</a:t>
          </a:r>
        </a:p>
        <a:p>
          <a:pPr algn="l">
            <a:buFont typeface="Arial" panose="020B0604020202020204" pitchFamily="34" charset="0"/>
            <a:buChar char="•"/>
          </a:pPr>
          <a:r>
            <a:rPr lang="en-US" sz="2400" b="0" i="0" dirty="0"/>
            <a:t>Historical tracking and pattern analysis</a:t>
          </a:r>
        </a:p>
        <a:p>
          <a:pPr algn="l">
            <a:buFont typeface="Arial" panose="020B0604020202020204" pitchFamily="34" charset="0"/>
            <a:buChar char="•"/>
          </a:pPr>
          <a:r>
            <a:rPr lang="en-IN" sz="2400" b="0" i="0" dirty="0"/>
            <a:t>Portable, cost-effective, and non-invasive</a:t>
          </a:r>
          <a:endParaRPr lang="en-IN" sz="2400" dirty="0">
            <a:solidFill>
              <a:schemeClr val="bg1"/>
            </a:solidFill>
            <a:latin typeface="Montserrat" panose="00000500000000000000" pitchFamily="2" charset="0"/>
          </a:endParaRPr>
        </a:p>
      </dgm:t>
    </dgm:pt>
    <dgm:pt modelId="{464AEF01-3A62-4C91-9C64-6508F6716BD3}" type="parTrans" cxnId="{F2D26463-A756-459D-8F8F-64F6F789D0EB}">
      <dgm:prSet/>
      <dgm:spPr/>
      <dgm:t>
        <a:bodyPr/>
        <a:lstStyle/>
        <a:p>
          <a:endParaRPr lang="en-IN" sz="2400">
            <a:latin typeface="Montserrat" panose="00000500000000000000" pitchFamily="2" charset="0"/>
          </a:endParaRPr>
        </a:p>
      </dgm:t>
    </dgm:pt>
    <dgm:pt modelId="{F652DB56-D174-4C1C-A4B6-0A7ADDCA9A74}" type="sibTrans" cxnId="{F2D26463-A756-459D-8F8F-64F6F789D0EB}">
      <dgm:prSet/>
      <dgm:spPr/>
      <dgm:t>
        <a:bodyPr/>
        <a:lstStyle/>
        <a:p>
          <a:endParaRPr lang="en-IN" sz="2400">
            <a:latin typeface="Montserrat" panose="00000500000000000000" pitchFamily="2" charset="0"/>
          </a:endParaRPr>
        </a:p>
      </dgm:t>
    </dgm:pt>
    <dgm:pt modelId="{5AA219E4-6F04-4808-99CD-944D382DA16F}">
      <dgm:prSet phldrT="[Text]" custT="1"/>
      <dgm:spPr>
        <a:solidFill>
          <a:srgbClr val="7F7F7F"/>
        </a:solidFill>
      </dgm:spPr>
      <dgm:t>
        <a:bodyPr/>
        <a:lstStyle/>
        <a:p>
          <a:pPr algn="l"/>
          <a:r>
            <a:rPr lang="en-US" sz="2400" b="1" i="0" dirty="0"/>
            <a:t>Hardware:</a:t>
          </a:r>
          <a:r>
            <a:rPr lang="en-US" sz="2400" b="0" i="0" dirty="0"/>
            <a:t> Lightweight wearable cap with an EEG sensor band</a:t>
          </a:r>
          <a:endParaRPr lang="en-IN" sz="2400" dirty="0">
            <a:solidFill>
              <a:schemeClr val="bg1"/>
            </a:solidFill>
            <a:latin typeface="Montserrat" panose="00000500000000000000" pitchFamily="2" charset="0"/>
          </a:endParaRPr>
        </a:p>
      </dgm:t>
    </dgm:pt>
    <dgm:pt modelId="{CBA1AEFC-FD9E-42A6-B854-B51EA6D7FAF4}" type="parTrans" cxnId="{C6CD2E43-23F2-408E-811C-230D5C14FF0B}">
      <dgm:prSet/>
      <dgm:spPr/>
      <dgm:t>
        <a:bodyPr/>
        <a:lstStyle/>
        <a:p>
          <a:endParaRPr lang="en-IN"/>
        </a:p>
      </dgm:t>
    </dgm:pt>
    <dgm:pt modelId="{1785BD5B-1126-43E6-948E-27439901DD8E}" type="sibTrans" cxnId="{C6CD2E43-23F2-408E-811C-230D5C14FF0B}">
      <dgm:prSet/>
      <dgm:spPr/>
      <dgm:t>
        <a:bodyPr/>
        <a:lstStyle/>
        <a:p>
          <a:endParaRPr lang="en-IN"/>
        </a:p>
      </dgm:t>
    </dgm:pt>
    <dgm:pt modelId="{20A84CF6-C920-43EB-963B-429CB27461B2}">
      <dgm:prSet phldrT="[Text]" custT="1"/>
      <dgm:spPr>
        <a:solidFill>
          <a:srgbClr val="7F7F7F"/>
        </a:solidFill>
      </dgm:spPr>
      <dgm:t>
        <a:bodyPr/>
        <a:lstStyle/>
        <a:p>
          <a:pPr algn="l"/>
          <a:r>
            <a:rPr lang="en-US" sz="2400" b="1" i="0" dirty="0"/>
            <a:t>Software:</a:t>
          </a:r>
          <a:r>
            <a:rPr lang="en-US" sz="2400" b="0" i="0" dirty="0"/>
            <a:t> Mobile app with real-time monitoring dashboard</a:t>
          </a:r>
          <a:endParaRPr lang="en-IN" sz="2400" dirty="0">
            <a:solidFill>
              <a:schemeClr val="bg1"/>
            </a:solidFill>
            <a:latin typeface="Montserrat" panose="00000500000000000000" pitchFamily="2" charset="0"/>
          </a:endParaRPr>
        </a:p>
      </dgm:t>
    </dgm:pt>
    <dgm:pt modelId="{1C924F2D-2F35-4B59-91D3-81630C94CF0D}" type="parTrans" cxnId="{545FB7EC-01A3-4E64-ACBB-015BA7FFD102}">
      <dgm:prSet/>
      <dgm:spPr/>
      <dgm:t>
        <a:bodyPr/>
        <a:lstStyle/>
        <a:p>
          <a:endParaRPr lang="en-IN"/>
        </a:p>
      </dgm:t>
    </dgm:pt>
    <dgm:pt modelId="{17D3D3CF-5A68-4C22-A3BF-C7A687102626}" type="sibTrans" cxnId="{545FB7EC-01A3-4E64-ACBB-015BA7FFD102}">
      <dgm:prSet/>
      <dgm:spPr/>
      <dgm:t>
        <a:bodyPr/>
        <a:lstStyle/>
        <a:p>
          <a:endParaRPr lang="en-IN"/>
        </a:p>
      </dgm:t>
    </dgm:pt>
    <dgm:pt modelId="{4BC6EFDF-A91D-4DDE-B436-D0306CA8FB22}" type="pres">
      <dgm:prSet presAssocID="{F63AB343-5A73-47E4-8646-CD6F6FB8F31C}" presName="diagram" presStyleCnt="0">
        <dgm:presLayoutVars>
          <dgm:dir/>
          <dgm:resizeHandles val="exact"/>
        </dgm:presLayoutVars>
      </dgm:prSet>
      <dgm:spPr/>
    </dgm:pt>
    <dgm:pt modelId="{7887EDED-12AF-4382-A7A3-8629FCB97637}" type="pres">
      <dgm:prSet presAssocID="{69CFE273-6634-4AF2-ADF7-195FCFD02937}" presName="node" presStyleLbl="node1" presStyleIdx="0" presStyleCnt="3" custScaleX="403945" custScaleY="200416" custLinFactY="2207" custLinFactNeighborX="0" custLinFactNeighborY="100000">
        <dgm:presLayoutVars>
          <dgm:bulletEnabled val="1"/>
        </dgm:presLayoutVars>
      </dgm:prSet>
      <dgm:spPr/>
    </dgm:pt>
    <dgm:pt modelId="{8A0F2E01-FC71-4E22-96F2-B7052CA7FFD3}" type="pres">
      <dgm:prSet presAssocID="{F652DB56-D174-4C1C-A4B6-0A7ADDCA9A74}" presName="sibTrans" presStyleCnt="0"/>
      <dgm:spPr/>
    </dgm:pt>
    <dgm:pt modelId="{64F4BD2C-8BE8-4AD4-98EC-0A172FB0E49F}" type="pres">
      <dgm:prSet presAssocID="{5AA219E4-6F04-4808-99CD-944D382DA16F}" presName="node" presStyleLbl="node1" presStyleIdx="1" presStyleCnt="3" custScaleX="115272" custScaleY="79780" custLinFactY="-100000" custLinFactNeighborX="-28603" custLinFactNeighborY="-109284">
        <dgm:presLayoutVars>
          <dgm:bulletEnabled val="1"/>
        </dgm:presLayoutVars>
      </dgm:prSet>
      <dgm:spPr/>
    </dgm:pt>
    <dgm:pt modelId="{72F1705D-CD2E-4048-AFE3-11381C8E9CD9}" type="pres">
      <dgm:prSet presAssocID="{1785BD5B-1126-43E6-948E-27439901DD8E}" presName="sibTrans" presStyleCnt="0"/>
      <dgm:spPr/>
    </dgm:pt>
    <dgm:pt modelId="{518354C5-EF36-4063-9CED-F62D20F993CC}" type="pres">
      <dgm:prSet presAssocID="{20A84CF6-C920-43EB-963B-429CB27461B2}" presName="node" presStyleLbl="node1" presStyleIdx="2" presStyleCnt="3" custScaleX="122985" custScaleY="85380" custLinFactY="-100000" custLinFactNeighborX="20596" custLinFactNeighborY="-108291">
        <dgm:presLayoutVars>
          <dgm:bulletEnabled val="1"/>
        </dgm:presLayoutVars>
      </dgm:prSet>
      <dgm:spPr/>
    </dgm:pt>
  </dgm:ptLst>
  <dgm:cxnLst>
    <dgm:cxn modelId="{77EF6D1D-FD7A-47D8-BDE6-522163C31357}" type="presOf" srcId="{F63AB343-5A73-47E4-8646-CD6F6FB8F31C}" destId="{4BC6EFDF-A91D-4DDE-B436-D0306CA8FB22}" srcOrd="0" destOrd="0" presId="urn:microsoft.com/office/officeart/2005/8/layout/default"/>
    <dgm:cxn modelId="{30A5641E-68D1-416A-8E5E-C3EBDD465AA1}" type="presOf" srcId="{69CFE273-6634-4AF2-ADF7-195FCFD02937}" destId="{7887EDED-12AF-4382-A7A3-8629FCB97637}" srcOrd="0" destOrd="0" presId="urn:microsoft.com/office/officeart/2005/8/layout/default"/>
    <dgm:cxn modelId="{C6CD2E43-23F2-408E-811C-230D5C14FF0B}" srcId="{F63AB343-5A73-47E4-8646-CD6F6FB8F31C}" destId="{5AA219E4-6F04-4808-99CD-944D382DA16F}" srcOrd="1" destOrd="0" parTransId="{CBA1AEFC-FD9E-42A6-B854-B51EA6D7FAF4}" sibTransId="{1785BD5B-1126-43E6-948E-27439901DD8E}"/>
    <dgm:cxn modelId="{F2D26463-A756-459D-8F8F-64F6F789D0EB}" srcId="{F63AB343-5A73-47E4-8646-CD6F6FB8F31C}" destId="{69CFE273-6634-4AF2-ADF7-195FCFD02937}" srcOrd="0" destOrd="0" parTransId="{464AEF01-3A62-4C91-9C64-6508F6716BD3}" sibTransId="{F652DB56-D174-4C1C-A4B6-0A7ADDCA9A74}"/>
    <dgm:cxn modelId="{E31A3D51-FE36-4A97-B46F-E1D3C72147CB}" type="presOf" srcId="{5AA219E4-6F04-4808-99CD-944D382DA16F}" destId="{64F4BD2C-8BE8-4AD4-98EC-0A172FB0E49F}" srcOrd="0" destOrd="0" presId="urn:microsoft.com/office/officeart/2005/8/layout/default"/>
    <dgm:cxn modelId="{E4F633EA-24E6-4C9F-986E-35F4BDABB6D0}" type="presOf" srcId="{20A84CF6-C920-43EB-963B-429CB27461B2}" destId="{518354C5-EF36-4063-9CED-F62D20F993CC}" srcOrd="0" destOrd="0" presId="urn:microsoft.com/office/officeart/2005/8/layout/default"/>
    <dgm:cxn modelId="{545FB7EC-01A3-4E64-ACBB-015BA7FFD102}" srcId="{F63AB343-5A73-47E4-8646-CD6F6FB8F31C}" destId="{20A84CF6-C920-43EB-963B-429CB27461B2}" srcOrd="2" destOrd="0" parTransId="{1C924F2D-2F35-4B59-91D3-81630C94CF0D}" sibTransId="{17D3D3CF-5A68-4C22-A3BF-C7A687102626}"/>
    <dgm:cxn modelId="{ED29095C-383F-4177-AD69-9BFAFD17496C}" type="presParOf" srcId="{4BC6EFDF-A91D-4DDE-B436-D0306CA8FB22}" destId="{7887EDED-12AF-4382-A7A3-8629FCB97637}" srcOrd="0" destOrd="0" presId="urn:microsoft.com/office/officeart/2005/8/layout/default"/>
    <dgm:cxn modelId="{49F030FA-5476-4C2D-BFFE-911AD6FEDBDB}" type="presParOf" srcId="{4BC6EFDF-A91D-4DDE-B436-D0306CA8FB22}" destId="{8A0F2E01-FC71-4E22-96F2-B7052CA7FFD3}" srcOrd="1" destOrd="0" presId="urn:microsoft.com/office/officeart/2005/8/layout/default"/>
    <dgm:cxn modelId="{3EA64667-3E88-4116-A58C-0CE0552B5510}" type="presParOf" srcId="{4BC6EFDF-A91D-4DDE-B436-D0306CA8FB22}" destId="{64F4BD2C-8BE8-4AD4-98EC-0A172FB0E49F}" srcOrd="2" destOrd="0" presId="urn:microsoft.com/office/officeart/2005/8/layout/default"/>
    <dgm:cxn modelId="{54C07CB6-2F45-4AE7-B491-A7BFACCBA896}" type="presParOf" srcId="{4BC6EFDF-A91D-4DDE-B436-D0306CA8FB22}" destId="{72F1705D-CD2E-4048-AFE3-11381C8E9CD9}" srcOrd="3" destOrd="0" presId="urn:microsoft.com/office/officeart/2005/8/layout/default"/>
    <dgm:cxn modelId="{BC998796-4795-43DF-88F1-DC6E1A96702E}" type="presParOf" srcId="{4BC6EFDF-A91D-4DDE-B436-D0306CA8FB22}" destId="{518354C5-EF36-4063-9CED-F62D20F993CC}" srcOrd="4"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734F4134-E1D5-43D5-B528-B54D97585CBB}">
      <dgm:prSet phldrT="[Text]" custT="1"/>
      <dgm:spPr>
        <a:solidFill>
          <a:srgbClr val="7F7F7F"/>
        </a:solidFill>
      </dgm:spPr>
      <dgm:t>
        <a:bodyPr/>
        <a:lstStyle/>
        <a:p>
          <a:pPr algn="l"/>
          <a:r>
            <a:rPr lang="en-IN" sz="2400" b="0" i="0" dirty="0"/>
            <a:t>Target segments include:</a:t>
          </a:r>
        </a:p>
        <a:p>
          <a:pPr algn="l">
            <a:buFont typeface="Arial" panose="020B0604020202020204" pitchFamily="34" charset="0"/>
            <a:buChar char="•"/>
          </a:pPr>
          <a:r>
            <a:rPr lang="en-US" sz="2400" b="0" i="0" dirty="0"/>
            <a:t>Students (exam stress, academic pressure)</a:t>
          </a:r>
        </a:p>
        <a:p>
          <a:pPr algn="l">
            <a:buFont typeface="Arial" panose="020B0604020202020204" pitchFamily="34" charset="0"/>
            <a:buChar char="•"/>
          </a:pPr>
          <a:r>
            <a:rPr lang="en-IN" sz="2400" b="0" i="0" dirty="0"/>
            <a:t>Corporate professionals (workload, burnout)</a:t>
          </a:r>
          <a:endParaRPr lang="en-IN" sz="2400" b="0" i="0" dirty="0">
            <a:latin typeface="Montserrat" panose="00000500000000000000" pitchFamily="2" charset="0"/>
          </a:endParaRPr>
        </a:p>
      </dgm:t>
    </dgm:pt>
    <dgm:pt modelId="{EFEEB090-9026-4FC6-95E9-04981C53B35E}" type="parTrans" cxnId="{DD1786C4-3186-4B5B-AE30-1E7ADECE388F}">
      <dgm:prSet/>
      <dgm:spPr/>
      <dgm:t>
        <a:bodyPr/>
        <a:lstStyle/>
        <a:p>
          <a:endParaRPr lang="en-IN" sz="2400">
            <a:latin typeface="Montserrat" panose="00000500000000000000" pitchFamily="2" charset="0"/>
          </a:endParaRPr>
        </a:p>
      </dgm:t>
    </dgm:pt>
    <dgm:pt modelId="{08E6E445-881C-4479-85D7-BE7945FAC530}" type="sibTrans" cxnId="{DD1786C4-3186-4B5B-AE30-1E7ADECE388F}">
      <dgm:prSet/>
      <dgm:spPr/>
      <dgm:t>
        <a:bodyPr/>
        <a:lstStyle/>
        <a:p>
          <a:endParaRPr lang="en-IN" sz="2400">
            <a:latin typeface="Montserrat" panose="00000500000000000000" pitchFamily="2" charset="0"/>
          </a:endParaRPr>
        </a:p>
      </dgm:t>
    </dgm:pt>
    <dgm:pt modelId="{FA200A2F-C330-431E-BDD2-CDE3B3595162}">
      <dgm:prSet phldrT="[Text]" custT="1"/>
      <dgm:spPr>
        <a:solidFill>
          <a:schemeClr val="tx1">
            <a:lumMod val="50000"/>
            <a:lumOff val="50000"/>
          </a:schemeClr>
        </a:solidFill>
      </dgm:spPr>
      <dgm:t>
        <a:bodyPr/>
        <a:lstStyle/>
        <a:p>
          <a:pPr algn="l"/>
          <a:r>
            <a:rPr lang="en-US" sz="2400" b="0" i="0" dirty="0"/>
            <a:t>Healthcare patients (mental health monitoring)</a:t>
          </a:r>
        </a:p>
        <a:p>
          <a:pPr algn="l">
            <a:buFont typeface="Arial" panose="020B0604020202020204" pitchFamily="34" charset="0"/>
            <a:buChar char="•"/>
          </a:pPr>
          <a:r>
            <a:rPr lang="en-IN" sz="2400" b="0" i="0" dirty="0" err="1"/>
            <a:t>Defense</a:t>
          </a:r>
          <a:r>
            <a:rPr lang="en-IN" sz="2400" b="0" i="0" dirty="0"/>
            <a:t> personnel (high-stress environments)</a:t>
          </a:r>
          <a:endParaRPr lang="en-IN" sz="2400" b="0" i="0" dirty="0">
            <a:latin typeface="Montserrat" panose="00000500000000000000" pitchFamily="2" charset="0"/>
          </a:endParaRPr>
        </a:p>
      </dgm:t>
    </dgm:pt>
    <dgm:pt modelId="{EDACE483-FB25-487E-AE3F-18DDD456604E}" type="parTrans" cxnId="{FC50C7E3-644C-41DC-9392-BAEC48D274A6}">
      <dgm:prSet/>
      <dgm:spPr/>
      <dgm:t>
        <a:bodyPr/>
        <a:lstStyle/>
        <a:p>
          <a:endParaRPr lang="en-IN" sz="2400">
            <a:latin typeface="Montserrat" panose="00000500000000000000" pitchFamily="2" charset="0"/>
          </a:endParaRPr>
        </a:p>
      </dgm:t>
    </dgm:pt>
    <dgm:pt modelId="{2017CCE2-2B64-4B81-8732-0E2B02FC527F}" type="sibTrans" cxnId="{FC50C7E3-644C-41DC-9392-BAEC48D274A6}">
      <dgm:prSet/>
      <dgm:spPr/>
      <dgm:t>
        <a:bodyPr/>
        <a:lstStyle/>
        <a:p>
          <a:endParaRPr lang="en-IN" sz="2400">
            <a:latin typeface="Montserrat" panose="00000500000000000000" pitchFamily="2" charset="0"/>
          </a:endParaRPr>
        </a:p>
      </dgm:t>
    </dgm:pt>
    <dgm:pt modelId="{69CFE273-6634-4AF2-ADF7-195FCFD02937}">
      <dgm:prSet phldrT="[Text]" custT="1"/>
      <dgm:spPr>
        <a:solidFill>
          <a:srgbClr val="F04034"/>
        </a:solidFill>
      </dgm:spPr>
      <dgm:t>
        <a:bodyPr/>
        <a:lstStyle/>
        <a:p>
          <a:pPr algn="l"/>
          <a:r>
            <a:rPr lang="en-US" sz="2400" b="0" i="0" dirty="0"/>
            <a:t>The global wearable neurotechnology market is projected to exceed </a:t>
          </a:r>
          <a:r>
            <a:rPr lang="en-US" sz="2400" b="1" i="0" dirty="0"/>
            <a:t>$5 billion by 2030</a:t>
          </a:r>
          <a:r>
            <a:rPr lang="en-US" sz="2400" b="0" i="0" dirty="0"/>
            <a:t>.</a:t>
          </a:r>
          <a:endParaRPr lang="en-US" sz="2400" b="0" i="0" dirty="0">
            <a:latin typeface="Montserrat" panose="00000500000000000000" pitchFamily="2" charset="0"/>
          </a:endParaRPr>
        </a:p>
      </dgm:t>
    </dgm:pt>
    <dgm:pt modelId="{464AEF01-3A62-4C91-9C64-6508F6716BD3}" type="parTrans" cxnId="{F2D26463-A756-459D-8F8F-64F6F789D0EB}">
      <dgm:prSet/>
      <dgm:spPr/>
      <dgm:t>
        <a:bodyPr/>
        <a:lstStyle/>
        <a:p>
          <a:endParaRPr lang="en-IN" sz="2400">
            <a:latin typeface="Montserrat" panose="00000500000000000000" pitchFamily="2" charset="0"/>
          </a:endParaRPr>
        </a:p>
      </dgm:t>
    </dgm:pt>
    <dgm:pt modelId="{F652DB56-D174-4C1C-A4B6-0A7ADDCA9A74}" type="sibTrans" cxnId="{F2D26463-A756-459D-8F8F-64F6F789D0EB}">
      <dgm:prSet/>
      <dgm:spPr/>
      <dgm:t>
        <a:bodyPr/>
        <a:lstStyle/>
        <a:p>
          <a:endParaRPr lang="en-IN" sz="2400">
            <a:latin typeface="Montserrat" panose="00000500000000000000" pitchFamily="2" charset="0"/>
          </a:endParaRPr>
        </a:p>
      </dgm:t>
    </dgm:pt>
    <dgm:pt modelId="{4BC6EFDF-A91D-4DDE-B436-D0306CA8FB22}" type="pres">
      <dgm:prSet presAssocID="{F63AB343-5A73-47E4-8646-CD6F6FB8F31C}" presName="diagram" presStyleCnt="0">
        <dgm:presLayoutVars>
          <dgm:dir/>
          <dgm:resizeHandles val="exact"/>
        </dgm:presLayoutVars>
      </dgm:prSet>
      <dgm:spPr/>
    </dgm:pt>
    <dgm:pt modelId="{C7D0697F-16F4-44E2-AFF3-63CF0A714EEB}" type="pres">
      <dgm:prSet presAssocID="{734F4134-E1D5-43D5-B528-B54D97585CBB}" presName="node" presStyleLbl="node1" presStyleIdx="0" presStyleCnt="3" custScaleX="132821" custLinFactNeighborX="-1396" custLinFactNeighborY="6665">
        <dgm:presLayoutVars>
          <dgm:bulletEnabled val="1"/>
        </dgm:presLayoutVars>
      </dgm:prSet>
      <dgm:spPr/>
    </dgm:pt>
    <dgm:pt modelId="{CDEC6380-52CC-4823-8F32-7DE41D09C832}" type="pres">
      <dgm:prSet presAssocID="{08E6E445-881C-4479-85D7-BE7945FAC530}" presName="sibTrans" presStyleCnt="0"/>
      <dgm:spPr/>
    </dgm:pt>
    <dgm:pt modelId="{1B6A54B0-7323-418C-B8EE-1A870FF5188A}" type="pres">
      <dgm:prSet presAssocID="{FA200A2F-C330-431E-BDD2-CDE3B3595162}" presName="node" presStyleLbl="node1" presStyleIdx="1" presStyleCnt="3" custScaleX="132821" custLinFactNeighborX="651" custLinFactNeighborY="6665">
        <dgm:presLayoutVars>
          <dgm:bulletEnabled val="1"/>
        </dgm:presLayoutVars>
      </dgm:prSet>
      <dgm:spPr/>
    </dgm:pt>
    <dgm:pt modelId="{31BF777E-F773-4B16-B97D-600CC3D57321}" type="pres">
      <dgm:prSet presAssocID="{2017CCE2-2B64-4B81-8732-0E2B02FC527F}" presName="sibTrans" presStyleCnt="0"/>
      <dgm:spPr/>
    </dgm:pt>
    <dgm:pt modelId="{7887EDED-12AF-4382-A7A3-8629FCB97637}" type="pres">
      <dgm:prSet presAssocID="{69CFE273-6634-4AF2-ADF7-195FCFD02937}" presName="node" presStyleLbl="node1" presStyleIdx="2" presStyleCnt="3" custScaleX="276011" custLinFactNeighborX="-1849" custLinFactNeighborY="-8978">
        <dgm:presLayoutVars>
          <dgm:bulletEnabled val="1"/>
        </dgm:presLayoutVars>
      </dgm:prSet>
      <dgm:spPr/>
    </dgm:pt>
  </dgm:ptLst>
  <dgm:cxnLst>
    <dgm:cxn modelId="{77EF6D1D-FD7A-47D8-BDE6-522163C31357}" type="presOf" srcId="{F63AB343-5A73-47E4-8646-CD6F6FB8F31C}" destId="{4BC6EFDF-A91D-4DDE-B436-D0306CA8FB22}" srcOrd="0" destOrd="0" presId="urn:microsoft.com/office/officeart/2005/8/layout/default"/>
    <dgm:cxn modelId="{30A5641E-68D1-416A-8E5E-C3EBDD465AA1}" type="presOf" srcId="{69CFE273-6634-4AF2-ADF7-195FCFD02937}" destId="{7887EDED-12AF-4382-A7A3-8629FCB97637}" srcOrd="0" destOrd="0" presId="urn:microsoft.com/office/officeart/2005/8/layout/default"/>
    <dgm:cxn modelId="{F2D26463-A756-459D-8F8F-64F6F789D0EB}" srcId="{F63AB343-5A73-47E4-8646-CD6F6FB8F31C}" destId="{69CFE273-6634-4AF2-ADF7-195FCFD02937}" srcOrd="2" destOrd="0" parTransId="{464AEF01-3A62-4C91-9C64-6508F6716BD3}" sibTransId="{F652DB56-D174-4C1C-A4B6-0A7ADDCA9A74}"/>
    <dgm:cxn modelId="{3EFDD747-74B2-4981-9869-3F85B2DE49DC}" type="presOf" srcId="{FA200A2F-C330-431E-BDD2-CDE3B3595162}" destId="{1B6A54B0-7323-418C-B8EE-1A870FF5188A}" srcOrd="0" destOrd="0" presId="urn:microsoft.com/office/officeart/2005/8/layout/default"/>
    <dgm:cxn modelId="{DD1786C4-3186-4B5B-AE30-1E7ADECE388F}" srcId="{F63AB343-5A73-47E4-8646-CD6F6FB8F31C}" destId="{734F4134-E1D5-43D5-B528-B54D97585CBB}" srcOrd="0" destOrd="0" parTransId="{EFEEB090-9026-4FC6-95E9-04981C53B35E}" sibTransId="{08E6E445-881C-4479-85D7-BE7945FAC530}"/>
    <dgm:cxn modelId="{FC50C7E3-644C-41DC-9392-BAEC48D274A6}" srcId="{F63AB343-5A73-47E4-8646-CD6F6FB8F31C}" destId="{FA200A2F-C330-431E-BDD2-CDE3B3595162}" srcOrd="1" destOrd="0" parTransId="{EDACE483-FB25-487E-AE3F-18DDD456604E}" sibTransId="{2017CCE2-2B64-4B81-8732-0E2B02FC527F}"/>
    <dgm:cxn modelId="{38BFDAF7-E9F9-4E3A-872D-65DB2787DC51}" type="presOf" srcId="{734F4134-E1D5-43D5-B528-B54D97585CBB}" destId="{C7D0697F-16F4-44E2-AFF3-63CF0A714EEB}" srcOrd="0" destOrd="0" presId="urn:microsoft.com/office/officeart/2005/8/layout/default"/>
    <dgm:cxn modelId="{CC870701-D926-46F5-9F33-575B800D1DC3}" type="presParOf" srcId="{4BC6EFDF-A91D-4DDE-B436-D0306CA8FB22}" destId="{C7D0697F-16F4-44E2-AFF3-63CF0A714EEB}" srcOrd="0" destOrd="0" presId="urn:microsoft.com/office/officeart/2005/8/layout/default"/>
    <dgm:cxn modelId="{FD7B9305-BF2B-4392-AE15-86B33C51610F}" type="presParOf" srcId="{4BC6EFDF-A91D-4DDE-B436-D0306CA8FB22}" destId="{CDEC6380-52CC-4823-8F32-7DE41D09C832}" srcOrd="1" destOrd="0" presId="urn:microsoft.com/office/officeart/2005/8/layout/default"/>
    <dgm:cxn modelId="{CE01DBE9-E7BA-4532-9CE4-09DB7FBA437A}" type="presParOf" srcId="{4BC6EFDF-A91D-4DDE-B436-D0306CA8FB22}" destId="{1B6A54B0-7323-418C-B8EE-1A870FF5188A}" srcOrd="2" destOrd="0" presId="urn:microsoft.com/office/officeart/2005/8/layout/default"/>
    <dgm:cxn modelId="{6CC580AA-C8EF-4614-80E1-02DFB1C7D5B5}" type="presParOf" srcId="{4BC6EFDF-A91D-4DDE-B436-D0306CA8FB22}" destId="{31BF777E-F773-4B16-B97D-600CC3D57321}" srcOrd="3" destOrd="0" presId="urn:microsoft.com/office/officeart/2005/8/layout/default"/>
    <dgm:cxn modelId="{ED29095C-383F-4177-AD69-9BFAFD17496C}" type="presParOf" srcId="{4BC6EFDF-A91D-4DDE-B436-D0306CA8FB22}" destId="{7887EDED-12AF-4382-A7A3-8629FCB97637}" srcOrd="4"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734F4134-E1D5-43D5-B528-B54D97585CBB}">
      <dgm:prSet phldrT="[Text]" custT="1"/>
      <dgm:spPr>
        <a:solidFill>
          <a:srgbClr val="7F7F7F"/>
        </a:solidFill>
      </dgm:spPr>
      <dgm:t>
        <a:bodyPr/>
        <a:lstStyle/>
        <a:p>
          <a:pPr algn="l"/>
          <a:r>
            <a:rPr lang="en-US" sz="2400" b="1" i="0" dirty="0"/>
            <a:t>EEG-based sensing:</a:t>
          </a:r>
          <a:r>
            <a:rPr lang="en-US" sz="2400" b="0" i="0" dirty="0"/>
            <a:t> Captures electrical brainwave signals</a:t>
          </a:r>
        </a:p>
        <a:p>
          <a:pPr algn="l">
            <a:buFont typeface="Arial" panose="020B0604020202020204" pitchFamily="34" charset="0"/>
            <a:buChar char="•"/>
          </a:pPr>
          <a:r>
            <a:rPr lang="en-US" sz="2400" b="1" i="0" dirty="0"/>
            <a:t>Signal Processing:</a:t>
          </a:r>
          <a:r>
            <a:rPr lang="en-US" sz="2400" b="0" i="0" dirty="0"/>
            <a:t> Filters and analyzes alpha/beta wave ratios</a:t>
          </a:r>
          <a:endParaRPr lang="en-IN" sz="2400" b="0" i="0" dirty="0">
            <a:solidFill>
              <a:schemeClr val="bg1"/>
            </a:solidFill>
            <a:latin typeface="Montserrat" panose="00000500000000000000" pitchFamily="2" charset="0"/>
          </a:endParaRPr>
        </a:p>
      </dgm:t>
    </dgm:pt>
    <dgm:pt modelId="{EFEEB090-9026-4FC6-95E9-04981C53B35E}" type="parTrans" cxnId="{DD1786C4-3186-4B5B-AE30-1E7ADECE388F}">
      <dgm:prSet/>
      <dgm:spPr/>
      <dgm:t>
        <a:bodyPr/>
        <a:lstStyle/>
        <a:p>
          <a:endParaRPr lang="en-IN" sz="2400">
            <a:latin typeface="Montserrat" panose="00000500000000000000" pitchFamily="2" charset="0"/>
          </a:endParaRPr>
        </a:p>
      </dgm:t>
    </dgm:pt>
    <dgm:pt modelId="{08E6E445-881C-4479-85D7-BE7945FAC530}" type="sibTrans" cxnId="{DD1786C4-3186-4B5B-AE30-1E7ADECE388F}">
      <dgm:prSet/>
      <dgm:spPr/>
      <dgm:t>
        <a:bodyPr/>
        <a:lstStyle/>
        <a:p>
          <a:endParaRPr lang="en-IN" sz="2400">
            <a:latin typeface="Montserrat" panose="00000500000000000000" pitchFamily="2" charset="0"/>
          </a:endParaRPr>
        </a:p>
      </dgm:t>
    </dgm:pt>
    <dgm:pt modelId="{FA200A2F-C330-431E-BDD2-CDE3B3595162}">
      <dgm:prSet phldrT="[Text]" custT="1"/>
      <dgm:spPr>
        <a:solidFill>
          <a:schemeClr val="tx1">
            <a:lumMod val="50000"/>
            <a:lumOff val="50000"/>
          </a:schemeClr>
        </a:solidFill>
      </dgm:spPr>
      <dgm:t>
        <a:bodyPr/>
        <a:lstStyle/>
        <a:p>
          <a:pPr algn="l"/>
          <a:r>
            <a:rPr lang="en-US" sz="2400" b="1" i="0" dirty="0"/>
            <a:t>IoT Data Transmission:</a:t>
          </a:r>
          <a:r>
            <a:rPr lang="en-US" sz="2400" b="0" i="0" dirty="0"/>
            <a:t> ESP32 module sends data to Firebase</a:t>
          </a:r>
        </a:p>
        <a:p>
          <a:pPr algn="l">
            <a:buFont typeface="Arial" panose="020B0604020202020204" pitchFamily="34" charset="0"/>
            <a:buChar char="•"/>
          </a:pPr>
          <a:r>
            <a:rPr lang="en-US" sz="2400" b="1" i="0" dirty="0"/>
            <a:t>Mobile App Integration:</a:t>
          </a:r>
          <a:r>
            <a:rPr lang="en-US" sz="2400" b="0" i="0" dirty="0"/>
            <a:t> Real-time dashboard + smart alerts</a:t>
          </a:r>
          <a:endParaRPr lang="en-IN" sz="2400" dirty="0">
            <a:solidFill>
              <a:schemeClr val="bg1"/>
            </a:solidFill>
            <a:latin typeface="Montserrat" panose="00000500000000000000" pitchFamily="2" charset="0"/>
          </a:endParaRPr>
        </a:p>
      </dgm:t>
    </dgm:pt>
    <dgm:pt modelId="{EDACE483-FB25-487E-AE3F-18DDD456604E}" type="parTrans" cxnId="{FC50C7E3-644C-41DC-9392-BAEC48D274A6}">
      <dgm:prSet/>
      <dgm:spPr/>
      <dgm:t>
        <a:bodyPr/>
        <a:lstStyle/>
        <a:p>
          <a:endParaRPr lang="en-IN" sz="2400">
            <a:latin typeface="Montserrat" panose="00000500000000000000" pitchFamily="2" charset="0"/>
          </a:endParaRPr>
        </a:p>
      </dgm:t>
    </dgm:pt>
    <dgm:pt modelId="{2017CCE2-2B64-4B81-8732-0E2B02FC527F}" type="sibTrans" cxnId="{FC50C7E3-644C-41DC-9392-BAEC48D274A6}">
      <dgm:prSet/>
      <dgm:spPr/>
      <dgm:t>
        <a:bodyPr/>
        <a:lstStyle/>
        <a:p>
          <a:endParaRPr lang="en-IN" sz="2400">
            <a:latin typeface="Montserrat" panose="00000500000000000000" pitchFamily="2" charset="0"/>
          </a:endParaRPr>
        </a:p>
      </dgm:t>
    </dgm:pt>
    <dgm:pt modelId="{69CFE273-6634-4AF2-ADF7-195FCFD02937}">
      <dgm:prSet phldrT="[Text]" custT="1"/>
      <dgm:spPr>
        <a:solidFill>
          <a:srgbClr val="F04034"/>
        </a:solidFill>
      </dgm:spPr>
      <dgm:t>
        <a:bodyPr/>
        <a:lstStyle/>
        <a:p>
          <a:pPr marL="0" marR="0" indent="0" algn="l" defTabSz="914400" eaLnBrk="1" fontAlgn="auto" latinLnBrk="0" hangingPunct="1">
            <a:lnSpc>
              <a:spcPct val="100000"/>
            </a:lnSpc>
            <a:spcBef>
              <a:spcPts val="0"/>
            </a:spcBef>
            <a:spcAft>
              <a:spcPts val="0"/>
            </a:spcAft>
            <a:buClrTx/>
            <a:buSzTx/>
            <a:buFontTx/>
            <a:buNone/>
            <a:tabLst/>
            <a:defRPr/>
          </a:pPr>
          <a:r>
            <a:rPr lang="en-US" sz="2400" b="1" dirty="0"/>
            <a:t>AI-based analytics (future scope): </a:t>
          </a:r>
          <a:r>
            <a:rPr lang="en-US" sz="2400" dirty="0"/>
            <a:t>Predictive stress modeling</a:t>
          </a:r>
        </a:p>
        <a:p>
          <a:pPr marL="0" indent="0" algn="l" defTabSz="914400">
            <a:lnSpc>
              <a:spcPct val="100000"/>
            </a:lnSpc>
            <a:spcBef>
              <a:spcPts val="0"/>
            </a:spcBef>
            <a:spcAft>
              <a:spcPts val="0"/>
            </a:spcAft>
            <a:buNone/>
          </a:pPr>
          <a:r>
            <a:rPr lang="en-US" sz="2400" dirty="0"/>
            <a:t>Non-Invasive Wearable Tech: Comfortable and safe for long-term use</a:t>
          </a:r>
          <a:endParaRPr lang="en-IN" sz="2400" dirty="0">
            <a:solidFill>
              <a:schemeClr val="bg1"/>
            </a:solidFill>
            <a:latin typeface="Montserrat" panose="00000500000000000000" pitchFamily="2" charset="0"/>
          </a:endParaRPr>
        </a:p>
      </dgm:t>
    </dgm:pt>
    <dgm:pt modelId="{464AEF01-3A62-4C91-9C64-6508F6716BD3}" type="parTrans" cxnId="{F2D26463-A756-459D-8F8F-64F6F789D0EB}">
      <dgm:prSet/>
      <dgm:spPr/>
      <dgm:t>
        <a:bodyPr/>
        <a:lstStyle/>
        <a:p>
          <a:endParaRPr lang="en-IN" sz="2400">
            <a:latin typeface="Montserrat" panose="00000500000000000000" pitchFamily="2" charset="0"/>
          </a:endParaRPr>
        </a:p>
      </dgm:t>
    </dgm:pt>
    <dgm:pt modelId="{F652DB56-D174-4C1C-A4B6-0A7ADDCA9A74}" type="sibTrans" cxnId="{F2D26463-A756-459D-8F8F-64F6F789D0EB}">
      <dgm:prSet/>
      <dgm:spPr/>
      <dgm:t>
        <a:bodyPr/>
        <a:lstStyle/>
        <a:p>
          <a:endParaRPr lang="en-IN" sz="2400">
            <a:latin typeface="Montserrat" panose="00000500000000000000" pitchFamily="2" charset="0"/>
          </a:endParaRPr>
        </a:p>
      </dgm:t>
    </dgm:pt>
    <dgm:pt modelId="{4BC6EFDF-A91D-4DDE-B436-D0306CA8FB22}" type="pres">
      <dgm:prSet presAssocID="{F63AB343-5A73-47E4-8646-CD6F6FB8F31C}" presName="diagram" presStyleCnt="0">
        <dgm:presLayoutVars>
          <dgm:dir/>
          <dgm:resizeHandles val="exact"/>
        </dgm:presLayoutVars>
      </dgm:prSet>
      <dgm:spPr/>
    </dgm:pt>
    <dgm:pt modelId="{C7D0697F-16F4-44E2-AFF3-63CF0A714EEB}" type="pres">
      <dgm:prSet presAssocID="{734F4134-E1D5-43D5-B528-B54D97585CBB}" presName="node" presStyleLbl="node1" presStyleIdx="0" presStyleCnt="3" custScaleX="132821" custLinFactNeighborX="-597" custLinFactNeighborY="553">
        <dgm:presLayoutVars>
          <dgm:bulletEnabled val="1"/>
        </dgm:presLayoutVars>
      </dgm:prSet>
      <dgm:spPr/>
    </dgm:pt>
    <dgm:pt modelId="{CDEC6380-52CC-4823-8F32-7DE41D09C832}" type="pres">
      <dgm:prSet presAssocID="{08E6E445-881C-4479-85D7-BE7945FAC530}" presName="sibTrans" presStyleCnt="0"/>
      <dgm:spPr/>
    </dgm:pt>
    <dgm:pt modelId="{1B6A54B0-7323-418C-B8EE-1A870FF5188A}" type="pres">
      <dgm:prSet presAssocID="{FA200A2F-C330-431E-BDD2-CDE3B3595162}" presName="node" presStyleLbl="node1" presStyleIdx="1" presStyleCnt="3" custScaleX="132821" custLinFactNeighborX="1705" custLinFactNeighborY="3000">
        <dgm:presLayoutVars>
          <dgm:bulletEnabled val="1"/>
        </dgm:presLayoutVars>
      </dgm:prSet>
      <dgm:spPr/>
    </dgm:pt>
    <dgm:pt modelId="{31BF777E-F773-4B16-B97D-600CC3D57321}" type="pres">
      <dgm:prSet presAssocID="{2017CCE2-2B64-4B81-8732-0E2B02FC527F}" presName="sibTrans" presStyleCnt="0"/>
      <dgm:spPr/>
    </dgm:pt>
    <dgm:pt modelId="{7887EDED-12AF-4382-A7A3-8629FCB97637}" type="pres">
      <dgm:prSet presAssocID="{69CFE273-6634-4AF2-ADF7-195FCFD02937}" presName="node" presStyleLbl="node1" presStyleIdx="2" presStyleCnt="3" custScaleX="276011" custLinFactNeighborX="-1849" custLinFactNeighborY="-8978">
        <dgm:presLayoutVars>
          <dgm:bulletEnabled val="1"/>
        </dgm:presLayoutVars>
      </dgm:prSet>
      <dgm:spPr/>
    </dgm:pt>
  </dgm:ptLst>
  <dgm:cxnLst>
    <dgm:cxn modelId="{77EF6D1D-FD7A-47D8-BDE6-522163C31357}" type="presOf" srcId="{F63AB343-5A73-47E4-8646-CD6F6FB8F31C}" destId="{4BC6EFDF-A91D-4DDE-B436-D0306CA8FB22}" srcOrd="0" destOrd="0" presId="urn:microsoft.com/office/officeart/2005/8/layout/default"/>
    <dgm:cxn modelId="{30A5641E-68D1-416A-8E5E-C3EBDD465AA1}" type="presOf" srcId="{69CFE273-6634-4AF2-ADF7-195FCFD02937}" destId="{7887EDED-12AF-4382-A7A3-8629FCB97637}" srcOrd="0" destOrd="0" presId="urn:microsoft.com/office/officeart/2005/8/layout/default"/>
    <dgm:cxn modelId="{F2D26463-A756-459D-8F8F-64F6F789D0EB}" srcId="{F63AB343-5A73-47E4-8646-CD6F6FB8F31C}" destId="{69CFE273-6634-4AF2-ADF7-195FCFD02937}" srcOrd="2" destOrd="0" parTransId="{464AEF01-3A62-4C91-9C64-6508F6716BD3}" sibTransId="{F652DB56-D174-4C1C-A4B6-0A7ADDCA9A74}"/>
    <dgm:cxn modelId="{3EFDD747-74B2-4981-9869-3F85B2DE49DC}" type="presOf" srcId="{FA200A2F-C330-431E-BDD2-CDE3B3595162}" destId="{1B6A54B0-7323-418C-B8EE-1A870FF5188A}" srcOrd="0" destOrd="0" presId="urn:microsoft.com/office/officeart/2005/8/layout/default"/>
    <dgm:cxn modelId="{DD1786C4-3186-4B5B-AE30-1E7ADECE388F}" srcId="{F63AB343-5A73-47E4-8646-CD6F6FB8F31C}" destId="{734F4134-E1D5-43D5-B528-B54D97585CBB}" srcOrd="0" destOrd="0" parTransId="{EFEEB090-9026-4FC6-95E9-04981C53B35E}" sibTransId="{08E6E445-881C-4479-85D7-BE7945FAC530}"/>
    <dgm:cxn modelId="{FC50C7E3-644C-41DC-9392-BAEC48D274A6}" srcId="{F63AB343-5A73-47E4-8646-CD6F6FB8F31C}" destId="{FA200A2F-C330-431E-BDD2-CDE3B3595162}" srcOrd="1" destOrd="0" parTransId="{EDACE483-FB25-487E-AE3F-18DDD456604E}" sibTransId="{2017CCE2-2B64-4B81-8732-0E2B02FC527F}"/>
    <dgm:cxn modelId="{38BFDAF7-E9F9-4E3A-872D-65DB2787DC51}" type="presOf" srcId="{734F4134-E1D5-43D5-B528-B54D97585CBB}" destId="{C7D0697F-16F4-44E2-AFF3-63CF0A714EEB}" srcOrd="0" destOrd="0" presId="urn:microsoft.com/office/officeart/2005/8/layout/default"/>
    <dgm:cxn modelId="{CC870701-D926-46F5-9F33-575B800D1DC3}" type="presParOf" srcId="{4BC6EFDF-A91D-4DDE-B436-D0306CA8FB22}" destId="{C7D0697F-16F4-44E2-AFF3-63CF0A714EEB}" srcOrd="0" destOrd="0" presId="urn:microsoft.com/office/officeart/2005/8/layout/default"/>
    <dgm:cxn modelId="{FD7B9305-BF2B-4392-AE15-86B33C51610F}" type="presParOf" srcId="{4BC6EFDF-A91D-4DDE-B436-D0306CA8FB22}" destId="{CDEC6380-52CC-4823-8F32-7DE41D09C832}" srcOrd="1" destOrd="0" presId="urn:microsoft.com/office/officeart/2005/8/layout/default"/>
    <dgm:cxn modelId="{CE01DBE9-E7BA-4532-9CE4-09DB7FBA437A}" type="presParOf" srcId="{4BC6EFDF-A91D-4DDE-B436-D0306CA8FB22}" destId="{1B6A54B0-7323-418C-B8EE-1A870FF5188A}" srcOrd="2" destOrd="0" presId="urn:microsoft.com/office/officeart/2005/8/layout/default"/>
    <dgm:cxn modelId="{6CC580AA-C8EF-4614-80E1-02DFB1C7D5B5}" type="presParOf" srcId="{4BC6EFDF-A91D-4DDE-B436-D0306CA8FB22}" destId="{31BF777E-F773-4B16-B97D-600CC3D57321}" srcOrd="3" destOrd="0" presId="urn:microsoft.com/office/officeart/2005/8/layout/default"/>
    <dgm:cxn modelId="{ED29095C-383F-4177-AD69-9BFAFD17496C}" type="presParOf" srcId="{4BC6EFDF-A91D-4DDE-B436-D0306CA8FB22}" destId="{7887EDED-12AF-4382-A7A3-8629FCB97637}" srcOrd="4"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734F4134-E1D5-43D5-B528-B54D97585CBB}">
      <dgm:prSet phldrT="[Text]" custT="1"/>
      <dgm:spPr>
        <a:solidFill>
          <a:srgbClr val="7F7F7F"/>
        </a:solidFill>
      </dgm:spPr>
      <dgm:t>
        <a:bodyPr/>
        <a:lstStyle/>
        <a:p>
          <a:pPr algn="l"/>
          <a:r>
            <a:rPr lang="en-IN" sz="2400" b="1" i="0" dirty="0"/>
            <a:t>Our competitive advantages:</a:t>
          </a:r>
          <a:endParaRPr lang="en-IN" sz="2400" b="0" i="0" dirty="0"/>
        </a:p>
        <a:p>
          <a:pPr algn="l">
            <a:buFont typeface="Arial" panose="020B0604020202020204" pitchFamily="34" charset="0"/>
            <a:buChar char="•"/>
          </a:pPr>
          <a:r>
            <a:rPr lang="en-US" sz="2400" b="0" i="0" dirty="0"/>
            <a:t>Real-time EEG-based cognitive stress detection</a:t>
          </a:r>
        </a:p>
        <a:p>
          <a:pPr algn="l">
            <a:buFont typeface="Arial" panose="020B0604020202020204" pitchFamily="34" charset="0"/>
            <a:buChar char="•"/>
          </a:pPr>
          <a:r>
            <a:rPr lang="en-US" sz="2400" b="0" i="0" dirty="0"/>
            <a:t>Portable, affordable, and easy-to-wear design</a:t>
          </a:r>
          <a:endParaRPr lang="en-IN" sz="2000" dirty="0">
            <a:solidFill>
              <a:schemeClr val="bg1"/>
            </a:solidFill>
            <a:latin typeface="Montserrat" panose="00000500000000000000" pitchFamily="2" charset="0"/>
          </a:endParaRPr>
        </a:p>
      </dgm:t>
    </dgm:pt>
    <dgm:pt modelId="{EFEEB090-9026-4FC6-95E9-04981C53B35E}" type="parTrans" cxnId="{DD1786C4-3186-4B5B-AE30-1E7ADECE388F}">
      <dgm:prSet/>
      <dgm:spPr/>
      <dgm:t>
        <a:bodyPr/>
        <a:lstStyle/>
        <a:p>
          <a:endParaRPr lang="en-IN" sz="2400">
            <a:latin typeface="Montserrat" panose="00000500000000000000" pitchFamily="2" charset="0"/>
          </a:endParaRPr>
        </a:p>
      </dgm:t>
    </dgm:pt>
    <dgm:pt modelId="{08E6E445-881C-4479-85D7-BE7945FAC530}" type="sibTrans" cxnId="{DD1786C4-3186-4B5B-AE30-1E7ADECE388F}">
      <dgm:prSet/>
      <dgm:spPr/>
      <dgm:t>
        <a:bodyPr/>
        <a:lstStyle/>
        <a:p>
          <a:endParaRPr lang="en-IN" sz="2400">
            <a:latin typeface="Montserrat" panose="00000500000000000000" pitchFamily="2" charset="0"/>
          </a:endParaRPr>
        </a:p>
      </dgm:t>
    </dgm:pt>
    <dgm:pt modelId="{FA200A2F-C330-431E-BDD2-CDE3B3595162}">
      <dgm:prSet phldrT="[Text]" custT="1"/>
      <dgm:spPr>
        <a:solidFill>
          <a:schemeClr val="tx1">
            <a:lumMod val="50000"/>
            <a:lumOff val="50000"/>
          </a:schemeClr>
        </a:solidFill>
      </dgm:spPr>
      <dgm:t>
        <a:bodyPr/>
        <a:lstStyle/>
        <a:p>
          <a:pPr algn="l"/>
          <a:r>
            <a:rPr lang="en-IN" sz="2400" b="0" i="0" dirty="0"/>
            <a:t>Instant mobile alerts + personalized stress management</a:t>
          </a:r>
        </a:p>
        <a:p>
          <a:pPr algn="l">
            <a:buFont typeface="Arial" panose="020B0604020202020204" pitchFamily="34" charset="0"/>
            <a:buChar char="•"/>
          </a:pPr>
          <a:r>
            <a:rPr lang="en-IN" sz="2400" b="0" i="0" dirty="0"/>
            <a:t>Cloud-based long-term analytics</a:t>
          </a:r>
          <a:endParaRPr lang="en-IN" sz="2000" dirty="0">
            <a:solidFill>
              <a:schemeClr val="bg1"/>
            </a:solidFill>
            <a:latin typeface="Montserrat" panose="00000500000000000000" pitchFamily="2" charset="0"/>
          </a:endParaRPr>
        </a:p>
      </dgm:t>
    </dgm:pt>
    <dgm:pt modelId="{EDACE483-FB25-487E-AE3F-18DDD456604E}" type="parTrans" cxnId="{FC50C7E3-644C-41DC-9392-BAEC48D274A6}">
      <dgm:prSet/>
      <dgm:spPr/>
      <dgm:t>
        <a:bodyPr/>
        <a:lstStyle/>
        <a:p>
          <a:endParaRPr lang="en-IN" sz="2400">
            <a:latin typeface="Montserrat" panose="00000500000000000000" pitchFamily="2" charset="0"/>
          </a:endParaRPr>
        </a:p>
      </dgm:t>
    </dgm:pt>
    <dgm:pt modelId="{2017CCE2-2B64-4B81-8732-0E2B02FC527F}" type="sibTrans" cxnId="{FC50C7E3-644C-41DC-9392-BAEC48D274A6}">
      <dgm:prSet/>
      <dgm:spPr/>
      <dgm:t>
        <a:bodyPr/>
        <a:lstStyle/>
        <a:p>
          <a:endParaRPr lang="en-IN" sz="2400">
            <a:latin typeface="Montserrat" panose="00000500000000000000" pitchFamily="2" charset="0"/>
          </a:endParaRPr>
        </a:p>
      </dgm:t>
    </dgm:pt>
    <dgm:pt modelId="{69CFE273-6634-4AF2-ADF7-195FCFD02937}">
      <dgm:prSet phldrT="[Text]" custT="1"/>
      <dgm:spPr>
        <a:solidFill>
          <a:srgbClr val="F04034"/>
        </a:solidFill>
      </dgm:spPr>
      <dgm:t>
        <a:bodyPr/>
        <a:lstStyle/>
        <a:p>
          <a:pPr algn="l"/>
          <a:r>
            <a:rPr lang="en-US" sz="2400" b="0" i="0" dirty="0"/>
            <a:t>Most competitors rely on heart-rate or skin-conductance sensors, which detect stress indirectly and less accurately. Clinical EEG devices are accurate but bulky and expensive.</a:t>
          </a:r>
          <a:endParaRPr lang="en-IN" sz="1600" dirty="0">
            <a:solidFill>
              <a:schemeClr val="bg1"/>
            </a:solidFill>
            <a:latin typeface="Montserrat" panose="00000500000000000000" pitchFamily="2" charset="0"/>
          </a:endParaRPr>
        </a:p>
      </dgm:t>
    </dgm:pt>
    <dgm:pt modelId="{464AEF01-3A62-4C91-9C64-6508F6716BD3}" type="parTrans" cxnId="{F2D26463-A756-459D-8F8F-64F6F789D0EB}">
      <dgm:prSet/>
      <dgm:spPr/>
      <dgm:t>
        <a:bodyPr/>
        <a:lstStyle/>
        <a:p>
          <a:endParaRPr lang="en-IN" sz="2400">
            <a:latin typeface="Montserrat" panose="00000500000000000000" pitchFamily="2" charset="0"/>
          </a:endParaRPr>
        </a:p>
      </dgm:t>
    </dgm:pt>
    <dgm:pt modelId="{F652DB56-D174-4C1C-A4B6-0A7ADDCA9A74}" type="sibTrans" cxnId="{F2D26463-A756-459D-8F8F-64F6F789D0EB}">
      <dgm:prSet/>
      <dgm:spPr/>
      <dgm:t>
        <a:bodyPr/>
        <a:lstStyle/>
        <a:p>
          <a:endParaRPr lang="en-IN" sz="2400">
            <a:latin typeface="Montserrat" panose="00000500000000000000" pitchFamily="2" charset="0"/>
          </a:endParaRPr>
        </a:p>
      </dgm:t>
    </dgm:pt>
    <dgm:pt modelId="{4BC6EFDF-A91D-4DDE-B436-D0306CA8FB22}" type="pres">
      <dgm:prSet presAssocID="{F63AB343-5A73-47E4-8646-CD6F6FB8F31C}" presName="diagram" presStyleCnt="0">
        <dgm:presLayoutVars>
          <dgm:dir/>
          <dgm:resizeHandles val="exact"/>
        </dgm:presLayoutVars>
      </dgm:prSet>
      <dgm:spPr/>
    </dgm:pt>
    <dgm:pt modelId="{C7D0697F-16F4-44E2-AFF3-63CF0A714EEB}" type="pres">
      <dgm:prSet presAssocID="{734F4134-E1D5-43D5-B528-B54D97585CBB}" presName="node" presStyleLbl="node1" presStyleIdx="0" presStyleCnt="3" custScaleX="132821" custLinFactNeighborX="-599" custLinFactNeighborY="6665">
        <dgm:presLayoutVars>
          <dgm:bulletEnabled val="1"/>
        </dgm:presLayoutVars>
      </dgm:prSet>
      <dgm:spPr/>
    </dgm:pt>
    <dgm:pt modelId="{CDEC6380-52CC-4823-8F32-7DE41D09C832}" type="pres">
      <dgm:prSet presAssocID="{08E6E445-881C-4479-85D7-BE7945FAC530}" presName="sibTrans" presStyleCnt="0"/>
      <dgm:spPr/>
    </dgm:pt>
    <dgm:pt modelId="{1B6A54B0-7323-418C-B8EE-1A870FF5188A}" type="pres">
      <dgm:prSet presAssocID="{FA200A2F-C330-431E-BDD2-CDE3B3595162}" presName="node" presStyleLbl="node1" presStyleIdx="1" presStyleCnt="3" custScaleX="132821" custLinFactNeighborX="651" custLinFactNeighborY="6665">
        <dgm:presLayoutVars>
          <dgm:bulletEnabled val="1"/>
        </dgm:presLayoutVars>
      </dgm:prSet>
      <dgm:spPr/>
    </dgm:pt>
    <dgm:pt modelId="{31BF777E-F773-4B16-B97D-600CC3D57321}" type="pres">
      <dgm:prSet presAssocID="{2017CCE2-2B64-4B81-8732-0E2B02FC527F}" presName="sibTrans" presStyleCnt="0"/>
      <dgm:spPr/>
    </dgm:pt>
    <dgm:pt modelId="{7887EDED-12AF-4382-A7A3-8629FCB97637}" type="pres">
      <dgm:prSet presAssocID="{69CFE273-6634-4AF2-ADF7-195FCFD02937}" presName="node" presStyleLbl="node1" presStyleIdx="2" presStyleCnt="3" custScaleX="276011" custLinFactNeighborX="-1849" custLinFactNeighborY="-8978">
        <dgm:presLayoutVars>
          <dgm:bulletEnabled val="1"/>
        </dgm:presLayoutVars>
      </dgm:prSet>
      <dgm:spPr/>
    </dgm:pt>
  </dgm:ptLst>
  <dgm:cxnLst>
    <dgm:cxn modelId="{77EF6D1D-FD7A-47D8-BDE6-522163C31357}" type="presOf" srcId="{F63AB343-5A73-47E4-8646-CD6F6FB8F31C}" destId="{4BC6EFDF-A91D-4DDE-B436-D0306CA8FB22}" srcOrd="0" destOrd="0" presId="urn:microsoft.com/office/officeart/2005/8/layout/default"/>
    <dgm:cxn modelId="{30A5641E-68D1-416A-8E5E-C3EBDD465AA1}" type="presOf" srcId="{69CFE273-6634-4AF2-ADF7-195FCFD02937}" destId="{7887EDED-12AF-4382-A7A3-8629FCB97637}" srcOrd="0" destOrd="0" presId="urn:microsoft.com/office/officeart/2005/8/layout/default"/>
    <dgm:cxn modelId="{F2D26463-A756-459D-8F8F-64F6F789D0EB}" srcId="{F63AB343-5A73-47E4-8646-CD6F6FB8F31C}" destId="{69CFE273-6634-4AF2-ADF7-195FCFD02937}" srcOrd="2" destOrd="0" parTransId="{464AEF01-3A62-4C91-9C64-6508F6716BD3}" sibTransId="{F652DB56-D174-4C1C-A4B6-0A7ADDCA9A74}"/>
    <dgm:cxn modelId="{3EFDD747-74B2-4981-9869-3F85B2DE49DC}" type="presOf" srcId="{FA200A2F-C330-431E-BDD2-CDE3B3595162}" destId="{1B6A54B0-7323-418C-B8EE-1A870FF5188A}" srcOrd="0" destOrd="0" presId="urn:microsoft.com/office/officeart/2005/8/layout/default"/>
    <dgm:cxn modelId="{DD1786C4-3186-4B5B-AE30-1E7ADECE388F}" srcId="{F63AB343-5A73-47E4-8646-CD6F6FB8F31C}" destId="{734F4134-E1D5-43D5-B528-B54D97585CBB}" srcOrd="0" destOrd="0" parTransId="{EFEEB090-9026-4FC6-95E9-04981C53B35E}" sibTransId="{08E6E445-881C-4479-85D7-BE7945FAC530}"/>
    <dgm:cxn modelId="{FC50C7E3-644C-41DC-9392-BAEC48D274A6}" srcId="{F63AB343-5A73-47E4-8646-CD6F6FB8F31C}" destId="{FA200A2F-C330-431E-BDD2-CDE3B3595162}" srcOrd="1" destOrd="0" parTransId="{EDACE483-FB25-487E-AE3F-18DDD456604E}" sibTransId="{2017CCE2-2B64-4B81-8732-0E2B02FC527F}"/>
    <dgm:cxn modelId="{38BFDAF7-E9F9-4E3A-872D-65DB2787DC51}" type="presOf" srcId="{734F4134-E1D5-43D5-B528-B54D97585CBB}" destId="{C7D0697F-16F4-44E2-AFF3-63CF0A714EEB}" srcOrd="0" destOrd="0" presId="urn:microsoft.com/office/officeart/2005/8/layout/default"/>
    <dgm:cxn modelId="{CC870701-D926-46F5-9F33-575B800D1DC3}" type="presParOf" srcId="{4BC6EFDF-A91D-4DDE-B436-D0306CA8FB22}" destId="{C7D0697F-16F4-44E2-AFF3-63CF0A714EEB}" srcOrd="0" destOrd="0" presId="urn:microsoft.com/office/officeart/2005/8/layout/default"/>
    <dgm:cxn modelId="{FD7B9305-BF2B-4392-AE15-86B33C51610F}" type="presParOf" srcId="{4BC6EFDF-A91D-4DDE-B436-D0306CA8FB22}" destId="{CDEC6380-52CC-4823-8F32-7DE41D09C832}" srcOrd="1" destOrd="0" presId="urn:microsoft.com/office/officeart/2005/8/layout/default"/>
    <dgm:cxn modelId="{CE01DBE9-E7BA-4532-9CE4-09DB7FBA437A}" type="presParOf" srcId="{4BC6EFDF-A91D-4DDE-B436-D0306CA8FB22}" destId="{1B6A54B0-7323-418C-B8EE-1A870FF5188A}" srcOrd="2" destOrd="0" presId="urn:microsoft.com/office/officeart/2005/8/layout/default"/>
    <dgm:cxn modelId="{6CC580AA-C8EF-4614-80E1-02DFB1C7D5B5}" type="presParOf" srcId="{4BC6EFDF-A91D-4DDE-B436-D0306CA8FB22}" destId="{31BF777E-F773-4B16-B97D-600CC3D57321}" srcOrd="3" destOrd="0" presId="urn:microsoft.com/office/officeart/2005/8/layout/default"/>
    <dgm:cxn modelId="{ED29095C-383F-4177-AD69-9BFAFD17496C}" type="presParOf" srcId="{4BC6EFDF-A91D-4DDE-B436-D0306CA8FB22}" destId="{7887EDED-12AF-4382-A7A3-8629FCB97637}" srcOrd="4"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734F4134-E1D5-43D5-B528-B54D97585CBB}">
      <dgm:prSet phldrT="[Text]" custT="1"/>
      <dgm:spPr>
        <a:solidFill>
          <a:srgbClr val="7F7F7F"/>
        </a:solidFill>
      </dgm:spPr>
      <dgm:t>
        <a:bodyPr/>
        <a:lstStyle/>
        <a:p>
          <a:pPr algn="l"/>
          <a:r>
            <a:rPr lang="en-IN" sz="2400" b="1" i="0" dirty="0"/>
            <a:t>B2C Model (Individuals):</a:t>
          </a:r>
          <a:endParaRPr lang="en-IN" sz="2400" b="0" i="0" dirty="0"/>
        </a:p>
        <a:p>
          <a:pPr algn="l">
            <a:buFont typeface="Arial" panose="020B0604020202020204" pitchFamily="34" charset="0"/>
            <a:buChar char="•"/>
          </a:pPr>
          <a:r>
            <a:rPr lang="en-IN" sz="2400" b="0" i="0" dirty="0"/>
            <a:t>Sale of wearable cap</a:t>
          </a:r>
        </a:p>
        <a:p>
          <a:pPr algn="l">
            <a:buFont typeface="Arial" panose="020B0604020202020204" pitchFamily="34" charset="0"/>
            <a:buChar char="•"/>
          </a:pPr>
          <a:r>
            <a:rPr lang="en-US" sz="2400" b="0" i="0" dirty="0"/>
            <a:t>Mobile app subscription (premium analytics, advanced insights, guided meditation library)</a:t>
          </a:r>
          <a:endParaRPr lang="en-IN" sz="2000" dirty="0">
            <a:solidFill>
              <a:schemeClr val="bg1"/>
            </a:solidFill>
            <a:latin typeface="Montserrat" panose="00000500000000000000" pitchFamily="2" charset="0"/>
          </a:endParaRPr>
        </a:p>
      </dgm:t>
    </dgm:pt>
    <dgm:pt modelId="{EFEEB090-9026-4FC6-95E9-04981C53B35E}" type="parTrans" cxnId="{DD1786C4-3186-4B5B-AE30-1E7ADECE388F}">
      <dgm:prSet/>
      <dgm:spPr/>
      <dgm:t>
        <a:bodyPr/>
        <a:lstStyle/>
        <a:p>
          <a:endParaRPr lang="en-IN" sz="2400">
            <a:latin typeface="Montserrat" panose="00000500000000000000" pitchFamily="2" charset="0"/>
          </a:endParaRPr>
        </a:p>
      </dgm:t>
    </dgm:pt>
    <dgm:pt modelId="{08E6E445-881C-4479-85D7-BE7945FAC530}" type="sibTrans" cxnId="{DD1786C4-3186-4B5B-AE30-1E7ADECE388F}">
      <dgm:prSet/>
      <dgm:spPr/>
      <dgm:t>
        <a:bodyPr/>
        <a:lstStyle/>
        <a:p>
          <a:endParaRPr lang="en-IN" sz="2400">
            <a:latin typeface="Montserrat" panose="00000500000000000000" pitchFamily="2" charset="0"/>
          </a:endParaRPr>
        </a:p>
      </dgm:t>
    </dgm:pt>
    <dgm:pt modelId="{A1A64FDF-DB09-4C10-9862-AD171F88F002}">
      <dgm:prSet phldrT="[Text]"/>
      <dgm:spPr>
        <a:solidFill>
          <a:srgbClr val="F04034"/>
        </a:solidFill>
      </dgm:spPr>
      <dgm:t>
        <a:bodyPr/>
        <a:lstStyle/>
        <a:p>
          <a:r>
            <a:rPr lang="en-IN" b="1" i="0" dirty="0"/>
            <a:t>B2B Model (Institutions):</a:t>
          </a:r>
          <a:endParaRPr lang="en-IN" b="0" i="0" dirty="0"/>
        </a:p>
        <a:p>
          <a:pPr>
            <a:buFont typeface="Arial" panose="020B0604020202020204" pitchFamily="34" charset="0"/>
            <a:buChar char="•"/>
          </a:pPr>
          <a:r>
            <a:rPr lang="en-US" b="0" i="0" dirty="0"/>
            <a:t>Bulk sales for corporates, educational institutions, hospitals, and defense</a:t>
          </a:r>
        </a:p>
        <a:p>
          <a:pPr>
            <a:buFont typeface="Arial" panose="020B0604020202020204" pitchFamily="34" charset="0"/>
            <a:buChar char="•"/>
          </a:pPr>
          <a:r>
            <a:rPr lang="en-IN" b="0" i="0" dirty="0"/>
            <a:t>Enterprise dashboard subscription</a:t>
          </a:r>
        </a:p>
        <a:p>
          <a:pPr>
            <a:buFont typeface="Arial" panose="020B0604020202020204" pitchFamily="34" charset="0"/>
            <a:buChar char="•"/>
          </a:pPr>
          <a:r>
            <a:rPr lang="en-IN" b="0" i="0" dirty="0"/>
            <a:t>Licensing for stress monitoring programs</a:t>
          </a:r>
          <a:endParaRPr lang="en-IN" dirty="0">
            <a:solidFill>
              <a:schemeClr val="bg1"/>
            </a:solidFill>
            <a:latin typeface="Montserrat" panose="00000500000000000000" pitchFamily="2" charset="0"/>
          </a:endParaRPr>
        </a:p>
      </dgm:t>
    </dgm:pt>
    <dgm:pt modelId="{2FC5F85D-045D-4296-B74F-0CC184592E34}" type="parTrans" cxnId="{DDC889BB-3881-4CDD-9E72-1F3CF5A6655B}">
      <dgm:prSet/>
      <dgm:spPr/>
      <dgm:t>
        <a:bodyPr/>
        <a:lstStyle/>
        <a:p>
          <a:endParaRPr lang="en-US"/>
        </a:p>
      </dgm:t>
    </dgm:pt>
    <dgm:pt modelId="{79A5BFD3-93C2-411C-B65B-46EAAE43AB6B}" type="sibTrans" cxnId="{DDC889BB-3881-4CDD-9E72-1F3CF5A6655B}">
      <dgm:prSet/>
      <dgm:spPr/>
      <dgm:t>
        <a:bodyPr/>
        <a:lstStyle/>
        <a:p>
          <a:endParaRPr lang="en-US"/>
        </a:p>
      </dgm:t>
    </dgm:pt>
    <dgm:pt modelId="{4BC6EFDF-A91D-4DDE-B436-D0306CA8FB22}" type="pres">
      <dgm:prSet presAssocID="{F63AB343-5A73-47E4-8646-CD6F6FB8F31C}" presName="diagram" presStyleCnt="0">
        <dgm:presLayoutVars>
          <dgm:dir/>
          <dgm:resizeHandles val="exact"/>
        </dgm:presLayoutVars>
      </dgm:prSet>
      <dgm:spPr/>
    </dgm:pt>
    <dgm:pt modelId="{C7D0697F-16F4-44E2-AFF3-63CF0A714EEB}" type="pres">
      <dgm:prSet presAssocID="{734F4134-E1D5-43D5-B528-B54D97585CBB}" presName="node" presStyleLbl="node1" presStyleIdx="0" presStyleCnt="2" custScaleX="132821" custScaleY="109329" custLinFactNeighborX="-597" custLinFactNeighborY="553">
        <dgm:presLayoutVars>
          <dgm:bulletEnabled val="1"/>
        </dgm:presLayoutVars>
      </dgm:prSet>
      <dgm:spPr/>
    </dgm:pt>
    <dgm:pt modelId="{CDEC6380-52CC-4823-8F32-7DE41D09C832}" type="pres">
      <dgm:prSet presAssocID="{08E6E445-881C-4479-85D7-BE7945FAC530}" presName="sibTrans" presStyleCnt="0"/>
      <dgm:spPr/>
    </dgm:pt>
    <dgm:pt modelId="{8CFFFA3B-2F5A-4E03-BDFF-2ADEB6CF60BC}" type="pres">
      <dgm:prSet presAssocID="{A1A64FDF-DB09-4C10-9862-AD171F88F002}" presName="node" presStyleLbl="node1" presStyleIdx="1" presStyleCnt="2" custScaleX="132821" custScaleY="106375" custLinFactNeighborX="184" custLinFactNeighborY="2587">
        <dgm:presLayoutVars>
          <dgm:bulletEnabled val="1"/>
        </dgm:presLayoutVars>
      </dgm:prSet>
      <dgm:spPr/>
    </dgm:pt>
  </dgm:ptLst>
  <dgm:cxnLst>
    <dgm:cxn modelId="{77EF6D1D-FD7A-47D8-BDE6-522163C31357}" type="presOf" srcId="{F63AB343-5A73-47E4-8646-CD6F6FB8F31C}" destId="{4BC6EFDF-A91D-4DDE-B436-D0306CA8FB22}" srcOrd="0" destOrd="0" presId="urn:microsoft.com/office/officeart/2005/8/layout/default"/>
    <dgm:cxn modelId="{6C3F06BA-BA2B-4E9B-B527-32F2B33577F0}" type="presOf" srcId="{A1A64FDF-DB09-4C10-9862-AD171F88F002}" destId="{8CFFFA3B-2F5A-4E03-BDFF-2ADEB6CF60BC}" srcOrd="0" destOrd="0" presId="urn:microsoft.com/office/officeart/2005/8/layout/default"/>
    <dgm:cxn modelId="{DDC889BB-3881-4CDD-9E72-1F3CF5A6655B}" srcId="{F63AB343-5A73-47E4-8646-CD6F6FB8F31C}" destId="{A1A64FDF-DB09-4C10-9862-AD171F88F002}" srcOrd="1" destOrd="0" parTransId="{2FC5F85D-045D-4296-B74F-0CC184592E34}" sibTransId="{79A5BFD3-93C2-411C-B65B-46EAAE43AB6B}"/>
    <dgm:cxn modelId="{DD1786C4-3186-4B5B-AE30-1E7ADECE388F}" srcId="{F63AB343-5A73-47E4-8646-CD6F6FB8F31C}" destId="{734F4134-E1D5-43D5-B528-B54D97585CBB}" srcOrd="0" destOrd="0" parTransId="{EFEEB090-9026-4FC6-95E9-04981C53B35E}" sibTransId="{08E6E445-881C-4479-85D7-BE7945FAC530}"/>
    <dgm:cxn modelId="{38BFDAF7-E9F9-4E3A-872D-65DB2787DC51}" type="presOf" srcId="{734F4134-E1D5-43D5-B528-B54D97585CBB}" destId="{C7D0697F-16F4-44E2-AFF3-63CF0A714EEB}" srcOrd="0" destOrd="0" presId="urn:microsoft.com/office/officeart/2005/8/layout/default"/>
    <dgm:cxn modelId="{CC870701-D926-46F5-9F33-575B800D1DC3}" type="presParOf" srcId="{4BC6EFDF-A91D-4DDE-B436-D0306CA8FB22}" destId="{C7D0697F-16F4-44E2-AFF3-63CF0A714EEB}" srcOrd="0" destOrd="0" presId="urn:microsoft.com/office/officeart/2005/8/layout/default"/>
    <dgm:cxn modelId="{FD7B9305-BF2B-4392-AE15-86B33C51610F}" type="presParOf" srcId="{4BC6EFDF-A91D-4DDE-B436-D0306CA8FB22}" destId="{CDEC6380-52CC-4823-8F32-7DE41D09C832}" srcOrd="1" destOrd="0" presId="urn:microsoft.com/office/officeart/2005/8/layout/default"/>
    <dgm:cxn modelId="{5159DA84-E32B-495F-AD05-D7D6DF842816}" type="presParOf" srcId="{4BC6EFDF-A91D-4DDE-B436-D0306CA8FB22}" destId="{8CFFFA3B-2F5A-4E03-BDFF-2ADEB6CF60BC}" srcOrd="2"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734F4134-E1D5-43D5-B528-B54D97585CBB}">
      <dgm:prSet phldrT="[Text]" custT="1"/>
      <dgm:spPr>
        <a:solidFill>
          <a:srgbClr val="7F7F7F"/>
        </a:solidFill>
      </dgm:spPr>
      <dgm:t>
        <a:bodyPr/>
        <a:lstStyle/>
        <a:p>
          <a:pPr algn="l"/>
          <a:r>
            <a:rPr lang="en-US" sz="3000" b="0" i="0" dirty="0">
              <a:latin typeface="Times New Roman" panose="02020603050405020304" pitchFamily="18" charset="0"/>
              <a:cs typeface="Times New Roman" panose="02020603050405020304" pitchFamily="18" charset="0"/>
            </a:rPr>
            <a:t>Prototype successfully developed and tested</a:t>
          </a:r>
        </a:p>
        <a:p>
          <a:pPr algn="l">
            <a:buFont typeface="Arial" panose="020B0604020202020204" pitchFamily="34" charset="0"/>
            <a:buChar char="•"/>
          </a:pPr>
          <a:r>
            <a:rPr lang="en-US" sz="3000" b="0" i="0" dirty="0">
              <a:latin typeface="Times New Roman" panose="02020603050405020304" pitchFamily="18" charset="0"/>
              <a:cs typeface="Times New Roman" panose="02020603050405020304" pitchFamily="18" charset="0"/>
            </a:rPr>
            <a:t>Data transmission and mobile dashboard fully functional</a:t>
          </a:r>
        </a:p>
        <a:p>
          <a:pPr algn="l">
            <a:buFont typeface="Arial" panose="020B0604020202020204" pitchFamily="34" charset="0"/>
            <a:buChar char="•"/>
          </a:pPr>
          <a:r>
            <a:rPr lang="en-US" sz="3000" b="0" i="0" dirty="0">
              <a:latin typeface="Times New Roman" panose="02020603050405020304" pitchFamily="18" charset="0"/>
              <a:cs typeface="Times New Roman" panose="02020603050405020304" pitchFamily="18" charset="0"/>
            </a:rPr>
            <a:t>Positive feedback from initial test users (students/professionals)</a:t>
          </a:r>
          <a:endParaRPr lang="en-IN" sz="3000" dirty="0">
            <a:solidFill>
              <a:schemeClr val="bg1"/>
            </a:solidFill>
            <a:latin typeface="Times New Roman" panose="02020603050405020304" pitchFamily="18" charset="0"/>
            <a:cs typeface="Times New Roman" panose="02020603050405020304" pitchFamily="18" charset="0"/>
          </a:endParaRPr>
        </a:p>
      </dgm:t>
    </dgm:pt>
    <dgm:pt modelId="{EFEEB090-9026-4FC6-95E9-04981C53B35E}" type="parTrans" cxnId="{DD1786C4-3186-4B5B-AE30-1E7ADECE388F}">
      <dgm:prSet/>
      <dgm:spPr/>
      <dgm:t>
        <a:bodyPr/>
        <a:lstStyle/>
        <a:p>
          <a:endParaRPr lang="en-IN" sz="2400">
            <a:latin typeface="Montserrat" panose="00000500000000000000" pitchFamily="2" charset="0"/>
          </a:endParaRPr>
        </a:p>
      </dgm:t>
    </dgm:pt>
    <dgm:pt modelId="{08E6E445-881C-4479-85D7-BE7945FAC530}" type="sibTrans" cxnId="{DD1786C4-3186-4B5B-AE30-1E7ADECE388F}">
      <dgm:prSet/>
      <dgm:spPr/>
      <dgm:t>
        <a:bodyPr/>
        <a:lstStyle/>
        <a:p>
          <a:endParaRPr lang="en-IN" sz="2400">
            <a:latin typeface="Montserrat" panose="00000500000000000000" pitchFamily="2" charset="0"/>
          </a:endParaRPr>
        </a:p>
      </dgm:t>
    </dgm:pt>
    <dgm:pt modelId="{FA200A2F-C330-431E-BDD2-CDE3B3595162}">
      <dgm:prSet phldrT="[Text]" custT="1"/>
      <dgm:spPr>
        <a:solidFill>
          <a:srgbClr val="F04034"/>
        </a:solidFill>
      </dgm:spPr>
      <dgm:t>
        <a:bodyPr/>
        <a:lstStyle/>
        <a:p>
          <a:pPr algn="l"/>
          <a:r>
            <a:rPr lang="en-US" sz="3000" b="0" i="0" dirty="0">
              <a:latin typeface="Times New Roman" panose="02020603050405020304" pitchFamily="18" charset="0"/>
              <a:cs typeface="Times New Roman" panose="02020603050405020304" pitchFamily="18" charset="0"/>
            </a:rPr>
            <a:t>Identified strong demand during surveys in academic and corporate sectors</a:t>
          </a:r>
        </a:p>
        <a:p>
          <a:pPr algn="l">
            <a:buFont typeface="Arial" panose="020B0604020202020204" pitchFamily="34" charset="0"/>
            <a:buChar char="•"/>
          </a:pPr>
          <a:r>
            <a:rPr lang="en-US" sz="3000" b="0" i="0" dirty="0">
              <a:latin typeface="Times New Roman" panose="02020603050405020304" pitchFamily="18" charset="0"/>
              <a:cs typeface="Times New Roman" panose="02020603050405020304" pitchFamily="18" charset="0"/>
            </a:rPr>
            <a:t>Ready for pilot implementation in educational institutions</a:t>
          </a:r>
          <a:endParaRPr lang="en-IN" sz="3000" dirty="0">
            <a:solidFill>
              <a:schemeClr val="bg1"/>
            </a:solidFill>
            <a:latin typeface="Times New Roman" panose="02020603050405020304" pitchFamily="18" charset="0"/>
            <a:cs typeface="Times New Roman" panose="02020603050405020304" pitchFamily="18" charset="0"/>
          </a:endParaRPr>
        </a:p>
      </dgm:t>
    </dgm:pt>
    <dgm:pt modelId="{EDACE483-FB25-487E-AE3F-18DDD456604E}" type="parTrans" cxnId="{FC50C7E3-644C-41DC-9392-BAEC48D274A6}">
      <dgm:prSet/>
      <dgm:spPr/>
      <dgm:t>
        <a:bodyPr/>
        <a:lstStyle/>
        <a:p>
          <a:endParaRPr lang="en-IN" sz="2400">
            <a:latin typeface="Montserrat" panose="00000500000000000000" pitchFamily="2" charset="0"/>
          </a:endParaRPr>
        </a:p>
      </dgm:t>
    </dgm:pt>
    <dgm:pt modelId="{2017CCE2-2B64-4B81-8732-0E2B02FC527F}" type="sibTrans" cxnId="{FC50C7E3-644C-41DC-9392-BAEC48D274A6}">
      <dgm:prSet/>
      <dgm:spPr/>
      <dgm:t>
        <a:bodyPr/>
        <a:lstStyle/>
        <a:p>
          <a:endParaRPr lang="en-IN" sz="2400">
            <a:latin typeface="Montserrat" panose="00000500000000000000" pitchFamily="2" charset="0"/>
          </a:endParaRPr>
        </a:p>
      </dgm:t>
    </dgm:pt>
    <dgm:pt modelId="{4BC6EFDF-A91D-4DDE-B436-D0306CA8FB22}" type="pres">
      <dgm:prSet presAssocID="{F63AB343-5A73-47E4-8646-CD6F6FB8F31C}" presName="diagram" presStyleCnt="0">
        <dgm:presLayoutVars>
          <dgm:dir/>
          <dgm:resizeHandles val="exact"/>
        </dgm:presLayoutVars>
      </dgm:prSet>
      <dgm:spPr/>
    </dgm:pt>
    <dgm:pt modelId="{C7D0697F-16F4-44E2-AFF3-63CF0A714EEB}" type="pres">
      <dgm:prSet presAssocID="{734F4134-E1D5-43D5-B528-B54D97585CBB}" presName="node" presStyleLbl="node1" presStyleIdx="0" presStyleCnt="2" custScaleX="132821" custScaleY="169029" custLinFactNeighborX="-597" custLinFactNeighborY="553">
        <dgm:presLayoutVars>
          <dgm:bulletEnabled val="1"/>
        </dgm:presLayoutVars>
      </dgm:prSet>
      <dgm:spPr/>
    </dgm:pt>
    <dgm:pt modelId="{CDEC6380-52CC-4823-8F32-7DE41D09C832}" type="pres">
      <dgm:prSet presAssocID="{08E6E445-881C-4479-85D7-BE7945FAC530}" presName="sibTrans" presStyleCnt="0"/>
      <dgm:spPr/>
    </dgm:pt>
    <dgm:pt modelId="{1B6A54B0-7323-418C-B8EE-1A870FF5188A}" type="pres">
      <dgm:prSet presAssocID="{FA200A2F-C330-431E-BDD2-CDE3B3595162}" presName="node" presStyleLbl="node1" presStyleIdx="1" presStyleCnt="2" custScaleX="132821" custScaleY="169029" custLinFactNeighborX="1208" custLinFactNeighborY="553">
        <dgm:presLayoutVars>
          <dgm:bulletEnabled val="1"/>
        </dgm:presLayoutVars>
      </dgm:prSet>
      <dgm:spPr/>
    </dgm:pt>
  </dgm:ptLst>
  <dgm:cxnLst>
    <dgm:cxn modelId="{77EF6D1D-FD7A-47D8-BDE6-522163C31357}" type="presOf" srcId="{F63AB343-5A73-47E4-8646-CD6F6FB8F31C}" destId="{4BC6EFDF-A91D-4DDE-B436-D0306CA8FB22}" srcOrd="0" destOrd="0" presId="urn:microsoft.com/office/officeart/2005/8/layout/default"/>
    <dgm:cxn modelId="{3EFDD747-74B2-4981-9869-3F85B2DE49DC}" type="presOf" srcId="{FA200A2F-C330-431E-BDD2-CDE3B3595162}" destId="{1B6A54B0-7323-418C-B8EE-1A870FF5188A}" srcOrd="0" destOrd="0" presId="urn:microsoft.com/office/officeart/2005/8/layout/default"/>
    <dgm:cxn modelId="{DD1786C4-3186-4B5B-AE30-1E7ADECE388F}" srcId="{F63AB343-5A73-47E4-8646-CD6F6FB8F31C}" destId="{734F4134-E1D5-43D5-B528-B54D97585CBB}" srcOrd="0" destOrd="0" parTransId="{EFEEB090-9026-4FC6-95E9-04981C53B35E}" sibTransId="{08E6E445-881C-4479-85D7-BE7945FAC530}"/>
    <dgm:cxn modelId="{FC50C7E3-644C-41DC-9392-BAEC48D274A6}" srcId="{F63AB343-5A73-47E4-8646-CD6F6FB8F31C}" destId="{FA200A2F-C330-431E-BDD2-CDE3B3595162}" srcOrd="1" destOrd="0" parTransId="{EDACE483-FB25-487E-AE3F-18DDD456604E}" sibTransId="{2017CCE2-2B64-4B81-8732-0E2B02FC527F}"/>
    <dgm:cxn modelId="{38BFDAF7-E9F9-4E3A-872D-65DB2787DC51}" type="presOf" srcId="{734F4134-E1D5-43D5-B528-B54D97585CBB}" destId="{C7D0697F-16F4-44E2-AFF3-63CF0A714EEB}" srcOrd="0" destOrd="0" presId="urn:microsoft.com/office/officeart/2005/8/layout/default"/>
    <dgm:cxn modelId="{CC870701-D926-46F5-9F33-575B800D1DC3}" type="presParOf" srcId="{4BC6EFDF-A91D-4DDE-B436-D0306CA8FB22}" destId="{C7D0697F-16F4-44E2-AFF3-63CF0A714EEB}" srcOrd="0" destOrd="0" presId="urn:microsoft.com/office/officeart/2005/8/layout/default"/>
    <dgm:cxn modelId="{FD7B9305-BF2B-4392-AE15-86B33C51610F}" type="presParOf" srcId="{4BC6EFDF-A91D-4DDE-B436-D0306CA8FB22}" destId="{CDEC6380-52CC-4823-8F32-7DE41D09C832}" srcOrd="1" destOrd="0" presId="urn:microsoft.com/office/officeart/2005/8/layout/default"/>
    <dgm:cxn modelId="{CE01DBE9-E7BA-4532-9CE4-09DB7FBA437A}" type="presParOf" srcId="{4BC6EFDF-A91D-4DDE-B436-D0306CA8FB22}" destId="{1B6A54B0-7323-418C-B8EE-1A870FF5188A}" srcOrd="2"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24DB83B-206D-48A3-BFB8-5D22FE276FA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D0AB7018-7FE8-45A9-B4D2-6B7B1F0AEB67}">
      <dgm:prSet phldrT="[Text]" custT="1"/>
      <dgm:spPr>
        <a:solidFill>
          <a:srgbClr val="7F7F7F"/>
        </a:solidFill>
      </dgm:spPr>
      <dgm:t>
        <a:bodyPr/>
        <a:lstStyle/>
        <a:p>
          <a:r>
            <a:rPr lang="en-IN" sz="2400" b="1" i="0" dirty="0"/>
            <a:t>Already Achieved:</a:t>
          </a:r>
          <a:endParaRPr lang="en-IN" sz="2400" b="0" i="0" dirty="0"/>
        </a:p>
        <a:p>
          <a:pPr>
            <a:buFont typeface="Arial" panose="020B0604020202020204" pitchFamily="34" charset="0"/>
            <a:buChar char="•"/>
          </a:pPr>
          <a:r>
            <a:rPr lang="en-US" sz="2400" b="0" i="0" dirty="0"/>
            <a:t>Built functional prototype using ESP32 + EEG sensor</a:t>
          </a:r>
        </a:p>
        <a:p>
          <a:pPr>
            <a:buFont typeface="Arial" panose="020B0604020202020204" pitchFamily="34" charset="0"/>
            <a:buChar char="•"/>
          </a:pPr>
          <a:r>
            <a:rPr lang="en-US" sz="2400" b="0" i="0" dirty="0"/>
            <a:t>Developed mobile app and Firebase architecture</a:t>
          </a:r>
        </a:p>
        <a:p>
          <a:pPr>
            <a:buFont typeface="Arial" panose="020B0604020202020204" pitchFamily="34" charset="0"/>
            <a:buChar char="•"/>
          </a:pPr>
          <a:r>
            <a:rPr lang="en-US" sz="2400" b="0" i="0" dirty="0"/>
            <a:t>Conducted initial testing and validation</a:t>
          </a:r>
          <a:endParaRPr lang="en-IN" sz="2400" dirty="0">
            <a:latin typeface="Montserrat" panose="00000500000000000000" pitchFamily="2" charset="0"/>
          </a:endParaRPr>
        </a:p>
      </dgm:t>
    </dgm:pt>
    <dgm:pt modelId="{D541ACD8-8372-4EB6-9CA7-ECD18BE45413}" type="parTrans" cxnId="{C3929DE4-B95D-4FBB-8584-E8C53E18E2A5}">
      <dgm:prSet/>
      <dgm:spPr/>
      <dgm:t>
        <a:bodyPr/>
        <a:lstStyle/>
        <a:p>
          <a:endParaRPr lang="en-IN" sz="2400">
            <a:latin typeface="Montserrat" panose="00000500000000000000" pitchFamily="2" charset="0"/>
          </a:endParaRPr>
        </a:p>
      </dgm:t>
    </dgm:pt>
    <dgm:pt modelId="{6A8CC7DB-E268-4139-9F83-6E0E1C2B6CEE}" type="sibTrans" cxnId="{C3929DE4-B95D-4FBB-8584-E8C53E18E2A5}">
      <dgm:prSet/>
      <dgm:spPr/>
      <dgm:t>
        <a:bodyPr/>
        <a:lstStyle/>
        <a:p>
          <a:endParaRPr lang="en-IN" sz="2400">
            <a:latin typeface="Montserrat" panose="00000500000000000000" pitchFamily="2" charset="0"/>
          </a:endParaRPr>
        </a:p>
      </dgm:t>
    </dgm:pt>
    <dgm:pt modelId="{9BEE7083-627E-446F-81DD-42C51409D1B1}">
      <dgm:prSet phldrT="[Text]" custT="1"/>
      <dgm:spPr>
        <a:solidFill>
          <a:srgbClr val="F04034"/>
        </a:solidFill>
      </dgm:spPr>
      <dgm:t>
        <a:bodyPr/>
        <a:lstStyle/>
        <a:p>
          <a:r>
            <a:rPr lang="en-IN" sz="2400" b="1" i="0" dirty="0"/>
            <a:t>Future Requirements:</a:t>
          </a:r>
          <a:endParaRPr lang="en-IN" sz="2400" b="0" i="0" dirty="0"/>
        </a:p>
        <a:p>
          <a:pPr>
            <a:buFont typeface="Arial" panose="020B0604020202020204" pitchFamily="34" charset="0"/>
            <a:buChar char="•"/>
          </a:pPr>
          <a:r>
            <a:rPr lang="en-US" sz="2400" b="0" i="0" dirty="0"/>
            <a:t>Funding for mass production and hardware refinement</a:t>
          </a:r>
        </a:p>
        <a:p>
          <a:pPr>
            <a:buFont typeface="Arial" panose="020B0604020202020204" pitchFamily="34" charset="0"/>
            <a:buChar char="•"/>
          </a:pPr>
          <a:r>
            <a:rPr lang="en-US" sz="2400" b="0" i="0" dirty="0"/>
            <a:t>Partnerships with healthcare experts for validation</a:t>
          </a:r>
        </a:p>
        <a:p>
          <a:pPr>
            <a:buFont typeface="Arial" panose="020B0604020202020204" pitchFamily="34" charset="0"/>
            <a:buChar char="•"/>
          </a:pPr>
          <a:r>
            <a:rPr lang="en-US" sz="2400" b="0" i="0" dirty="0"/>
            <a:t>Collaboration with corporates/schools for pilot testing</a:t>
          </a:r>
          <a:endParaRPr lang="en-IN" sz="2400" dirty="0">
            <a:latin typeface="Montserrat" panose="00000500000000000000" pitchFamily="2" charset="0"/>
          </a:endParaRPr>
        </a:p>
      </dgm:t>
    </dgm:pt>
    <dgm:pt modelId="{A8416F6E-C974-4E48-81A2-30AC84CCF304}" type="sibTrans" cxnId="{A50B58E3-2AFB-4BBB-A872-B21E4410F4A4}">
      <dgm:prSet/>
      <dgm:spPr/>
      <dgm:t>
        <a:bodyPr/>
        <a:lstStyle/>
        <a:p>
          <a:endParaRPr lang="en-IN" sz="2400">
            <a:latin typeface="Montserrat" panose="00000500000000000000" pitchFamily="2" charset="0"/>
          </a:endParaRPr>
        </a:p>
      </dgm:t>
    </dgm:pt>
    <dgm:pt modelId="{FB774DE3-20A6-44D1-8B37-6B2A975DB86B}" type="parTrans" cxnId="{A50B58E3-2AFB-4BBB-A872-B21E4410F4A4}">
      <dgm:prSet/>
      <dgm:spPr/>
      <dgm:t>
        <a:bodyPr/>
        <a:lstStyle/>
        <a:p>
          <a:endParaRPr lang="en-IN" sz="2400">
            <a:latin typeface="Montserrat" panose="00000500000000000000" pitchFamily="2" charset="0"/>
          </a:endParaRPr>
        </a:p>
      </dgm:t>
    </dgm:pt>
    <dgm:pt modelId="{DD1DD2BC-B051-4A6D-A8CF-DF8F8687E883}" type="pres">
      <dgm:prSet presAssocID="{424DB83B-206D-48A3-BFB8-5D22FE276FA1}" presName="diagram" presStyleCnt="0">
        <dgm:presLayoutVars>
          <dgm:dir/>
          <dgm:resizeHandles val="exact"/>
        </dgm:presLayoutVars>
      </dgm:prSet>
      <dgm:spPr/>
    </dgm:pt>
    <dgm:pt modelId="{103E0D37-EBD3-4B88-9FCB-5404958D7CD8}" type="pres">
      <dgm:prSet presAssocID="{D0AB7018-7FE8-45A9-B4D2-6B7B1F0AEB67}" presName="node" presStyleLbl="node1" presStyleIdx="0" presStyleCnt="2" custScaleX="127672" custScaleY="162215" custLinFactNeighborX="6179" custLinFactNeighborY="1195">
        <dgm:presLayoutVars>
          <dgm:bulletEnabled val="1"/>
        </dgm:presLayoutVars>
      </dgm:prSet>
      <dgm:spPr/>
    </dgm:pt>
    <dgm:pt modelId="{62D5A905-0574-4E3B-ABB6-9E23BB24DFE2}" type="pres">
      <dgm:prSet presAssocID="{6A8CC7DB-E268-4139-9F83-6E0E1C2B6CEE}" presName="sibTrans" presStyleCnt="0"/>
      <dgm:spPr/>
    </dgm:pt>
    <dgm:pt modelId="{9A09CD44-6373-48BA-94CF-0D0DE4938535}" type="pres">
      <dgm:prSet presAssocID="{9BEE7083-627E-446F-81DD-42C51409D1B1}" presName="node" presStyleLbl="node1" presStyleIdx="1" presStyleCnt="2" custScaleX="132821" custScaleY="169029" custLinFactNeighborX="1208" custLinFactNeighborY="553">
        <dgm:presLayoutVars>
          <dgm:bulletEnabled val="1"/>
        </dgm:presLayoutVars>
      </dgm:prSet>
      <dgm:spPr/>
    </dgm:pt>
  </dgm:ptLst>
  <dgm:cxnLst>
    <dgm:cxn modelId="{504B4B32-9931-4F67-BF09-DB5C8C798275}" type="presOf" srcId="{9BEE7083-627E-446F-81DD-42C51409D1B1}" destId="{9A09CD44-6373-48BA-94CF-0D0DE4938535}" srcOrd="0" destOrd="0" presId="urn:microsoft.com/office/officeart/2005/8/layout/default"/>
    <dgm:cxn modelId="{90C9A759-7F93-4873-948B-7FAB77F5F57A}" type="presOf" srcId="{D0AB7018-7FE8-45A9-B4D2-6B7B1F0AEB67}" destId="{103E0D37-EBD3-4B88-9FCB-5404958D7CD8}" srcOrd="0" destOrd="0" presId="urn:microsoft.com/office/officeart/2005/8/layout/default"/>
    <dgm:cxn modelId="{A50B58E3-2AFB-4BBB-A872-B21E4410F4A4}" srcId="{424DB83B-206D-48A3-BFB8-5D22FE276FA1}" destId="{9BEE7083-627E-446F-81DD-42C51409D1B1}" srcOrd="1" destOrd="0" parTransId="{FB774DE3-20A6-44D1-8B37-6B2A975DB86B}" sibTransId="{A8416F6E-C974-4E48-81A2-30AC84CCF304}"/>
    <dgm:cxn modelId="{C3929DE4-B95D-4FBB-8584-E8C53E18E2A5}" srcId="{424DB83B-206D-48A3-BFB8-5D22FE276FA1}" destId="{D0AB7018-7FE8-45A9-B4D2-6B7B1F0AEB67}" srcOrd="0" destOrd="0" parTransId="{D541ACD8-8372-4EB6-9CA7-ECD18BE45413}" sibTransId="{6A8CC7DB-E268-4139-9F83-6E0E1C2B6CEE}"/>
    <dgm:cxn modelId="{D8B097F0-6E95-4677-9FF2-195739C0A3DD}" type="presOf" srcId="{424DB83B-206D-48A3-BFB8-5D22FE276FA1}" destId="{DD1DD2BC-B051-4A6D-A8CF-DF8F8687E883}" srcOrd="0" destOrd="0" presId="urn:microsoft.com/office/officeart/2005/8/layout/default"/>
    <dgm:cxn modelId="{6D30FF92-78EB-445B-A687-A44CD0C8BAC7}" type="presParOf" srcId="{DD1DD2BC-B051-4A6D-A8CF-DF8F8687E883}" destId="{103E0D37-EBD3-4B88-9FCB-5404958D7CD8}" srcOrd="0" destOrd="0" presId="urn:microsoft.com/office/officeart/2005/8/layout/default"/>
    <dgm:cxn modelId="{485EE8A9-794C-4405-9C43-E3D14ED184B2}" type="presParOf" srcId="{DD1DD2BC-B051-4A6D-A8CF-DF8F8687E883}" destId="{62D5A905-0574-4E3B-ABB6-9E23BB24DFE2}" srcOrd="1" destOrd="0" presId="urn:microsoft.com/office/officeart/2005/8/layout/default"/>
    <dgm:cxn modelId="{5C65F756-2B13-41F4-8BBC-EB94D4BD75A6}" type="presParOf" srcId="{DD1DD2BC-B051-4A6D-A8CF-DF8F8687E883}" destId="{9A09CD44-6373-48BA-94CF-0D0DE4938535}"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24DB83B-206D-48A3-BFB8-5D22FE276FA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D0AB7018-7FE8-45A9-B4D2-6B7B1F0AEB67}">
      <dgm:prSet phldrT="[Text]" custT="1"/>
      <dgm:spPr>
        <a:solidFill>
          <a:srgbClr val="7F7F7F"/>
        </a:solidFill>
      </dgm:spPr>
      <dgm:t>
        <a:bodyPr/>
        <a:lstStyle/>
        <a:p>
          <a:r>
            <a:rPr lang="en-IN" sz="2400" b="1" i="0" dirty="0"/>
            <a:t>Short-Term (0–6 months):</a:t>
          </a:r>
          <a:endParaRPr lang="en-IN" sz="2400" b="0" i="0" dirty="0"/>
        </a:p>
        <a:p>
          <a:pPr>
            <a:buFont typeface="Arial" panose="020B0604020202020204" pitchFamily="34" charset="0"/>
            <a:buChar char="•"/>
          </a:pPr>
          <a:r>
            <a:rPr lang="en-US" sz="2400" b="0" i="0" dirty="0"/>
            <a:t>Improve sensor accuracy and comfort design</a:t>
          </a:r>
        </a:p>
        <a:p>
          <a:pPr>
            <a:buFont typeface="Arial" panose="020B0604020202020204" pitchFamily="34" charset="0"/>
            <a:buChar char="•"/>
          </a:pPr>
          <a:r>
            <a:rPr lang="en-US" sz="2400" b="0" i="0" dirty="0"/>
            <a:t>Conduct pilot studies in colleges and companies</a:t>
          </a:r>
        </a:p>
        <a:p>
          <a:pPr>
            <a:buFont typeface="Arial" panose="020B0604020202020204" pitchFamily="34" charset="0"/>
            <a:buChar char="•"/>
          </a:pPr>
          <a:r>
            <a:rPr lang="en-US" sz="2400" b="0" i="0" dirty="0"/>
            <a:t>Strengthen app UI/UX and add more stress-relief tools</a:t>
          </a:r>
          <a:endParaRPr lang="en-US" sz="2400" b="0" i="0" dirty="0">
            <a:latin typeface="Montserrat" panose="00000500000000000000" pitchFamily="2" charset="0"/>
          </a:endParaRPr>
        </a:p>
      </dgm:t>
    </dgm:pt>
    <dgm:pt modelId="{D541ACD8-8372-4EB6-9CA7-ECD18BE45413}" type="parTrans" cxnId="{C3929DE4-B95D-4FBB-8584-E8C53E18E2A5}">
      <dgm:prSet/>
      <dgm:spPr/>
      <dgm:t>
        <a:bodyPr/>
        <a:lstStyle/>
        <a:p>
          <a:endParaRPr lang="en-IN" sz="2400">
            <a:latin typeface="Montserrat" panose="00000500000000000000" pitchFamily="2" charset="0"/>
          </a:endParaRPr>
        </a:p>
      </dgm:t>
    </dgm:pt>
    <dgm:pt modelId="{6A8CC7DB-E268-4139-9F83-6E0E1C2B6CEE}" type="sibTrans" cxnId="{C3929DE4-B95D-4FBB-8584-E8C53E18E2A5}">
      <dgm:prSet/>
      <dgm:spPr/>
      <dgm:t>
        <a:bodyPr/>
        <a:lstStyle/>
        <a:p>
          <a:endParaRPr lang="en-IN" sz="2400">
            <a:latin typeface="Montserrat" panose="00000500000000000000" pitchFamily="2" charset="0"/>
          </a:endParaRPr>
        </a:p>
      </dgm:t>
    </dgm:pt>
    <dgm:pt modelId="{9BEE7083-627E-446F-81DD-42C51409D1B1}">
      <dgm:prSet phldrT="[Text]" custT="1"/>
      <dgm:spPr>
        <a:solidFill>
          <a:srgbClr val="F04034"/>
        </a:solidFill>
      </dgm:spPr>
      <dgm:t>
        <a:bodyPr/>
        <a:lstStyle/>
        <a:p>
          <a:r>
            <a:rPr lang="en-IN" sz="2400" b="1" i="0" dirty="0"/>
            <a:t>Mid-Term (6–18 months):</a:t>
          </a:r>
          <a:endParaRPr lang="en-IN" sz="2400" b="0" i="0" dirty="0"/>
        </a:p>
        <a:p>
          <a:pPr>
            <a:buFont typeface="Arial" panose="020B0604020202020204" pitchFamily="34" charset="0"/>
            <a:buChar char="•"/>
          </a:pPr>
          <a:r>
            <a:rPr lang="en-US" sz="2400" b="0" i="0" dirty="0"/>
            <a:t>Scale production and establish B2B partnerships</a:t>
          </a:r>
        </a:p>
        <a:p>
          <a:pPr>
            <a:buFont typeface="Arial" panose="020B0604020202020204" pitchFamily="34" charset="0"/>
            <a:buChar char="•"/>
          </a:pPr>
          <a:r>
            <a:rPr lang="en-IN" sz="2400" b="0" i="0" dirty="0"/>
            <a:t>Launch national-level marketing campaign</a:t>
          </a:r>
        </a:p>
        <a:p>
          <a:pPr>
            <a:buFont typeface="Arial" panose="020B0604020202020204" pitchFamily="34" charset="0"/>
            <a:buChar char="•"/>
          </a:pPr>
          <a:r>
            <a:rPr lang="en-US" sz="2400" b="0" i="0" dirty="0"/>
            <a:t>Integrate AI-based predictive stress modeling</a:t>
          </a:r>
          <a:endParaRPr lang="en-IN" sz="2400" dirty="0">
            <a:latin typeface="Montserrat" panose="00000500000000000000" pitchFamily="2" charset="0"/>
          </a:endParaRPr>
        </a:p>
      </dgm:t>
    </dgm:pt>
    <dgm:pt modelId="{FB774DE3-20A6-44D1-8B37-6B2A975DB86B}" type="parTrans" cxnId="{A50B58E3-2AFB-4BBB-A872-B21E4410F4A4}">
      <dgm:prSet/>
      <dgm:spPr/>
      <dgm:t>
        <a:bodyPr/>
        <a:lstStyle/>
        <a:p>
          <a:endParaRPr lang="en-IN" sz="2400">
            <a:latin typeface="Montserrat" panose="00000500000000000000" pitchFamily="2" charset="0"/>
          </a:endParaRPr>
        </a:p>
      </dgm:t>
    </dgm:pt>
    <dgm:pt modelId="{A8416F6E-C974-4E48-81A2-30AC84CCF304}" type="sibTrans" cxnId="{A50B58E3-2AFB-4BBB-A872-B21E4410F4A4}">
      <dgm:prSet/>
      <dgm:spPr/>
      <dgm:t>
        <a:bodyPr/>
        <a:lstStyle/>
        <a:p>
          <a:endParaRPr lang="en-IN" sz="2400">
            <a:latin typeface="Montserrat" panose="00000500000000000000" pitchFamily="2" charset="0"/>
          </a:endParaRPr>
        </a:p>
      </dgm:t>
    </dgm:pt>
    <dgm:pt modelId="{083499A7-4FA0-4DD9-ACAC-28D408ACCCA1}">
      <dgm:prSet phldrT="[Text]" custT="1"/>
      <dgm:spPr>
        <a:solidFill>
          <a:srgbClr val="7F7F7F"/>
        </a:solidFill>
      </dgm:spPr>
      <dgm:t>
        <a:bodyPr/>
        <a:lstStyle/>
        <a:p>
          <a:pPr defTabSz="1066800">
            <a:lnSpc>
              <a:spcPct val="90000"/>
            </a:lnSpc>
            <a:spcBef>
              <a:spcPct val="0"/>
            </a:spcBef>
            <a:spcAft>
              <a:spcPct val="35000"/>
            </a:spcAft>
          </a:pPr>
          <a:r>
            <a:rPr lang="en-IN" sz="2400" b="1" i="0" dirty="0"/>
            <a:t>Long-Term (18+ months):</a:t>
          </a:r>
          <a:endParaRPr lang="en-IN" sz="2400" b="0" i="0" dirty="0"/>
        </a:p>
        <a:p>
          <a:pPr defTabSz="1066800">
            <a:lnSpc>
              <a:spcPct val="90000"/>
            </a:lnSpc>
            <a:spcBef>
              <a:spcPct val="0"/>
            </a:spcBef>
            <a:spcAft>
              <a:spcPct val="35000"/>
            </a:spcAft>
            <a:buFont typeface="Arial" panose="020B0604020202020204" pitchFamily="34" charset="0"/>
            <a:buChar char="•"/>
          </a:pPr>
          <a:r>
            <a:rPr lang="en-IN" sz="2400" b="0" i="0" dirty="0"/>
            <a:t>Expand into international markets</a:t>
          </a:r>
        </a:p>
        <a:p>
          <a:pPr defTabSz="1066800">
            <a:lnSpc>
              <a:spcPct val="90000"/>
            </a:lnSpc>
            <a:spcBef>
              <a:spcPct val="0"/>
            </a:spcBef>
            <a:spcAft>
              <a:spcPct val="35000"/>
            </a:spcAft>
            <a:buFont typeface="Arial" panose="020B0604020202020204" pitchFamily="34" charset="0"/>
            <a:buChar char="•"/>
          </a:pPr>
          <a:r>
            <a:rPr lang="en-US" sz="2400" b="0" i="0" dirty="0"/>
            <a:t>Develop advanced variants (multi-sensor, military-grade)</a:t>
          </a:r>
        </a:p>
        <a:p>
          <a:pPr defTabSz="1066800">
            <a:lnSpc>
              <a:spcPct val="90000"/>
            </a:lnSpc>
            <a:spcBef>
              <a:spcPct val="0"/>
            </a:spcBef>
            <a:spcAft>
              <a:spcPct val="35000"/>
            </a:spcAft>
            <a:buFont typeface="Arial" panose="020B0604020202020204" pitchFamily="34" charset="0"/>
            <a:buChar char="•"/>
          </a:pPr>
          <a:r>
            <a:rPr lang="en-US" sz="2400" b="0" i="0" dirty="0"/>
            <a:t>Integrate with mental health platforms and telemedicine</a:t>
          </a:r>
          <a:endParaRPr lang="en-IN" sz="2400" dirty="0">
            <a:latin typeface="Montserrat" panose="00000500000000000000" pitchFamily="2" charset="0"/>
          </a:endParaRPr>
        </a:p>
      </dgm:t>
    </dgm:pt>
    <dgm:pt modelId="{4C42FB7F-A756-4013-8DF5-EDEA386F8751}" type="parTrans" cxnId="{B07914FB-BF71-4903-9F5E-80CFEFA7A48F}">
      <dgm:prSet/>
      <dgm:spPr/>
      <dgm:t>
        <a:bodyPr/>
        <a:lstStyle/>
        <a:p>
          <a:endParaRPr lang="en-IN" sz="2400">
            <a:latin typeface="Montserrat" panose="00000500000000000000" pitchFamily="2" charset="0"/>
          </a:endParaRPr>
        </a:p>
      </dgm:t>
    </dgm:pt>
    <dgm:pt modelId="{98D9DE61-326F-4B94-A869-999CF2A03DE3}" type="sibTrans" cxnId="{B07914FB-BF71-4903-9F5E-80CFEFA7A48F}">
      <dgm:prSet/>
      <dgm:spPr/>
      <dgm:t>
        <a:bodyPr/>
        <a:lstStyle/>
        <a:p>
          <a:endParaRPr lang="en-IN" sz="2400">
            <a:latin typeface="Montserrat" panose="00000500000000000000" pitchFamily="2" charset="0"/>
          </a:endParaRPr>
        </a:p>
      </dgm:t>
    </dgm:pt>
    <dgm:pt modelId="{DD1DD2BC-B051-4A6D-A8CF-DF8F8687E883}" type="pres">
      <dgm:prSet presAssocID="{424DB83B-206D-48A3-BFB8-5D22FE276FA1}" presName="diagram" presStyleCnt="0">
        <dgm:presLayoutVars>
          <dgm:dir/>
          <dgm:resizeHandles val="exact"/>
        </dgm:presLayoutVars>
      </dgm:prSet>
      <dgm:spPr/>
    </dgm:pt>
    <dgm:pt modelId="{103E0D37-EBD3-4B88-9FCB-5404958D7CD8}" type="pres">
      <dgm:prSet presAssocID="{D0AB7018-7FE8-45A9-B4D2-6B7B1F0AEB67}" presName="node" presStyleLbl="node1" presStyleIdx="0" presStyleCnt="3" custScaleX="166896" custScaleY="246384" custLinFactNeighborX="-597" custLinFactNeighborY="553">
        <dgm:presLayoutVars>
          <dgm:bulletEnabled val="1"/>
        </dgm:presLayoutVars>
      </dgm:prSet>
      <dgm:spPr/>
    </dgm:pt>
    <dgm:pt modelId="{62D5A905-0574-4E3B-ABB6-9E23BB24DFE2}" type="pres">
      <dgm:prSet presAssocID="{6A8CC7DB-E268-4139-9F83-6E0E1C2B6CEE}" presName="sibTrans" presStyleCnt="0"/>
      <dgm:spPr/>
    </dgm:pt>
    <dgm:pt modelId="{9A09CD44-6373-48BA-94CF-0D0DE4938535}" type="pres">
      <dgm:prSet presAssocID="{9BEE7083-627E-446F-81DD-42C51409D1B1}" presName="node" presStyleLbl="node1" presStyleIdx="1" presStyleCnt="3" custScaleX="155981" custScaleY="247250" custLinFactNeighborX="1208" custLinFactNeighborY="553">
        <dgm:presLayoutVars>
          <dgm:bulletEnabled val="1"/>
        </dgm:presLayoutVars>
      </dgm:prSet>
      <dgm:spPr/>
    </dgm:pt>
    <dgm:pt modelId="{D1CBE8DC-E9ED-49AB-BA64-9734C1429FD9}" type="pres">
      <dgm:prSet presAssocID="{A8416F6E-C974-4E48-81A2-30AC84CCF304}" presName="sibTrans" presStyleCnt="0"/>
      <dgm:spPr/>
    </dgm:pt>
    <dgm:pt modelId="{E605F1CE-1F62-4171-80D5-6035D90FBEDC}" type="pres">
      <dgm:prSet presAssocID="{083499A7-4FA0-4DD9-ACAC-28D408ACCCA1}" presName="node" presStyleLbl="node1" presStyleIdx="2" presStyleCnt="3" custScaleX="139229" custScaleY="236579" custLinFactNeighborX="-1390" custLinFactNeighborY="-162">
        <dgm:presLayoutVars>
          <dgm:bulletEnabled val="1"/>
        </dgm:presLayoutVars>
      </dgm:prSet>
      <dgm:spPr/>
    </dgm:pt>
  </dgm:ptLst>
  <dgm:cxnLst>
    <dgm:cxn modelId="{504B4B32-9931-4F67-BF09-DB5C8C798275}" type="presOf" srcId="{9BEE7083-627E-446F-81DD-42C51409D1B1}" destId="{9A09CD44-6373-48BA-94CF-0D0DE4938535}" srcOrd="0" destOrd="0" presId="urn:microsoft.com/office/officeart/2005/8/layout/default"/>
    <dgm:cxn modelId="{80AFE762-FFE6-4E0F-9D59-12CC2EAE60F6}" type="presOf" srcId="{083499A7-4FA0-4DD9-ACAC-28D408ACCCA1}" destId="{E605F1CE-1F62-4171-80D5-6035D90FBEDC}" srcOrd="0" destOrd="0" presId="urn:microsoft.com/office/officeart/2005/8/layout/default"/>
    <dgm:cxn modelId="{90C9A759-7F93-4873-948B-7FAB77F5F57A}" type="presOf" srcId="{D0AB7018-7FE8-45A9-B4D2-6B7B1F0AEB67}" destId="{103E0D37-EBD3-4B88-9FCB-5404958D7CD8}" srcOrd="0" destOrd="0" presId="urn:microsoft.com/office/officeart/2005/8/layout/default"/>
    <dgm:cxn modelId="{A50B58E3-2AFB-4BBB-A872-B21E4410F4A4}" srcId="{424DB83B-206D-48A3-BFB8-5D22FE276FA1}" destId="{9BEE7083-627E-446F-81DD-42C51409D1B1}" srcOrd="1" destOrd="0" parTransId="{FB774DE3-20A6-44D1-8B37-6B2A975DB86B}" sibTransId="{A8416F6E-C974-4E48-81A2-30AC84CCF304}"/>
    <dgm:cxn modelId="{C3929DE4-B95D-4FBB-8584-E8C53E18E2A5}" srcId="{424DB83B-206D-48A3-BFB8-5D22FE276FA1}" destId="{D0AB7018-7FE8-45A9-B4D2-6B7B1F0AEB67}" srcOrd="0" destOrd="0" parTransId="{D541ACD8-8372-4EB6-9CA7-ECD18BE45413}" sibTransId="{6A8CC7DB-E268-4139-9F83-6E0E1C2B6CEE}"/>
    <dgm:cxn modelId="{D8B097F0-6E95-4677-9FF2-195739C0A3DD}" type="presOf" srcId="{424DB83B-206D-48A3-BFB8-5D22FE276FA1}" destId="{DD1DD2BC-B051-4A6D-A8CF-DF8F8687E883}" srcOrd="0" destOrd="0" presId="urn:microsoft.com/office/officeart/2005/8/layout/default"/>
    <dgm:cxn modelId="{B07914FB-BF71-4903-9F5E-80CFEFA7A48F}" srcId="{424DB83B-206D-48A3-BFB8-5D22FE276FA1}" destId="{083499A7-4FA0-4DD9-ACAC-28D408ACCCA1}" srcOrd="2" destOrd="0" parTransId="{4C42FB7F-A756-4013-8DF5-EDEA386F8751}" sibTransId="{98D9DE61-326F-4B94-A869-999CF2A03DE3}"/>
    <dgm:cxn modelId="{6D30FF92-78EB-445B-A687-A44CD0C8BAC7}" type="presParOf" srcId="{DD1DD2BC-B051-4A6D-A8CF-DF8F8687E883}" destId="{103E0D37-EBD3-4B88-9FCB-5404958D7CD8}" srcOrd="0" destOrd="0" presId="urn:microsoft.com/office/officeart/2005/8/layout/default"/>
    <dgm:cxn modelId="{485EE8A9-794C-4405-9C43-E3D14ED184B2}" type="presParOf" srcId="{DD1DD2BC-B051-4A6D-A8CF-DF8F8687E883}" destId="{62D5A905-0574-4E3B-ABB6-9E23BB24DFE2}" srcOrd="1" destOrd="0" presId="urn:microsoft.com/office/officeart/2005/8/layout/default"/>
    <dgm:cxn modelId="{5C65F756-2B13-41F4-8BBC-EB94D4BD75A6}" type="presParOf" srcId="{DD1DD2BC-B051-4A6D-A8CF-DF8F8687E883}" destId="{9A09CD44-6373-48BA-94CF-0D0DE4938535}" srcOrd="2" destOrd="0" presId="urn:microsoft.com/office/officeart/2005/8/layout/default"/>
    <dgm:cxn modelId="{35B6CE9E-8596-447E-9EC0-C035057002E9}" type="presParOf" srcId="{DD1DD2BC-B051-4A6D-A8CF-DF8F8687E883}" destId="{D1CBE8DC-E9ED-49AB-BA64-9734C1429FD9}" srcOrd="3" destOrd="0" presId="urn:microsoft.com/office/officeart/2005/8/layout/default"/>
    <dgm:cxn modelId="{ECC72B54-0354-48E0-8599-BBA87242ABA3}" type="presParOf" srcId="{DD1DD2BC-B051-4A6D-A8CF-DF8F8687E883}" destId="{E605F1CE-1F62-4171-80D5-6035D90FBEDC}"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63AB343-5A73-47E4-8646-CD6F6FB8F31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734F4134-E1D5-43D5-B528-B54D97585CBB}">
      <dgm:prSet phldrT="[Text]" custT="1"/>
      <dgm:spPr>
        <a:solidFill>
          <a:srgbClr val="7F7F7F"/>
        </a:solidFill>
      </dgm:spPr>
      <dgm:t>
        <a:bodyPr/>
        <a:lstStyle/>
        <a:p>
          <a:pPr algn="l"/>
          <a:r>
            <a:rPr lang="en-US" sz="2400" b="1" i="0" dirty="0"/>
            <a:t>Electronics Developer:</a:t>
          </a:r>
          <a:r>
            <a:rPr lang="en-US" sz="2400" b="0" i="0" dirty="0"/>
            <a:t> Handles EEG integration, ESP32 programming</a:t>
          </a:r>
        </a:p>
        <a:p>
          <a:pPr algn="l">
            <a:buFont typeface="Arial" panose="020B0604020202020204" pitchFamily="34" charset="0"/>
            <a:buChar char="•"/>
          </a:pPr>
          <a:r>
            <a:rPr lang="en-US" sz="2400" b="1" i="0" dirty="0"/>
            <a:t>Software/App Developer:</a:t>
          </a:r>
          <a:r>
            <a:rPr lang="en-US" sz="2400" b="0" i="0" dirty="0"/>
            <a:t> Builds mobile app and Firebase backend</a:t>
          </a:r>
          <a:endParaRPr lang="en-IN" sz="2400" dirty="0">
            <a:solidFill>
              <a:schemeClr val="bg1"/>
            </a:solidFill>
            <a:latin typeface="Montserrat" panose="00000500000000000000" pitchFamily="2" charset="0"/>
          </a:endParaRPr>
        </a:p>
      </dgm:t>
    </dgm:pt>
    <dgm:pt modelId="{EFEEB090-9026-4FC6-95E9-04981C53B35E}" type="parTrans" cxnId="{DD1786C4-3186-4B5B-AE30-1E7ADECE388F}">
      <dgm:prSet/>
      <dgm:spPr/>
      <dgm:t>
        <a:bodyPr/>
        <a:lstStyle/>
        <a:p>
          <a:endParaRPr lang="en-IN" sz="2400">
            <a:latin typeface="Montserrat" panose="00000500000000000000" pitchFamily="2" charset="0"/>
          </a:endParaRPr>
        </a:p>
      </dgm:t>
    </dgm:pt>
    <dgm:pt modelId="{08E6E445-881C-4479-85D7-BE7945FAC530}" type="sibTrans" cxnId="{DD1786C4-3186-4B5B-AE30-1E7ADECE388F}">
      <dgm:prSet/>
      <dgm:spPr/>
      <dgm:t>
        <a:bodyPr/>
        <a:lstStyle/>
        <a:p>
          <a:endParaRPr lang="en-IN" sz="2400">
            <a:latin typeface="Montserrat" panose="00000500000000000000" pitchFamily="2" charset="0"/>
          </a:endParaRPr>
        </a:p>
      </dgm:t>
    </dgm:pt>
    <dgm:pt modelId="{69CFE273-6634-4AF2-ADF7-195FCFD02937}">
      <dgm:prSet phldrT="[Text]" custT="1"/>
      <dgm:spPr>
        <a:solidFill>
          <a:srgbClr val="F04034"/>
        </a:solidFill>
      </dgm:spPr>
      <dgm:t>
        <a:bodyPr/>
        <a:lstStyle/>
        <a:p>
          <a:pPr algn="l"/>
          <a:r>
            <a:rPr lang="en-IN" sz="2400" b="1" i="0" dirty="0"/>
            <a:t>Data Analyst:</a:t>
          </a:r>
          <a:r>
            <a:rPr lang="en-IN" sz="2400" b="0" i="0" dirty="0"/>
            <a:t> Manages signal processing and stress algorithm</a:t>
          </a:r>
        </a:p>
        <a:p>
          <a:pPr algn="l">
            <a:buFont typeface="Arial" panose="020B0604020202020204" pitchFamily="34" charset="0"/>
            <a:buChar char="•"/>
          </a:pPr>
          <a:r>
            <a:rPr lang="en-US" sz="2400" b="1" i="0" dirty="0"/>
            <a:t>Project Lead:</a:t>
          </a:r>
          <a:r>
            <a:rPr lang="en-US" sz="2400" b="0" i="0" dirty="0"/>
            <a:t> Coordinates development, documentation, and deployment</a:t>
          </a:r>
          <a:endParaRPr lang="en-IN" sz="2400" dirty="0">
            <a:solidFill>
              <a:schemeClr val="bg1"/>
            </a:solidFill>
            <a:latin typeface="Montserrat" panose="00000500000000000000" pitchFamily="2" charset="0"/>
          </a:endParaRPr>
        </a:p>
      </dgm:t>
    </dgm:pt>
    <dgm:pt modelId="{F652DB56-D174-4C1C-A4B6-0A7ADDCA9A74}" type="sibTrans" cxnId="{F2D26463-A756-459D-8F8F-64F6F789D0EB}">
      <dgm:prSet/>
      <dgm:spPr/>
      <dgm:t>
        <a:bodyPr/>
        <a:lstStyle/>
        <a:p>
          <a:endParaRPr lang="en-IN" sz="2400">
            <a:latin typeface="Montserrat" panose="00000500000000000000" pitchFamily="2" charset="0"/>
          </a:endParaRPr>
        </a:p>
      </dgm:t>
    </dgm:pt>
    <dgm:pt modelId="{464AEF01-3A62-4C91-9C64-6508F6716BD3}" type="parTrans" cxnId="{F2D26463-A756-459D-8F8F-64F6F789D0EB}">
      <dgm:prSet/>
      <dgm:spPr/>
      <dgm:t>
        <a:bodyPr/>
        <a:lstStyle/>
        <a:p>
          <a:endParaRPr lang="en-IN" sz="2400">
            <a:latin typeface="Montserrat" panose="00000500000000000000" pitchFamily="2" charset="0"/>
          </a:endParaRPr>
        </a:p>
      </dgm:t>
    </dgm:pt>
    <dgm:pt modelId="{4BC6EFDF-A91D-4DDE-B436-D0306CA8FB22}" type="pres">
      <dgm:prSet presAssocID="{F63AB343-5A73-47E4-8646-CD6F6FB8F31C}" presName="diagram" presStyleCnt="0">
        <dgm:presLayoutVars>
          <dgm:dir/>
          <dgm:resizeHandles val="exact"/>
        </dgm:presLayoutVars>
      </dgm:prSet>
      <dgm:spPr/>
    </dgm:pt>
    <dgm:pt modelId="{C7D0697F-16F4-44E2-AFF3-63CF0A714EEB}" type="pres">
      <dgm:prSet presAssocID="{734F4134-E1D5-43D5-B528-B54D97585CBB}" presName="node" presStyleLbl="node1" presStyleIdx="0" presStyleCnt="2" custScaleX="132821" custLinFactNeighborX="-599" custLinFactNeighborY="6665">
        <dgm:presLayoutVars>
          <dgm:bulletEnabled val="1"/>
        </dgm:presLayoutVars>
      </dgm:prSet>
      <dgm:spPr/>
    </dgm:pt>
    <dgm:pt modelId="{CDEC6380-52CC-4823-8F32-7DE41D09C832}" type="pres">
      <dgm:prSet presAssocID="{08E6E445-881C-4479-85D7-BE7945FAC530}" presName="sibTrans" presStyleCnt="0"/>
      <dgm:spPr/>
    </dgm:pt>
    <dgm:pt modelId="{7887EDED-12AF-4382-A7A3-8629FCB97637}" type="pres">
      <dgm:prSet presAssocID="{69CFE273-6634-4AF2-ADF7-195FCFD02937}" presName="node" presStyleLbl="node1" presStyleIdx="1" presStyleCnt="2" custScaleX="276011" custLinFactNeighborX="-1849" custLinFactNeighborY="-8978">
        <dgm:presLayoutVars>
          <dgm:bulletEnabled val="1"/>
        </dgm:presLayoutVars>
      </dgm:prSet>
      <dgm:spPr/>
    </dgm:pt>
  </dgm:ptLst>
  <dgm:cxnLst>
    <dgm:cxn modelId="{77EF6D1D-FD7A-47D8-BDE6-522163C31357}" type="presOf" srcId="{F63AB343-5A73-47E4-8646-CD6F6FB8F31C}" destId="{4BC6EFDF-A91D-4DDE-B436-D0306CA8FB22}" srcOrd="0" destOrd="0" presId="urn:microsoft.com/office/officeart/2005/8/layout/default"/>
    <dgm:cxn modelId="{30A5641E-68D1-416A-8E5E-C3EBDD465AA1}" type="presOf" srcId="{69CFE273-6634-4AF2-ADF7-195FCFD02937}" destId="{7887EDED-12AF-4382-A7A3-8629FCB97637}" srcOrd="0" destOrd="0" presId="urn:microsoft.com/office/officeart/2005/8/layout/default"/>
    <dgm:cxn modelId="{F2D26463-A756-459D-8F8F-64F6F789D0EB}" srcId="{F63AB343-5A73-47E4-8646-CD6F6FB8F31C}" destId="{69CFE273-6634-4AF2-ADF7-195FCFD02937}" srcOrd="1" destOrd="0" parTransId="{464AEF01-3A62-4C91-9C64-6508F6716BD3}" sibTransId="{F652DB56-D174-4C1C-A4B6-0A7ADDCA9A74}"/>
    <dgm:cxn modelId="{DD1786C4-3186-4B5B-AE30-1E7ADECE388F}" srcId="{F63AB343-5A73-47E4-8646-CD6F6FB8F31C}" destId="{734F4134-E1D5-43D5-B528-B54D97585CBB}" srcOrd="0" destOrd="0" parTransId="{EFEEB090-9026-4FC6-95E9-04981C53B35E}" sibTransId="{08E6E445-881C-4479-85D7-BE7945FAC530}"/>
    <dgm:cxn modelId="{38BFDAF7-E9F9-4E3A-872D-65DB2787DC51}" type="presOf" srcId="{734F4134-E1D5-43D5-B528-B54D97585CBB}" destId="{C7D0697F-16F4-44E2-AFF3-63CF0A714EEB}" srcOrd="0" destOrd="0" presId="urn:microsoft.com/office/officeart/2005/8/layout/default"/>
    <dgm:cxn modelId="{CC870701-D926-46F5-9F33-575B800D1DC3}" type="presParOf" srcId="{4BC6EFDF-A91D-4DDE-B436-D0306CA8FB22}" destId="{C7D0697F-16F4-44E2-AFF3-63CF0A714EEB}" srcOrd="0" destOrd="0" presId="urn:microsoft.com/office/officeart/2005/8/layout/default"/>
    <dgm:cxn modelId="{FD7B9305-BF2B-4392-AE15-86B33C51610F}" type="presParOf" srcId="{4BC6EFDF-A91D-4DDE-B436-D0306CA8FB22}" destId="{CDEC6380-52CC-4823-8F32-7DE41D09C832}" srcOrd="1" destOrd="0" presId="urn:microsoft.com/office/officeart/2005/8/layout/default"/>
    <dgm:cxn modelId="{ED29095C-383F-4177-AD69-9BFAFD17496C}" type="presParOf" srcId="{4BC6EFDF-A91D-4DDE-B436-D0306CA8FB22}" destId="{7887EDED-12AF-4382-A7A3-8629FCB97637}" srcOrd="2"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24DB83B-206D-48A3-BFB8-5D22FE276FA1}" type="doc">
      <dgm:prSet loTypeId="urn:microsoft.com/office/officeart/2005/8/layout/default" loCatId="list" qsTypeId="urn:microsoft.com/office/officeart/2005/8/quickstyle/simple2" qsCatId="simple" csTypeId="urn:microsoft.com/office/officeart/2005/8/colors/accent0_3" csCatId="mainScheme" phldr="1"/>
      <dgm:spPr/>
      <dgm:t>
        <a:bodyPr/>
        <a:lstStyle/>
        <a:p>
          <a:endParaRPr lang="en-IN"/>
        </a:p>
      </dgm:t>
    </dgm:pt>
    <dgm:pt modelId="{9BEE7083-627E-446F-81DD-42C51409D1B1}">
      <dgm:prSet phldrT="[Text]" custT="1"/>
      <dgm:spPr/>
      <dgm:t>
        <a:bodyPr/>
        <a:lstStyle/>
        <a:p>
          <a:r>
            <a:rPr lang="en-US" sz="2400" b="1" i="0" dirty="0"/>
            <a:t>Team members:</a:t>
          </a:r>
          <a:r>
            <a:rPr lang="en-US" sz="2400" b="0" i="0" dirty="0"/>
            <a:t> Sri Venkata Krishna</a:t>
          </a:r>
          <a:br>
            <a:rPr lang="en-US" sz="2400" dirty="0"/>
          </a:br>
          <a:r>
            <a:rPr lang="en-US" sz="2400" b="1" i="0" dirty="0"/>
            <a:t>Phone:</a:t>
          </a:r>
          <a:r>
            <a:rPr lang="en-US" sz="2400" b="0" i="0" dirty="0"/>
            <a:t> 9989402587</a:t>
          </a:r>
        </a:p>
        <a:p>
          <a:r>
            <a:rPr lang="en-US" sz="2400" b="1" i="0" dirty="0"/>
            <a:t>Team members :</a:t>
          </a:r>
          <a:r>
            <a:rPr lang="en-US" sz="2400" b="0" i="0" dirty="0"/>
            <a:t> S Sidesh Raj</a:t>
          </a:r>
          <a:br>
            <a:rPr lang="en-US" sz="2400" dirty="0"/>
          </a:br>
          <a:r>
            <a:rPr lang="en-US" sz="2400" b="1" i="0" dirty="0"/>
            <a:t>Phone:</a:t>
          </a:r>
          <a:r>
            <a:rPr lang="en-US" sz="2400" b="0" i="0" dirty="0"/>
            <a:t> 9942731253</a:t>
          </a:r>
          <a:br>
            <a:rPr lang="en-US" sz="2400" b="0" i="0" dirty="0"/>
          </a:br>
          <a:r>
            <a:rPr lang="en-US" sz="2400" b="1" i="0" dirty="0"/>
            <a:t>Team members :</a:t>
          </a:r>
          <a:r>
            <a:rPr lang="en-US" sz="2400" b="0" i="0" dirty="0"/>
            <a:t> N Gokul </a:t>
          </a:r>
          <a:r>
            <a:rPr lang="en-US" sz="2400" b="0" i="0" dirty="0" err="1"/>
            <a:t>Hutaasan</a:t>
          </a:r>
          <a:br>
            <a:rPr lang="en-US" sz="2400" dirty="0"/>
          </a:br>
          <a:r>
            <a:rPr lang="en-US" sz="2400" b="1" i="0" dirty="0"/>
            <a:t>Phone:</a:t>
          </a:r>
          <a:r>
            <a:rPr lang="en-US" sz="2400" b="0" i="0" dirty="0"/>
            <a:t> 6304554987</a:t>
          </a:r>
        </a:p>
        <a:p>
          <a:r>
            <a:rPr lang="en-US" sz="2400" b="1" i="0" dirty="0"/>
            <a:t>Team members :</a:t>
          </a:r>
          <a:r>
            <a:rPr lang="en-US" sz="2400" b="0" i="0" dirty="0"/>
            <a:t> Y Surya </a:t>
          </a:r>
          <a:r>
            <a:rPr lang="en-US" sz="2400" b="0" i="0" dirty="0" err="1"/>
            <a:t>Prathapa</a:t>
          </a:r>
          <a:r>
            <a:rPr lang="en-US" sz="2400" b="0" i="0" dirty="0"/>
            <a:t> Reddy</a:t>
          </a:r>
          <a:br>
            <a:rPr lang="en-US" sz="2400" dirty="0"/>
          </a:br>
          <a:r>
            <a:rPr lang="en-US" sz="2400" b="1" i="0" dirty="0"/>
            <a:t>Phone:</a:t>
          </a:r>
          <a:r>
            <a:rPr lang="en-US" sz="2400" b="0" i="0" dirty="0"/>
            <a:t> 7780393847</a:t>
          </a:r>
        </a:p>
        <a:p>
          <a:r>
            <a:rPr lang="en-US" sz="2400" b="1" i="0" dirty="0"/>
            <a:t>Team members :</a:t>
          </a:r>
          <a:r>
            <a:rPr lang="en-US" sz="2400" b="0" i="0" dirty="0"/>
            <a:t> D </a:t>
          </a:r>
          <a:r>
            <a:rPr lang="en-US" sz="2400" b="0" i="0" dirty="0" err="1"/>
            <a:t>Vinithri</a:t>
          </a:r>
          <a:r>
            <a:rPr lang="en-US" sz="2400" b="0" i="0" dirty="0"/>
            <a:t> </a:t>
          </a:r>
          <a:br>
            <a:rPr lang="en-US" sz="2400" dirty="0"/>
          </a:br>
          <a:r>
            <a:rPr lang="en-US" sz="2400" b="1" i="0" dirty="0"/>
            <a:t>Phone:</a:t>
          </a:r>
          <a:r>
            <a:rPr lang="en-US" sz="2400" b="0" i="0" dirty="0"/>
            <a:t> 8977952958</a:t>
          </a:r>
          <a:br>
            <a:rPr lang="en-US" sz="2400" dirty="0"/>
          </a:br>
          <a:endParaRPr lang="en-IN" sz="2400" dirty="0">
            <a:latin typeface="Montserrat" panose="00000500000000000000" pitchFamily="2" charset="0"/>
          </a:endParaRPr>
        </a:p>
      </dgm:t>
    </dgm:pt>
    <dgm:pt modelId="{FB774DE3-20A6-44D1-8B37-6B2A975DB86B}" type="parTrans" cxnId="{A50B58E3-2AFB-4BBB-A872-B21E4410F4A4}">
      <dgm:prSet/>
      <dgm:spPr/>
      <dgm:t>
        <a:bodyPr/>
        <a:lstStyle/>
        <a:p>
          <a:endParaRPr lang="en-IN" sz="2400">
            <a:latin typeface="Montserrat" panose="00000500000000000000" pitchFamily="2" charset="0"/>
          </a:endParaRPr>
        </a:p>
      </dgm:t>
    </dgm:pt>
    <dgm:pt modelId="{A8416F6E-C974-4E48-81A2-30AC84CCF304}" type="sibTrans" cxnId="{A50B58E3-2AFB-4BBB-A872-B21E4410F4A4}">
      <dgm:prSet/>
      <dgm:spPr/>
      <dgm:t>
        <a:bodyPr/>
        <a:lstStyle/>
        <a:p>
          <a:endParaRPr lang="en-IN" sz="2400">
            <a:latin typeface="Montserrat" panose="00000500000000000000" pitchFamily="2" charset="0"/>
          </a:endParaRPr>
        </a:p>
      </dgm:t>
    </dgm:pt>
    <dgm:pt modelId="{DD1DD2BC-B051-4A6D-A8CF-DF8F8687E883}" type="pres">
      <dgm:prSet presAssocID="{424DB83B-206D-48A3-BFB8-5D22FE276FA1}" presName="diagram" presStyleCnt="0">
        <dgm:presLayoutVars>
          <dgm:dir/>
          <dgm:resizeHandles val="exact"/>
        </dgm:presLayoutVars>
      </dgm:prSet>
      <dgm:spPr/>
    </dgm:pt>
    <dgm:pt modelId="{9A09CD44-6373-48BA-94CF-0D0DE4938535}" type="pres">
      <dgm:prSet presAssocID="{9BEE7083-627E-446F-81DD-42C51409D1B1}" presName="node" presStyleLbl="node1" presStyleIdx="0" presStyleCnt="1" custScaleX="46629" custScaleY="74748" custLinFactNeighborX="-3481" custLinFactNeighborY="8036">
        <dgm:presLayoutVars>
          <dgm:bulletEnabled val="1"/>
        </dgm:presLayoutVars>
      </dgm:prSet>
      <dgm:spPr/>
    </dgm:pt>
  </dgm:ptLst>
  <dgm:cxnLst>
    <dgm:cxn modelId="{504B4B32-9931-4F67-BF09-DB5C8C798275}" type="presOf" srcId="{9BEE7083-627E-446F-81DD-42C51409D1B1}" destId="{9A09CD44-6373-48BA-94CF-0D0DE4938535}" srcOrd="0" destOrd="0" presId="urn:microsoft.com/office/officeart/2005/8/layout/default"/>
    <dgm:cxn modelId="{A50B58E3-2AFB-4BBB-A872-B21E4410F4A4}" srcId="{424DB83B-206D-48A3-BFB8-5D22FE276FA1}" destId="{9BEE7083-627E-446F-81DD-42C51409D1B1}" srcOrd="0" destOrd="0" parTransId="{FB774DE3-20A6-44D1-8B37-6B2A975DB86B}" sibTransId="{A8416F6E-C974-4E48-81A2-30AC84CCF304}"/>
    <dgm:cxn modelId="{D8B097F0-6E95-4677-9FF2-195739C0A3DD}" type="presOf" srcId="{424DB83B-206D-48A3-BFB8-5D22FE276FA1}" destId="{DD1DD2BC-B051-4A6D-A8CF-DF8F8687E883}" srcOrd="0" destOrd="0" presId="urn:microsoft.com/office/officeart/2005/8/layout/default"/>
    <dgm:cxn modelId="{5C65F756-2B13-41F4-8BBC-EB94D4BD75A6}" type="presParOf" srcId="{DD1DD2BC-B051-4A6D-A8CF-DF8F8687E883}" destId="{9A09CD44-6373-48BA-94CF-0D0DE4938535}"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0697F-16F4-44E2-AFF3-63CF0A714EEB}">
      <dsp:nvSpPr>
        <dsp:cNvPr id="0" name=""/>
        <dsp:cNvSpPr/>
      </dsp:nvSpPr>
      <dsp:spPr>
        <a:xfrm>
          <a:off x="16408" y="805394"/>
          <a:ext cx="5888200" cy="4073771"/>
        </a:xfrm>
        <a:prstGeom prst="rect">
          <a:avLst/>
        </a:prstGeom>
        <a:solidFill>
          <a:srgbClr val="EE251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0" i="0" kern="1200" dirty="0"/>
            <a:t>The Wearable Brainwave Monitoring Cap is an EEG-based stress detection system that continuously monitors brainwave activity to identify cognitive stress in real time. It alerts users through a mobile app and provides personalized stress-relief recommendations using scientifically validated techniques</a:t>
          </a:r>
          <a:endParaRPr lang="en-IN" sz="2800" kern="1200" dirty="0">
            <a:solidFill>
              <a:schemeClr val="bg1"/>
            </a:solidFill>
            <a:latin typeface="Montserrat" panose="00000500000000000000" pitchFamily="2" charset="0"/>
          </a:endParaRPr>
        </a:p>
      </dsp:txBody>
      <dsp:txXfrm>
        <a:off x="16408" y="805394"/>
        <a:ext cx="5888200" cy="4073771"/>
      </dsp:txXfrm>
    </dsp:sp>
    <dsp:sp modelId="{1B6A54B0-7323-418C-B8EE-1A870FF5188A}">
      <dsp:nvSpPr>
        <dsp:cNvPr id="0" name=""/>
        <dsp:cNvSpPr/>
      </dsp:nvSpPr>
      <dsp:spPr>
        <a:xfrm>
          <a:off x="6117018" y="888728"/>
          <a:ext cx="5101782" cy="3753879"/>
        </a:xfrm>
        <a:prstGeom prst="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0" i="0" kern="1200" dirty="0"/>
            <a:t>This solution bridges the gap between mental health awareness and real-time monitoring by offering a portable, affordable, and non-invasive device for students, professionals, and defense personnel.</a:t>
          </a:r>
        </a:p>
        <a:p>
          <a:pPr marL="0" lvl="0" indent="0" algn="l" defTabSz="1244600">
            <a:lnSpc>
              <a:spcPct val="90000"/>
            </a:lnSpc>
            <a:spcBef>
              <a:spcPct val="0"/>
            </a:spcBef>
            <a:spcAft>
              <a:spcPct val="35000"/>
            </a:spcAft>
            <a:buNone/>
          </a:pPr>
          <a:endParaRPr lang="en-IN" sz="2800" kern="1200" dirty="0">
            <a:solidFill>
              <a:schemeClr val="bg1"/>
            </a:solidFill>
            <a:latin typeface="Montserrat" panose="00000500000000000000" pitchFamily="2" charset="0"/>
          </a:endParaRPr>
        </a:p>
      </dsp:txBody>
      <dsp:txXfrm>
        <a:off x="6117018" y="888728"/>
        <a:ext cx="5101782" cy="37538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0697F-16F4-44E2-AFF3-63CF0A714EEB}">
      <dsp:nvSpPr>
        <dsp:cNvPr id="0" name=""/>
        <dsp:cNvSpPr/>
      </dsp:nvSpPr>
      <dsp:spPr>
        <a:xfrm>
          <a:off x="0" y="219728"/>
          <a:ext cx="5098044" cy="1948680"/>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Cognitive stress is rising dramatically in high-pressure environments such as education, corporate workplaces, and defense. </a:t>
          </a:r>
          <a:endParaRPr lang="en-IN" sz="2400" kern="1200" dirty="0">
            <a:solidFill>
              <a:schemeClr val="bg1"/>
            </a:solidFill>
            <a:latin typeface="Montserrat" panose="00000500000000000000" pitchFamily="2" charset="0"/>
          </a:endParaRPr>
        </a:p>
      </dsp:txBody>
      <dsp:txXfrm>
        <a:off x="0" y="219728"/>
        <a:ext cx="5098044" cy="1948680"/>
      </dsp:txXfrm>
    </dsp:sp>
    <dsp:sp modelId="{1B6A54B0-7323-418C-B8EE-1A870FF5188A}">
      <dsp:nvSpPr>
        <dsp:cNvPr id="0" name=""/>
        <dsp:cNvSpPr/>
      </dsp:nvSpPr>
      <dsp:spPr>
        <a:xfrm>
          <a:off x="5510325" y="192587"/>
          <a:ext cx="5098044" cy="2009225"/>
        </a:xfrm>
        <a:prstGeom prst="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Existing stress detection methods rely on subjective questionnaires or expensive clinical tools, making real-time monitoring difficult and inaccessible.</a:t>
          </a:r>
          <a:endParaRPr lang="en-IN" sz="2400" kern="1200" dirty="0">
            <a:solidFill>
              <a:schemeClr val="bg1"/>
            </a:solidFill>
            <a:latin typeface="Montserrat" panose="00000500000000000000" pitchFamily="2" charset="0"/>
          </a:endParaRPr>
        </a:p>
      </dsp:txBody>
      <dsp:txXfrm>
        <a:off x="5510325" y="192587"/>
        <a:ext cx="5098044" cy="2009225"/>
      </dsp:txXfrm>
    </dsp:sp>
    <dsp:sp modelId="{7887EDED-12AF-4382-A7A3-8629FCB97637}">
      <dsp:nvSpPr>
        <dsp:cNvPr id="0" name=""/>
        <dsp:cNvSpPr/>
      </dsp:nvSpPr>
      <dsp:spPr>
        <a:xfrm>
          <a:off x="0" y="2336598"/>
          <a:ext cx="10594081" cy="2302969"/>
        </a:xfrm>
        <a:prstGeom prst="rect">
          <a:avLst/>
        </a:prstGeom>
        <a:solidFill>
          <a:srgbClr val="F0403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Without timely detection, stress negatively impacts mental health, productivity, decision-making, and overall well-being.</a:t>
          </a:r>
        </a:p>
        <a:p>
          <a:pPr marL="0" lvl="0" indent="0" algn="l" defTabSz="1066800">
            <a:lnSpc>
              <a:spcPct val="90000"/>
            </a:lnSpc>
            <a:spcBef>
              <a:spcPct val="0"/>
            </a:spcBef>
            <a:spcAft>
              <a:spcPct val="35000"/>
            </a:spcAft>
            <a:buNone/>
          </a:pPr>
          <a:endParaRPr lang="en-IN" sz="2400" kern="1200" dirty="0">
            <a:solidFill>
              <a:schemeClr val="bg1"/>
            </a:solidFill>
            <a:latin typeface="Montserrat" panose="00000500000000000000" pitchFamily="2" charset="0"/>
          </a:endParaRPr>
        </a:p>
      </dsp:txBody>
      <dsp:txXfrm>
        <a:off x="0" y="2336598"/>
        <a:ext cx="10594081" cy="230296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0697F-16F4-44E2-AFF3-63CF0A714EEB}">
      <dsp:nvSpPr>
        <dsp:cNvPr id="0" name=""/>
        <dsp:cNvSpPr/>
      </dsp:nvSpPr>
      <dsp:spPr>
        <a:xfrm>
          <a:off x="0" y="16168"/>
          <a:ext cx="5098044" cy="2302969"/>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Our solution integrates an EEG sensor-based cap that captures alpha and beta brainwave activity from the prefrontal cortex.</a:t>
          </a:r>
          <a:endParaRPr lang="en-IN" sz="2400" kern="1200" dirty="0">
            <a:solidFill>
              <a:schemeClr val="bg1"/>
            </a:solidFill>
            <a:latin typeface="Montserrat" panose="00000500000000000000" pitchFamily="2" charset="0"/>
          </a:endParaRPr>
        </a:p>
      </dsp:txBody>
      <dsp:txXfrm>
        <a:off x="0" y="16168"/>
        <a:ext cx="5098044" cy="2302969"/>
      </dsp:txXfrm>
    </dsp:sp>
    <dsp:sp modelId="{1B6A54B0-7323-418C-B8EE-1A870FF5188A}">
      <dsp:nvSpPr>
        <dsp:cNvPr id="0" name=""/>
        <dsp:cNvSpPr/>
      </dsp:nvSpPr>
      <dsp:spPr>
        <a:xfrm>
          <a:off x="5510325" y="72522"/>
          <a:ext cx="5098044" cy="2302969"/>
        </a:xfrm>
        <a:prstGeom prst="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Using real-time signal processing, the system identifies elevated stress levels and sends alerts through a mobile app.</a:t>
          </a:r>
          <a:endParaRPr lang="en-IN" sz="2400" kern="1200" dirty="0">
            <a:solidFill>
              <a:schemeClr val="bg1"/>
            </a:solidFill>
            <a:latin typeface="Montserrat" panose="00000500000000000000" pitchFamily="2" charset="0"/>
          </a:endParaRPr>
        </a:p>
      </dsp:txBody>
      <dsp:txXfrm>
        <a:off x="5510325" y="72522"/>
        <a:ext cx="5098044" cy="2302969"/>
      </dsp:txXfrm>
    </dsp:sp>
    <dsp:sp modelId="{7887EDED-12AF-4382-A7A3-8629FCB97637}">
      <dsp:nvSpPr>
        <dsp:cNvPr id="0" name=""/>
        <dsp:cNvSpPr/>
      </dsp:nvSpPr>
      <dsp:spPr>
        <a:xfrm>
          <a:off x="0" y="2483470"/>
          <a:ext cx="10594081" cy="2302969"/>
        </a:xfrm>
        <a:prstGeom prst="rect">
          <a:avLst/>
        </a:prstGeom>
        <a:solidFill>
          <a:srgbClr val="F0403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The app then recommends personalized stress-relief activities such as meditation or calming music and tracks stress trends for long-term analysis.</a:t>
          </a:r>
          <a:endParaRPr lang="en-IN" sz="2400" kern="1200" dirty="0">
            <a:solidFill>
              <a:schemeClr val="bg1"/>
            </a:solidFill>
            <a:latin typeface="Montserrat" panose="00000500000000000000" pitchFamily="2" charset="0"/>
          </a:endParaRPr>
        </a:p>
      </dsp:txBody>
      <dsp:txXfrm>
        <a:off x="0" y="2483470"/>
        <a:ext cx="10594081" cy="230296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87EDED-12AF-4382-A7A3-8629FCB97637}">
      <dsp:nvSpPr>
        <dsp:cNvPr id="0" name=""/>
        <dsp:cNvSpPr/>
      </dsp:nvSpPr>
      <dsp:spPr>
        <a:xfrm>
          <a:off x="5359" y="1761324"/>
          <a:ext cx="10863949" cy="3234067"/>
        </a:xfrm>
        <a:prstGeom prst="rect">
          <a:avLst/>
        </a:prstGeom>
        <a:solidFill>
          <a:srgbClr val="F0403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i="0" kern="1200" dirty="0"/>
            <a:t>Features:</a:t>
          </a:r>
          <a:endParaRPr lang="en-IN" sz="2400" b="0" i="0" kern="1200" dirty="0"/>
        </a:p>
        <a:p>
          <a:pPr marL="0" lvl="0" indent="0" algn="l" defTabSz="1066800">
            <a:lnSpc>
              <a:spcPct val="90000"/>
            </a:lnSpc>
            <a:spcBef>
              <a:spcPct val="0"/>
            </a:spcBef>
            <a:spcAft>
              <a:spcPct val="35000"/>
            </a:spcAft>
            <a:buFont typeface="Arial" panose="020B0604020202020204" pitchFamily="34" charset="0"/>
            <a:buNone/>
          </a:pPr>
          <a:r>
            <a:rPr lang="en-IN" sz="2400" b="0" i="0" kern="1200" dirty="0"/>
            <a:t>Real-time stress alerts</a:t>
          </a:r>
        </a:p>
        <a:p>
          <a:pPr marL="0" lvl="0" indent="0" algn="l" defTabSz="1066800">
            <a:lnSpc>
              <a:spcPct val="90000"/>
            </a:lnSpc>
            <a:spcBef>
              <a:spcPct val="0"/>
            </a:spcBef>
            <a:spcAft>
              <a:spcPct val="35000"/>
            </a:spcAft>
            <a:buFont typeface="Arial" panose="020B0604020202020204" pitchFamily="34" charset="0"/>
            <a:buNone/>
          </a:pPr>
          <a:r>
            <a:rPr lang="en-IN" sz="2400" b="0" i="0" kern="1200" dirty="0"/>
            <a:t>Stress-level visualization</a:t>
          </a:r>
        </a:p>
        <a:p>
          <a:pPr marL="0" lvl="0" indent="0" algn="l" defTabSz="1066800">
            <a:lnSpc>
              <a:spcPct val="90000"/>
            </a:lnSpc>
            <a:spcBef>
              <a:spcPct val="0"/>
            </a:spcBef>
            <a:spcAft>
              <a:spcPct val="35000"/>
            </a:spcAft>
            <a:buFont typeface="Arial" panose="020B0604020202020204" pitchFamily="34" charset="0"/>
            <a:buNone/>
          </a:pPr>
          <a:r>
            <a:rPr lang="en-IN" sz="2400" b="0" i="0" kern="1200" dirty="0"/>
            <a:t>Personalized stress-relief recommendations</a:t>
          </a:r>
        </a:p>
        <a:p>
          <a:pPr marL="0" lvl="0" indent="0" algn="l" defTabSz="1066800">
            <a:lnSpc>
              <a:spcPct val="90000"/>
            </a:lnSpc>
            <a:spcBef>
              <a:spcPct val="0"/>
            </a:spcBef>
            <a:spcAft>
              <a:spcPct val="35000"/>
            </a:spcAft>
            <a:buFont typeface="Arial" panose="020B0604020202020204" pitchFamily="34" charset="0"/>
            <a:buNone/>
          </a:pPr>
          <a:r>
            <a:rPr lang="en-US" sz="2400" b="0" i="0" kern="1200" dirty="0"/>
            <a:t>Historical tracking and pattern analysis</a:t>
          </a:r>
        </a:p>
        <a:p>
          <a:pPr marL="0" lvl="0" indent="0" algn="l" defTabSz="1066800">
            <a:lnSpc>
              <a:spcPct val="90000"/>
            </a:lnSpc>
            <a:spcBef>
              <a:spcPct val="0"/>
            </a:spcBef>
            <a:spcAft>
              <a:spcPct val="35000"/>
            </a:spcAft>
            <a:buFont typeface="Arial" panose="020B0604020202020204" pitchFamily="34" charset="0"/>
            <a:buNone/>
          </a:pPr>
          <a:r>
            <a:rPr lang="en-IN" sz="2400" b="0" i="0" kern="1200" dirty="0"/>
            <a:t>Portable, cost-effective, and non-invasive</a:t>
          </a:r>
          <a:endParaRPr lang="en-IN" sz="2400" kern="1200" dirty="0">
            <a:solidFill>
              <a:schemeClr val="bg1"/>
            </a:solidFill>
            <a:latin typeface="Montserrat" panose="00000500000000000000" pitchFamily="2" charset="0"/>
          </a:endParaRPr>
        </a:p>
      </dsp:txBody>
      <dsp:txXfrm>
        <a:off x="5359" y="1761324"/>
        <a:ext cx="10863949" cy="3234067"/>
      </dsp:txXfrm>
    </dsp:sp>
    <dsp:sp modelId="{64F4BD2C-8BE8-4AD4-98EC-0A172FB0E49F}">
      <dsp:nvSpPr>
        <dsp:cNvPr id="0" name=""/>
        <dsp:cNvSpPr/>
      </dsp:nvSpPr>
      <dsp:spPr>
        <a:xfrm>
          <a:off x="1329677" y="283061"/>
          <a:ext cx="3100197" cy="1287391"/>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i="0" kern="1200" dirty="0"/>
            <a:t>Hardware:</a:t>
          </a:r>
          <a:r>
            <a:rPr lang="en-US" sz="2400" b="0" i="0" kern="1200" dirty="0"/>
            <a:t> Lightweight wearable cap with an EEG sensor band</a:t>
          </a:r>
          <a:endParaRPr lang="en-IN" sz="2400" kern="1200" dirty="0">
            <a:solidFill>
              <a:schemeClr val="bg1"/>
            </a:solidFill>
            <a:latin typeface="Montserrat" panose="00000500000000000000" pitchFamily="2" charset="0"/>
          </a:endParaRPr>
        </a:p>
      </dsp:txBody>
      <dsp:txXfrm>
        <a:off x="1329677" y="283061"/>
        <a:ext cx="3100197" cy="1287391"/>
      </dsp:txXfrm>
    </dsp:sp>
    <dsp:sp modelId="{518354C5-EF36-4063-9CED-F62D20F993CC}">
      <dsp:nvSpPr>
        <dsp:cNvPr id="0" name=""/>
        <dsp:cNvSpPr/>
      </dsp:nvSpPr>
      <dsp:spPr>
        <a:xfrm>
          <a:off x="6022009" y="253902"/>
          <a:ext cx="3307635" cy="1377757"/>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i="0" kern="1200" dirty="0"/>
            <a:t>Software:</a:t>
          </a:r>
          <a:r>
            <a:rPr lang="en-US" sz="2400" b="0" i="0" kern="1200" dirty="0"/>
            <a:t> Mobile app with real-time monitoring dashboard</a:t>
          </a:r>
          <a:endParaRPr lang="en-IN" sz="2400" kern="1200" dirty="0">
            <a:solidFill>
              <a:schemeClr val="bg1"/>
            </a:solidFill>
            <a:latin typeface="Montserrat" panose="00000500000000000000" pitchFamily="2" charset="0"/>
          </a:endParaRPr>
        </a:p>
      </dsp:txBody>
      <dsp:txXfrm>
        <a:off x="6022009" y="253902"/>
        <a:ext cx="3307635" cy="137775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0697F-16F4-44E2-AFF3-63CF0A714EEB}">
      <dsp:nvSpPr>
        <dsp:cNvPr id="0" name=""/>
        <dsp:cNvSpPr/>
      </dsp:nvSpPr>
      <dsp:spPr>
        <a:xfrm>
          <a:off x="0" y="156926"/>
          <a:ext cx="5098044" cy="2302969"/>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0" i="0" kern="1200" dirty="0"/>
            <a:t>Target segments include:</a:t>
          </a:r>
        </a:p>
        <a:p>
          <a:pPr marL="0" lvl="0" indent="0" algn="l" defTabSz="1066800">
            <a:lnSpc>
              <a:spcPct val="90000"/>
            </a:lnSpc>
            <a:spcBef>
              <a:spcPct val="0"/>
            </a:spcBef>
            <a:spcAft>
              <a:spcPct val="35000"/>
            </a:spcAft>
            <a:buFont typeface="Arial" panose="020B0604020202020204" pitchFamily="34" charset="0"/>
            <a:buNone/>
          </a:pPr>
          <a:r>
            <a:rPr lang="en-US" sz="2400" b="0" i="0" kern="1200" dirty="0"/>
            <a:t>Students (exam stress, academic pressure)</a:t>
          </a:r>
        </a:p>
        <a:p>
          <a:pPr marL="0" lvl="0" indent="0" algn="l" defTabSz="1066800">
            <a:lnSpc>
              <a:spcPct val="90000"/>
            </a:lnSpc>
            <a:spcBef>
              <a:spcPct val="0"/>
            </a:spcBef>
            <a:spcAft>
              <a:spcPct val="35000"/>
            </a:spcAft>
            <a:buFont typeface="Arial" panose="020B0604020202020204" pitchFamily="34" charset="0"/>
            <a:buNone/>
          </a:pPr>
          <a:r>
            <a:rPr lang="en-IN" sz="2400" b="0" i="0" kern="1200" dirty="0"/>
            <a:t>Corporate professionals (workload, burnout)</a:t>
          </a:r>
          <a:endParaRPr lang="en-IN" sz="2400" b="0" i="0" kern="1200" dirty="0">
            <a:latin typeface="Montserrat" panose="00000500000000000000" pitchFamily="2" charset="0"/>
          </a:endParaRPr>
        </a:p>
      </dsp:txBody>
      <dsp:txXfrm>
        <a:off x="0" y="156926"/>
        <a:ext cx="5098044" cy="2302969"/>
      </dsp:txXfrm>
    </dsp:sp>
    <dsp:sp modelId="{1B6A54B0-7323-418C-B8EE-1A870FF5188A}">
      <dsp:nvSpPr>
        <dsp:cNvPr id="0" name=""/>
        <dsp:cNvSpPr/>
      </dsp:nvSpPr>
      <dsp:spPr>
        <a:xfrm>
          <a:off x="5510325" y="156926"/>
          <a:ext cx="5098044" cy="2302969"/>
        </a:xfrm>
        <a:prstGeom prst="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Healthcare patients (mental health monitoring)</a:t>
          </a:r>
        </a:p>
        <a:p>
          <a:pPr marL="0" lvl="0" indent="0" algn="l" defTabSz="1066800">
            <a:lnSpc>
              <a:spcPct val="90000"/>
            </a:lnSpc>
            <a:spcBef>
              <a:spcPct val="0"/>
            </a:spcBef>
            <a:spcAft>
              <a:spcPct val="35000"/>
            </a:spcAft>
            <a:buFont typeface="Arial" panose="020B0604020202020204" pitchFamily="34" charset="0"/>
            <a:buNone/>
          </a:pPr>
          <a:r>
            <a:rPr lang="en-IN" sz="2400" b="0" i="0" kern="1200" dirty="0" err="1"/>
            <a:t>Defense</a:t>
          </a:r>
          <a:r>
            <a:rPr lang="en-IN" sz="2400" b="0" i="0" kern="1200" dirty="0"/>
            <a:t> personnel (high-stress environments)</a:t>
          </a:r>
          <a:endParaRPr lang="en-IN" sz="2400" b="0" i="0" kern="1200" dirty="0">
            <a:latin typeface="Montserrat" panose="00000500000000000000" pitchFamily="2" charset="0"/>
          </a:endParaRPr>
        </a:p>
      </dsp:txBody>
      <dsp:txXfrm>
        <a:off x="5510325" y="156926"/>
        <a:ext cx="5098044" cy="2302969"/>
      </dsp:txXfrm>
    </dsp:sp>
    <dsp:sp modelId="{7887EDED-12AF-4382-A7A3-8629FCB97637}">
      <dsp:nvSpPr>
        <dsp:cNvPr id="0" name=""/>
        <dsp:cNvSpPr/>
      </dsp:nvSpPr>
      <dsp:spPr>
        <a:xfrm>
          <a:off x="0" y="2483470"/>
          <a:ext cx="10594081" cy="2302969"/>
        </a:xfrm>
        <a:prstGeom prst="rect">
          <a:avLst/>
        </a:prstGeom>
        <a:solidFill>
          <a:srgbClr val="F0403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The global wearable neurotechnology market is projected to exceed </a:t>
          </a:r>
          <a:r>
            <a:rPr lang="en-US" sz="2400" b="1" i="0" kern="1200" dirty="0"/>
            <a:t>$5 billion by 2030</a:t>
          </a:r>
          <a:r>
            <a:rPr lang="en-US" sz="2400" b="0" i="0" kern="1200" dirty="0"/>
            <a:t>.</a:t>
          </a:r>
          <a:endParaRPr lang="en-US" sz="2400" b="0" i="0" kern="1200" dirty="0">
            <a:latin typeface="Montserrat" panose="00000500000000000000" pitchFamily="2" charset="0"/>
          </a:endParaRPr>
        </a:p>
      </dsp:txBody>
      <dsp:txXfrm>
        <a:off x="0" y="2483470"/>
        <a:ext cx="10594081" cy="230296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0697F-16F4-44E2-AFF3-63CF0A714EEB}">
      <dsp:nvSpPr>
        <dsp:cNvPr id="0" name=""/>
        <dsp:cNvSpPr/>
      </dsp:nvSpPr>
      <dsp:spPr>
        <a:xfrm>
          <a:off x="0" y="16168"/>
          <a:ext cx="5098044" cy="2302969"/>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i="0" kern="1200" dirty="0"/>
            <a:t>EEG-based sensing:</a:t>
          </a:r>
          <a:r>
            <a:rPr lang="en-US" sz="2400" b="0" i="0" kern="1200" dirty="0"/>
            <a:t> Captures electrical brainwave signals</a:t>
          </a:r>
        </a:p>
        <a:p>
          <a:pPr marL="0" lvl="0" indent="0" algn="l" defTabSz="1066800">
            <a:lnSpc>
              <a:spcPct val="90000"/>
            </a:lnSpc>
            <a:spcBef>
              <a:spcPct val="0"/>
            </a:spcBef>
            <a:spcAft>
              <a:spcPct val="35000"/>
            </a:spcAft>
            <a:buFont typeface="Arial" panose="020B0604020202020204" pitchFamily="34" charset="0"/>
            <a:buNone/>
          </a:pPr>
          <a:r>
            <a:rPr lang="en-US" sz="2400" b="1" i="0" kern="1200" dirty="0"/>
            <a:t>Signal Processing:</a:t>
          </a:r>
          <a:r>
            <a:rPr lang="en-US" sz="2400" b="0" i="0" kern="1200" dirty="0"/>
            <a:t> Filters and analyzes alpha/beta wave ratios</a:t>
          </a:r>
          <a:endParaRPr lang="en-IN" sz="2400" b="0" i="0" kern="1200" dirty="0">
            <a:solidFill>
              <a:schemeClr val="bg1"/>
            </a:solidFill>
            <a:latin typeface="Montserrat" panose="00000500000000000000" pitchFamily="2" charset="0"/>
          </a:endParaRPr>
        </a:p>
      </dsp:txBody>
      <dsp:txXfrm>
        <a:off x="0" y="16168"/>
        <a:ext cx="5098044" cy="2302969"/>
      </dsp:txXfrm>
    </dsp:sp>
    <dsp:sp modelId="{1B6A54B0-7323-418C-B8EE-1A870FF5188A}">
      <dsp:nvSpPr>
        <dsp:cNvPr id="0" name=""/>
        <dsp:cNvSpPr/>
      </dsp:nvSpPr>
      <dsp:spPr>
        <a:xfrm>
          <a:off x="5510325" y="72522"/>
          <a:ext cx="5098044" cy="2302969"/>
        </a:xfrm>
        <a:prstGeom prst="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i="0" kern="1200" dirty="0"/>
            <a:t>IoT Data Transmission:</a:t>
          </a:r>
          <a:r>
            <a:rPr lang="en-US" sz="2400" b="0" i="0" kern="1200" dirty="0"/>
            <a:t> ESP32 module sends data to Firebase</a:t>
          </a:r>
        </a:p>
        <a:p>
          <a:pPr marL="0" lvl="0" indent="0" algn="l" defTabSz="1066800">
            <a:lnSpc>
              <a:spcPct val="90000"/>
            </a:lnSpc>
            <a:spcBef>
              <a:spcPct val="0"/>
            </a:spcBef>
            <a:spcAft>
              <a:spcPct val="35000"/>
            </a:spcAft>
            <a:buFont typeface="Arial" panose="020B0604020202020204" pitchFamily="34" charset="0"/>
            <a:buNone/>
          </a:pPr>
          <a:r>
            <a:rPr lang="en-US" sz="2400" b="1" i="0" kern="1200" dirty="0"/>
            <a:t>Mobile App Integration:</a:t>
          </a:r>
          <a:r>
            <a:rPr lang="en-US" sz="2400" b="0" i="0" kern="1200" dirty="0"/>
            <a:t> Real-time dashboard + smart alerts</a:t>
          </a:r>
          <a:endParaRPr lang="en-IN" sz="2400" kern="1200" dirty="0">
            <a:solidFill>
              <a:schemeClr val="bg1"/>
            </a:solidFill>
            <a:latin typeface="Montserrat" panose="00000500000000000000" pitchFamily="2" charset="0"/>
          </a:endParaRPr>
        </a:p>
      </dsp:txBody>
      <dsp:txXfrm>
        <a:off x="5510325" y="72522"/>
        <a:ext cx="5098044" cy="2302969"/>
      </dsp:txXfrm>
    </dsp:sp>
    <dsp:sp modelId="{7887EDED-12AF-4382-A7A3-8629FCB97637}">
      <dsp:nvSpPr>
        <dsp:cNvPr id="0" name=""/>
        <dsp:cNvSpPr/>
      </dsp:nvSpPr>
      <dsp:spPr>
        <a:xfrm>
          <a:off x="0" y="2483470"/>
          <a:ext cx="10594081" cy="2302969"/>
        </a:xfrm>
        <a:prstGeom prst="rect">
          <a:avLst/>
        </a:prstGeom>
        <a:solidFill>
          <a:srgbClr val="F0403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400" b="1" kern="1200" dirty="0"/>
            <a:t>AI-based analytics (future scope): </a:t>
          </a:r>
          <a:r>
            <a:rPr lang="en-US" sz="2400" kern="1200" dirty="0"/>
            <a:t>Predictive stress modeling</a:t>
          </a:r>
        </a:p>
        <a:p>
          <a:pPr marL="0" lvl="0" indent="0" algn="l" defTabSz="914400">
            <a:lnSpc>
              <a:spcPct val="100000"/>
            </a:lnSpc>
            <a:spcBef>
              <a:spcPts val="0"/>
            </a:spcBef>
            <a:spcAft>
              <a:spcPts val="0"/>
            </a:spcAft>
            <a:buNone/>
          </a:pPr>
          <a:r>
            <a:rPr lang="en-US" sz="2400" kern="1200" dirty="0"/>
            <a:t>Non-Invasive Wearable Tech: Comfortable and safe for long-term use</a:t>
          </a:r>
          <a:endParaRPr lang="en-IN" sz="2400" kern="1200" dirty="0">
            <a:solidFill>
              <a:schemeClr val="bg1"/>
            </a:solidFill>
            <a:latin typeface="Montserrat" panose="00000500000000000000" pitchFamily="2" charset="0"/>
          </a:endParaRPr>
        </a:p>
      </dsp:txBody>
      <dsp:txXfrm>
        <a:off x="0" y="2483470"/>
        <a:ext cx="10594081" cy="230296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0697F-16F4-44E2-AFF3-63CF0A714EEB}">
      <dsp:nvSpPr>
        <dsp:cNvPr id="0" name=""/>
        <dsp:cNvSpPr/>
      </dsp:nvSpPr>
      <dsp:spPr>
        <a:xfrm>
          <a:off x="0" y="156926"/>
          <a:ext cx="5098044" cy="2302969"/>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i="0" kern="1200" dirty="0"/>
            <a:t>Our competitive advantages:</a:t>
          </a:r>
          <a:endParaRPr lang="en-IN" sz="2400" b="0" i="0" kern="1200" dirty="0"/>
        </a:p>
        <a:p>
          <a:pPr marL="0" lvl="0" indent="0" algn="l" defTabSz="1066800">
            <a:lnSpc>
              <a:spcPct val="90000"/>
            </a:lnSpc>
            <a:spcBef>
              <a:spcPct val="0"/>
            </a:spcBef>
            <a:spcAft>
              <a:spcPct val="35000"/>
            </a:spcAft>
            <a:buFont typeface="Arial" panose="020B0604020202020204" pitchFamily="34" charset="0"/>
            <a:buNone/>
          </a:pPr>
          <a:r>
            <a:rPr lang="en-US" sz="2400" b="0" i="0" kern="1200" dirty="0"/>
            <a:t>Real-time EEG-based cognitive stress detection</a:t>
          </a:r>
        </a:p>
        <a:p>
          <a:pPr marL="0" lvl="0" indent="0" algn="l" defTabSz="1066800">
            <a:lnSpc>
              <a:spcPct val="90000"/>
            </a:lnSpc>
            <a:spcBef>
              <a:spcPct val="0"/>
            </a:spcBef>
            <a:spcAft>
              <a:spcPct val="35000"/>
            </a:spcAft>
            <a:buFont typeface="Arial" panose="020B0604020202020204" pitchFamily="34" charset="0"/>
            <a:buNone/>
          </a:pPr>
          <a:r>
            <a:rPr lang="en-US" sz="2400" b="0" i="0" kern="1200" dirty="0"/>
            <a:t>Portable, affordable, and easy-to-wear design</a:t>
          </a:r>
          <a:endParaRPr lang="en-IN" sz="2000" kern="1200" dirty="0">
            <a:solidFill>
              <a:schemeClr val="bg1"/>
            </a:solidFill>
            <a:latin typeface="Montserrat" panose="00000500000000000000" pitchFamily="2" charset="0"/>
          </a:endParaRPr>
        </a:p>
      </dsp:txBody>
      <dsp:txXfrm>
        <a:off x="0" y="156926"/>
        <a:ext cx="5098044" cy="2302969"/>
      </dsp:txXfrm>
    </dsp:sp>
    <dsp:sp modelId="{1B6A54B0-7323-418C-B8EE-1A870FF5188A}">
      <dsp:nvSpPr>
        <dsp:cNvPr id="0" name=""/>
        <dsp:cNvSpPr/>
      </dsp:nvSpPr>
      <dsp:spPr>
        <a:xfrm>
          <a:off x="5510325" y="156926"/>
          <a:ext cx="5098044" cy="2302969"/>
        </a:xfrm>
        <a:prstGeom prst="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0" i="0" kern="1200" dirty="0"/>
            <a:t>Instant mobile alerts + personalized stress management</a:t>
          </a:r>
        </a:p>
        <a:p>
          <a:pPr marL="0" lvl="0" indent="0" algn="l" defTabSz="1066800">
            <a:lnSpc>
              <a:spcPct val="90000"/>
            </a:lnSpc>
            <a:spcBef>
              <a:spcPct val="0"/>
            </a:spcBef>
            <a:spcAft>
              <a:spcPct val="35000"/>
            </a:spcAft>
            <a:buFont typeface="Arial" panose="020B0604020202020204" pitchFamily="34" charset="0"/>
            <a:buNone/>
          </a:pPr>
          <a:r>
            <a:rPr lang="en-IN" sz="2400" b="0" i="0" kern="1200" dirty="0"/>
            <a:t>Cloud-based long-term analytics</a:t>
          </a:r>
          <a:endParaRPr lang="en-IN" sz="2000" kern="1200" dirty="0">
            <a:solidFill>
              <a:schemeClr val="bg1"/>
            </a:solidFill>
            <a:latin typeface="Montserrat" panose="00000500000000000000" pitchFamily="2" charset="0"/>
          </a:endParaRPr>
        </a:p>
      </dsp:txBody>
      <dsp:txXfrm>
        <a:off x="5510325" y="156926"/>
        <a:ext cx="5098044" cy="2302969"/>
      </dsp:txXfrm>
    </dsp:sp>
    <dsp:sp modelId="{7887EDED-12AF-4382-A7A3-8629FCB97637}">
      <dsp:nvSpPr>
        <dsp:cNvPr id="0" name=""/>
        <dsp:cNvSpPr/>
      </dsp:nvSpPr>
      <dsp:spPr>
        <a:xfrm>
          <a:off x="0" y="2483470"/>
          <a:ext cx="10594081" cy="2302969"/>
        </a:xfrm>
        <a:prstGeom prst="rect">
          <a:avLst/>
        </a:prstGeom>
        <a:solidFill>
          <a:srgbClr val="F0403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Most competitors rely on heart-rate or skin-conductance sensors, which detect stress indirectly and less accurately. Clinical EEG devices are accurate but bulky and expensive.</a:t>
          </a:r>
          <a:endParaRPr lang="en-IN" sz="1600" kern="1200" dirty="0">
            <a:solidFill>
              <a:schemeClr val="bg1"/>
            </a:solidFill>
            <a:latin typeface="Montserrat" panose="00000500000000000000" pitchFamily="2" charset="0"/>
          </a:endParaRPr>
        </a:p>
      </dsp:txBody>
      <dsp:txXfrm>
        <a:off x="0" y="2483470"/>
        <a:ext cx="10594081" cy="230296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0697F-16F4-44E2-AFF3-63CF0A714EEB}">
      <dsp:nvSpPr>
        <dsp:cNvPr id="0" name=""/>
        <dsp:cNvSpPr/>
      </dsp:nvSpPr>
      <dsp:spPr>
        <a:xfrm>
          <a:off x="0" y="1250463"/>
          <a:ext cx="5104924" cy="2521211"/>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i="0" kern="1200" dirty="0"/>
            <a:t>B2C Model (Individuals):</a:t>
          </a:r>
          <a:endParaRPr lang="en-IN" sz="2400" b="0" i="0" kern="1200" dirty="0"/>
        </a:p>
        <a:p>
          <a:pPr marL="0" lvl="0" indent="0" algn="l" defTabSz="1066800">
            <a:lnSpc>
              <a:spcPct val="90000"/>
            </a:lnSpc>
            <a:spcBef>
              <a:spcPct val="0"/>
            </a:spcBef>
            <a:spcAft>
              <a:spcPct val="35000"/>
            </a:spcAft>
            <a:buFont typeface="Arial" panose="020B0604020202020204" pitchFamily="34" charset="0"/>
            <a:buNone/>
          </a:pPr>
          <a:r>
            <a:rPr lang="en-IN" sz="2400" b="0" i="0" kern="1200" dirty="0"/>
            <a:t>Sale of wearable cap</a:t>
          </a:r>
        </a:p>
        <a:p>
          <a:pPr marL="0" lvl="0" indent="0" algn="l" defTabSz="1066800">
            <a:lnSpc>
              <a:spcPct val="90000"/>
            </a:lnSpc>
            <a:spcBef>
              <a:spcPct val="0"/>
            </a:spcBef>
            <a:spcAft>
              <a:spcPct val="35000"/>
            </a:spcAft>
            <a:buFont typeface="Arial" panose="020B0604020202020204" pitchFamily="34" charset="0"/>
            <a:buNone/>
          </a:pPr>
          <a:r>
            <a:rPr lang="en-US" sz="2400" b="0" i="0" kern="1200" dirty="0"/>
            <a:t>Mobile app subscription (premium analytics, advanced insights, guided meditation library)</a:t>
          </a:r>
          <a:endParaRPr lang="en-IN" sz="2000" kern="1200" dirty="0">
            <a:solidFill>
              <a:schemeClr val="bg1"/>
            </a:solidFill>
            <a:latin typeface="Montserrat" panose="00000500000000000000" pitchFamily="2" charset="0"/>
          </a:endParaRPr>
        </a:p>
      </dsp:txBody>
      <dsp:txXfrm>
        <a:off x="0" y="1250463"/>
        <a:ext cx="5104924" cy="2521211"/>
      </dsp:txXfrm>
    </dsp:sp>
    <dsp:sp modelId="{8CFFFA3B-2F5A-4E03-BDFF-2ADEB6CF60BC}">
      <dsp:nvSpPr>
        <dsp:cNvPr id="0" name=""/>
        <dsp:cNvSpPr/>
      </dsp:nvSpPr>
      <dsp:spPr>
        <a:xfrm>
          <a:off x="5503430" y="1331430"/>
          <a:ext cx="5104924" cy="2453089"/>
        </a:xfrm>
        <a:prstGeom prst="rect">
          <a:avLst/>
        </a:prstGeom>
        <a:solidFill>
          <a:srgbClr val="F0403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b="1" i="0" kern="1200" dirty="0"/>
            <a:t>B2B Model (Institutions):</a:t>
          </a:r>
          <a:endParaRPr lang="en-IN" sz="2300" b="0" i="0" kern="1200" dirty="0"/>
        </a:p>
        <a:p>
          <a:pPr marL="0" lvl="0" indent="0" algn="ctr" defTabSz="1022350">
            <a:lnSpc>
              <a:spcPct val="90000"/>
            </a:lnSpc>
            <a:spcBef>
              <a:spcPct val="0"/>
            </a:spcBef>
            <a:spcAft>
              <a:spcPct val="35000"/>
            </a:spcAft>
            <a:buFont typeface="Arial" panose="020B0604020202020204" pitchFamily="34" charset="0"/>
            <a:buNone/>
          </a:pPr>
          <a:r>
            <a:rPr lang="en-US" sz="2300" b="0" i="0" kern="1200" dirty="0"/>
            <a:t>Bulk sales for corporates, educational institutions, hospitals, and defense</a:t>
          </a:r>
        </a:p>
        <a:p>
          <a:pPr marL="0" lvl="0" indent="0" algn="ctr" defTabSz="1022350">
            <a:lnSpc>
              <a:spcPct val="90000"/>
            </a:lnSpc>
            <a:spcBef>
              <a:spcPct val="0"/>
            </a:spcBef>
            <a:spcAft>
              <a:spcPct val="35000"/>
            </a:spcAft>
            <a:buFont typeface="Arial" panose="020B0604020202020204" pitchFamily="34" charset="0"/>
            <a:buNone/>
          </a:pPr>
          <a:r>
            <a:rPr lang="en-IN" sz="2300" b="0" i="0" kern="1200" dirty="0"/>
            <a:t>Enterprise dashboard subscription</a:t>
          </a:r>
        </a:p>
        <a:p>
          <a:pPr marL="0" lvl="0" indent="0" algn="ctr" defTabSz="1022350">
            <a:lnSpc>
              <a:spcPct val="90000"/>
            </a:lnSpc>
            <a:spcBef>
              <a:spcPct val="0"/>
            </a:spcBef>
            <a:spcAft>
              <a:spcPct val="35000"/>
            </a:spcAft>
            <a:buFont typeface="Arial" panose="020B0604020202020204" pitchFamily="34" charset="0"/>
            <a:buNone/>
          </a:pPr>
          <a:r>
            <a:rPr lang="en-IN" sz="2300" b="0" i="0" kern="1200" dirty="0"/>
            <a:t>Licensing for stress monitoring programs</a:t>
          </a:r>
          <a:endParaRPr lang="en-IN" sz="2300" kern="1200" dirty="0">
            <a:solidFill>
              <a:schemeClr val="bg1"/>
            </a:solidFill>
            <a:latin typeface="Montserrat" panose="00000500000000000000" pitchFamily="2" charset="0"/>
          </a:endParaRPr>
        </a:p>
      </dsp:txBody>
      <dsp:txXfrm>
        <a:off x="5503430" y="1331430"/>
        <a:ext cx="5104924" cy="245308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0697F-16F4-44E2-AFF3-63CF0A714EEB}">
      <dsp:nvSpPr>
        <dsp:cNvPr id="0" name=""/>
        <dsp:cNvSpPr/>
      </dsp:nvSpPr>
      <dsp:spPr>
        <a:xfrm>
          <a:off x="0" y="562099"/>
          <a:ext cx="5104924" cy="3897939"/>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0" i="0" kern="1200" dirty="0">
              <a:latin typeface="Times New Roman" panose="02020603050405020304" pitchFamily="18" charset="0"/>
              <a:cs typeface="Times New Roman" panose="02020603050405020304" pitchFamily="18" charset="0"/>
            </a:rPr>
            <a:t>Prototype successfully developed and tested</a:t>
          </a:r>
        </a:p>
        <a:p>
          <a:pPr marL="0" lvl="0" indent="0" algn="l" defTabSz="1333500">
            <a:lnSpc>
              <a:spcPct val="90000"/>
            </a:lnSpc>
            <a:spcBef>
              <a:spcPct val="0"/>
            </a:spcBef>
            <a:spcAft>
              <a:spcPct val="35000"/>
            </a:spcAft>
            <a:buFont typeface="Arial" panose="020B0604020202020204" pitchFamily="34" charset="0"/>
            <a:buNone/>
          </a:pPr>
          <a:r>
            <a:rPr lang="en-US" sz="3000" b="0" i="0" kern="1200" dirty="0">
              <a:latin typeface="Times New Roman" panose="02020603050405020304" pitchFamily="18" charset="0"/>
              <a:cs typeface="Times New Roman" panose="02020603050405020304" pitchFamily="18" charset="0"/>
            </a:rPr>
            <a:t>Data transmission and mobile dashboard fully functional</a:t>
          </a:r>
        </a:p>
        <a:p>
          <a:pPr marL="0" lvl="0" indent="0" algn="l" defTabSz="1333500">
            <a:lnSpc>
              <a:spcPct val="90000"/>
            </a:lnSpc>
            <a:spcBef>
              <a:spcPct val="0"/>
            </a:spcBef>
            <a:spcAft>
              <a:spcPct val="35000"/>
            </a:spcAft>
            <a:buFont typeface="Arial" panose="020B0604020202020204" pitchFamily="34" charset="0"/>
            <a:buNone/>
          </a:pPr>
          <a:r>
            <a:rPr lang="en-US" sz="3000" b="0" i="0" kern="1200" dirty="0">
              <a:latin typeface="Times New Roman" panose="02020603050405020304" pitchFamily="18" charset="0"/>
              <a:cs typeface="Times New Roman" panose="02020603050405020304" pitchFamily="18" charset="0"/>
            </a:rPr>
            <a:t>Positive feedback from initial test users (students/professionals)</a:t>
          </a:r>
          <a:endParaRPr lang="en-IN" sz="3000" kern="1200" dirty="0">
            <a:solidFill>
              <a:schemeClr val="bg1"/>
            </a:solidFill>
            <a:latin typeface="Times New Roman" panose="02020603050405020304" pitchFamily="18" charset="0"/>
            <a:cs typeface="Times New Roman" panose="02020603050405020304" pitchFamily="18" charset="0"/>
          </a:endParaRPr>
        </a:p>
      </dsp:txBody>
      <dsp:txXfrm>
        <a:off x="0" y="562099"/>
        <a:ext cx="5104924" cy="3897939"/>
      </dsp:txXfrm>
    </dsp:sp>
    <dsp:sp modelId="{1B6A54B0-7323-418C-B8EE-1A870FF5188A}">
      <dsp:nvSpPr>
        <dsp:cNvPr id="0" name=""/>
        <dsp:cNvSpPr/>
      </dsp:nvSpPr>
      <dsp:spPr>
        <a:xfrm>
          <a:off x="5503445" y="562099"/>
          <a:ext cx="5104924" cy="3897939"/>
        </a:xfrm>
        <a:prstGeom prst="rect">
          <a:avLst/>
        </a:prstGeom>
        <a:solidFill>
          <a:srgbClr val="F0403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0" i="0" kern="1200" dirty="0">
              <a:latin typeface="Times New Roman" panose="02020603050405020304" pitchFamily="18" charset="0"/>
              <a:cs typeface="Times New Roman" panose="02020603050405020304" pitchFamily="18" charset="0"/>
            </a:rPr>
            <a:t>Identified strong demand during surveys in academic and corporate sectors</a:t>
          </a:r>
        </a:p>
        <a:p>
          <a:pPr marL="0" lvl="0" indent="0" algn="l" defTabSz="1333500">
            <a:lnSpc>
              <a:spcPct val="90000"/>
            </a:lnSpc>
            <a:spcBef>
              <a:spcPct val="0"/>
            </a:spcBef>
            <a:spcAft>
              <a:spcPct val="35000"/>
            </a:spcAft>
            <a:buFont typeface="Arial" panose="020B0604020202020204" pitchFamily="34" charset="0"/>
            <a:buNone/>
          </a:pPr>
          <a:r>
            <a:rPr lang="en-US" sz="3000" b="0" i="0" kern="1200" dirty="0">
              <a:latin typeface="Times New Roman" panose="02020603050405020304" pitchFamily="18" charset="0"/>
              <a:cs typeface="Times New Roman" panose="02020603050405020304" pitchFamily="18" charset="0"/>
            </a:rPr>
            <a:t>Ready for pilot implementation in educational institutions</a:t>
          </a:r>
          <a:endParaRPr lang="en-IN" sz="3000" kern="1200" dirty="0">
            <a:solidFill>
              <a:schemeClr val="bg1"/>
            </a:solidFill>
            <a:latin typeface="Times New Roman" panose="02020603050405020304" pitchFamily="18" charset="0"/>
            <a:cs typeface="Times New Roman" panose="02020603050405020304" pitchFamily="18" charset="0"/>
          </a:endParaRPr>
        </a:p>
      </dsp:txBody>
      <dsp:txXfrm>
        <a:off x="5503445" y="562099"/>
        <a:ext cx="5104924" cy="389793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3E0D37-EBD3-4B88-9FCB-5404958D7CD8}">
      <dsp:nvSpPr>
        <dsp:cNvPr id="0" name=""/>
        <dsp:cNvSpPr/>
      </dsp:nvSpPr>
      <dsp:spPr>
        <a:xfrm>
          <a:off x="253784" y="548196"/>
          <a:ext cx="5223204" cy="3981838"/>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i="0" kern="1200" dirty="0"/>
            <a:t>Already Achieved:</a:t>
          </a:r>
          <a:endParaRPr lang="en-IN" sz="2400" b="0" i="0" kern="1200" dirty="0"/>
        </a:p>
        <a:p>
          <a:pPr marL="0" lvl="0" indent="0" algn="ctr" defTabSz="1066800">
            <a:lnSpc>
              <a:spcPct val="90000"/>
            </a:lnSpc>
            <a:spcBef>
              <a:spcPct val="0"/>
            </a:spcBef>
            <a:spcAft>
              <a:spcPct val="35000"/>
            </a:spcAft>
            <a:buFont typeface="Arial" panose="020B0604020202020204" pitchFamily="34" charset="0"/>
            <a:buNone/>
          </a:pPr>
          <a:r>
            <a:rPr lang="en-US" sz="2400" b="0" i="0" kern="1200" dirty="0"/>
            <a:t>Built functional prototype using ESP32 + EEG sensor</a:t>
          </a:r>
        </a:p>
        <a:p>
          <a:pPr marL="0" lvl="0" indent="0" algn="ctr" defTabSz="1066800">
            <a:lnSpc>
              <a:spcPct val="90000"/>
            </a:lnSpc>
            <a:spcBef>
              <a:spcPct val="0"/>
            </a:spcBef>
            <a:spcAft>
              <a:spcPct val="35000"/>
            </a:spcAft>
            <a:buFont typeface="Arial" panose="020B0604020202020204" pitchFamily="34" charset="0"/>
            <a:buNone/>
          </a:pPr>
          <a:r>
            <a:rPr lang="en-US" sz="2400" b="0" i="0" kern="1200" dirty="0"/>
            <a:t>Developed mobile app and Firebase architecture</a:t>
          </a:r>
        </a:p>
        <a:p>
          <a:pPr marL="0" lvl="0" indent="0" algn="ctr" defTabSz="1066800">
            <a:lnSpc>
              <a:spcPct val="90000"/>
            </a:lnSpc>
            <a:spcBef>
              <a:spcPct val="0"/>
            </a:spcBef>
            <a:spcAft>
              <a:spcPct val="35000"/>
            </a:spcAft>
            <a:buFont typeface="Arial" panose="020B0604020202020204" pitchFamily="34" charset="0"/>
            <a:buNone/>
          </a:pPr>
          <a:r>
            <a:rPr lang="en-US" sz="2400" b="0" i="0" kern="1200" dirty="0"/>
            <a:t>Conducted initial testing and validation</a:t>
          </a:r>
          <a:endParaRPr lang="en-IN" sz="2400" kern="1200" dirty="0">
            <a:latin typeface="Montserrat" panose="00000500000000000000" pitchFamily="2" charset="0"/>
          </a:endParaRPr>
        </a:p>
      </dsp:txBody>
      <dsp:txXfrm>
        <a:off x="253784" y="548196"/>
        <a:ext cx="5223204" cy="3981838"/>
      </dsp:txXfrm>
    </dsp:sp>
    <dsp:sp modelId="{9A09CD44-6373-48BA-94CF-0D0DE4938535}">
      <dsp:nvSpPr>
        <dsp:cNvPr id="0" name=""/>
        <dsp:cNvSpPr/>
      </dsp:nvSpPr>
      <dsp:spPr>
        <a:xfrm>
          <a:off x="5634304" y="448806"/>
          <a:ext cx="5433855" cy="4149099"/>
        </a:xfrm>
        <a:prstGeom prst="rect">
          <a:avLst/>
        </a:prstGeom>
        <a:solidFill>
          <a:srgbClr val="F0403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i="0" kern="1200" dirty="0"/>
            <a:t>Future Requirements:</a:t>
          </a:r>
          <a:endParaRPr lang="en-IN" sz="2400" b="0" i="0" kern="1200" dirty="0"/>
        </a:p>
        <a:p>
          <a:pPr marL="0" lvl="0" indent="0" algn="ctr" defTabSz="1066800">
            <a:lnSpc>
              <a:spcPct val="90000"/>
            </a:lnSpc>
            <a:spcBef>
              <a:spcPct val="0"/>
            </a:spcBef>
            <a:spcAft>
              <a:spcPct val="35000"/>
            </a:spcAft>
            <a:buFont typeface="Arial" panose="020B0604020202020204" pitchFamily="34" charset="0"/>
            <a:buNone/>
          </a:pPr>
          <a:r>
            <a:rPr lang="en-US" sz="2400" b="0" i="0" kern="1200" dirty="0"/>
            <a:t>Funding for mass production and hardware refinement</a:t>
          </a:r>
        </a:p>
        <a:p>
          <a:pPr marL="0" lvl="0" indent="0" algn="ctr" defTabSz="1066800">
            <a:lnSpc>
              <a:spcPct val="90000"/>
            </a:lnSpc>
            <a:spcBef>
              <a:spcPct val="0"/>
            </a:spcBef>
            <a:spcAft>
              <a:spcPct val="35000"/>
            </a:spcAft>
            <a:buFont typeface="Arial" panose="020B0604020202020204" pitchFamily="34" charset="0"/>
            <a:buNone/>
          </a:pPr>
          <a:r>
            <a:rPr lang="en-US" sz="2400" b="0" i="0" kern="1200" dirty="0"/>
            <a:t>Partnerships with healthcare experts for validation</a:t>
          </a:r>
        </a:p>
        <a:p>
          <a:pPr marL="0" lvl="0" indent="0" algn="ctr" defTabSz="1066800">
            <a:lnSpc>
              <a:spcPct val="90000"/>
            </a:lnSpc>
            <a:spcBef>
              <a:spcPct val="0"/>
            </a:spcBef>
            <a:spcAft>
              <a:spcPct val="35000"/>
            </a:spcAft>
            <a:buFont typeface="Arial" panose="020B0604020202020204" pitchFamily="34" charset="0"/>
            <a:buNone/>
          </a:pPr>
          <a:r>
            <a:rPr lang="en-US" sz="2400" b="0" i="0" kern="1200" dirty="0"/>
            <a:t>Collaboration with corporates/schools for pilot testing</a:t>
          </a:r>
          <a:endParaRPr lang="en-IN" sz="2400" kern="1200" dirty="0">
            <a:latin typeface="Montserrat" panose="00000500000000000000" pitchFamily="2" charset="0"/>
          </a:endParaRPr>
        </a:p>
      </dsp:txBody>
      <dsp:txXfrm>
        <a:off x="5634304" y="448806"/>
        <a:ext cx="5433855" cy="414909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3E0D37-EBD3-4B88-9FCB-5404958D7CD8}">
      <dsp:nvSpPr>
        <dsp:cNvPr id="0" name=""/>
        <dsp:cNvSpPr/>
      </dsp:nvSpPr>
      <dsp:spPr>
        <a:xfrm>
          <a:off x="0" y="647785"/>
          <a:ext cx="4159031" cy="3683919"/>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i="0" kern="1200" dirty="0"/>
            <a:t>Short-Term (0–6 months):</a:t>
          </a:r>
          <a:endParaRPr lang="en-IN" sz="2400" b="0" i="0" kern="1200" dirty="0"/>
        </a:p>
        <a:p>
          <a:pPr marL="0" lvl="0" indent="0" algn="ctr" defTabSz="1066800">
            <a:lnSpc>
              <a:spcPct val="90000"/>
            </a:lnSpc>
            <a:spcBef>
              <a:spcPct val="0"/>
            </a:spcBef>
            <a:spcAft>
              <a:spcPct val="35000"/>
            </a:spcAft>
            <a:buFont typeface="Arial" panose="020B0604020202020204" pitchFamily="34" charset="0"/>
            <a:buNone/>
          </a:pPr>
          <a:r>
            <a:rPr lang="en-US" sz="2400" b="0" i="0" kern="1200" dirty="0"/>
            <a:t>Improve sensor accuracy and comfort design</a:t>
          </a:r>
        </a:p>
        <a:p>
          <a:pPr marL="0" lvl="0" indent="0" algn="ctr" defTabSz="1066800">
            <a:lnSpc>
              <a:spcPct val="90000"/>
            </a:lnSpc>
            <a:spcBef>
              <a:spcPct val="0"/>
            </a:spcBef>
            <a:spcAft>
              <a:spcPct val="35000"/>
            </a:spcAft>
            <a:buFont typeface="Arial" panose="020B0604020202020204" pitchFamily="34" charset="0"/>
            <a:buNone/>
          </a:pPr>
          <a:r>
            <a:rPr lang="en-US" sz="2400" b="0" i="0" kern="1200" dirty="0"/>
            <a:t>Conduct pilot studies in colleges and companies</a:t>
          </a:r>
        </a:p>
        <a:p>
          <a:pPr marL="0" lvl="0" indent="0" algn="ctr" defTabSz="1066800">
            <a:lnSpc>
              <a:spcPct val="90000"/>
            </a:lnSpc>
            <a:spcBef>
              <a:spcPct val="0"/>
            </a:spcBef>
            <a:spcAft>
              <a:spcPct val="35000"/>
            </a:spcAft>
            <a:buFont typeface="Arial" panose="020B0604020202020204" pitchFamily="34" charset="0"/>
            <a:buNone/>
          </a:pPr>
          <a:r>
            <a:rPr lang="en-US" sz="2400" b="0" i="0" kern="1200" dirty="0"/>
            <a:t>Strengthen app UI/UX and add more stress-relief tools</a:t>
          </a:r>
          <a:endParaRPr lang="en-US" sz="2400" b="0" i="0" kern="1200" dirty="0">
            <a:latin typeface="Montserrat" panose="00000500000000000000" pitchFamily="2" charset="0"/>
          </a:endParaRPr>
        </a:p>
      </dsp:txBody>
      <dsp:txXfrm>
        <a:off x="0" y="647785"/>
        <a:ext cx="4159031" cy="3683919"/>
      </dsp:txXfrm>
    </dsp:sp>
    <dsp:sp modelId="{9A09CD44-6373-48BA-94CF-0D0DE4938535}">
      <dsp:nvSpPr>
        <dsp:cNvPr id="0" name=""/>
        <dsp:cNvSpPr/>
      </dsp:nvSpPr>
      <dsp:spPr>
        <a:xfrm>
          <a:off x="4442619" y="641311"/>
          <a:ext cx="3887031" cy="3696867"/>
        </a:xfrm>
        <a:prstGeom prst="rect">
          <a:avLst/>
        </a:prstGeom>
        <a:solidFill>
          <a:srgbClr val="F0403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i="0" kern="1200" dirty="0"/>
            <a:t>Mid-Term (6–18 months):</a:t>
          </a:r>
          <a:endParaRPr lang="en-IN" sz="2400" b="0" i="0" kern="1200" dirty="0"/>
        </a:p>
        <a:p>
          <a:pPr marL="0" lvl="0" indent="0" algn="ctr" defTabSz="1066800">
            <a:lnSpc>
              <a:spcPct val="90000"/>
            </a:lnSpc>
            <a:spcBef>
              <a:spcPct val="0"/>
            </a:spcBef>
            <a:spcAft>
              <a:spcPct val="35000"/>
            </a:spcAft>
            <a:buFont typeface="Arial" panose="020B0604020202020204" pitchFamily="34" charset="0"/>
            <a:buNone/>
          </a:pPr>
          <a:r>
            <a:rPr lang="en-US" sz="2400" b="0" i="0" kern="1200" dirty="0"/>
            <a:t>Scale production and establish B2B partnerships</a:t>
          </a:r>
        </a:p>
        <a:p>
          <a:pPr marL="0" lvl="0" indent="0" algn="ctr" defTabSz="1066800">
            <a:lnSpc>
              <a:spcPct val="90000"/>
            </a:lnSpc>
            <a:spcBef>
              <a:spcPct val="0"/>
            </a:spcBef>
            <a:spcAft>
              <a:spcPct val="35000"/>
            </a:spcAft>
            <a:buFont typeface="Arial" panose="020B0604020202020204" pitchFamily="34" charset="0"/>
            <a:buNone/>
          </a:pPr>
          <a:r>
            <a:rPr lang="en-IN" sz="2400" b="0" i="0" kern="1200" dirty="0"/>
            <a:t>Launch national-level marketing campaign</a:t>
          </a:r>
        </a:p>
        <a:p>
          <a:pPr marL="0" lvl="0" indent="0" algn="ctr" defTabSz="1066800">
            <a:lnSpc>
              <a:spcPct val="90000"/>
            </a:lnSpc>
            <a:spcBef>
              <a:spcPct val="0"/>
            </a:spcBef>
            <a:spcAft>
              <a:spcPct val="35000"/>
            </a:spcAft>
            <a:buFont typeface="Arial" panose="020B0604020202020204" pitchFamily="34" charset="0"/>
            <a:buNone/>
          </a:pPr>
          <a:r>
            <a:rPr lang="en-US" sz="2400" b="0" i="0" kern="1200" dirty="0"/>
            <a:t>Integrate AI-based predictive stress modeling</a:t>
          </a:r>
          <a:endParaRPr lang="en-IN" sz="2400" kern="1200" dirty="0">
            <a:latin typeface="Montserrat" panose="00000500000000000000" pitchFamily="2" charset="0"/>
          </a:endParaRPr>
        </a:p>
      </dsp:txBody>
      <dsp:txXfrm>
        <a:off x="4442619" y="641311"/>
        <a:ext cx="3887031" cy="3696867"/>
      </dsp:txXfrm>
    </dsp:sp>
    <dsp:sp modelId="{E605F1CE-1F62-4171-80D5-6035D90FBEDC}">
      <dsp:nvSpPr>
        <dsp:cNvPr id="0" name=""/>
        <dsp:cNvSpPr/>
      </dsp:nvSpPr>
      <dsp:spPr>
        <a:xfrm>
          <a:off x="8514107" y="710397"/>
          <a:ext cx="3469572" cy="3537315"/>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i="0" kern="1200" dirty="0"/>
            <a:t>Long-Term (18+ months):</a:t>
          </a:r>
          <a:endParaRPr lang="en-IN" sz="2400" b="0" i="0" kern="1200" dirty="0"/>
        </a:p>
        <a:p>
          <a:pPr marL="0" lvl="0" indent="0" algn="ctr" defTabSz="1066800">
            <a:lnSpc>
              <a:spcPct val="90000"/>
            </a:lnSpc>
            <a:spcBef>
              <a:spcPct val="0"/>
            </a:spcBef>
            <a:spcAft>
              <a:spcPct val="35000"/>
            </a:spcAft>
            <a:buFont typeface="Arial" panose="020B0604020202020204" pitchFamily="34" charset="0"/>
            <a:buNone/>
          </a:pPr>
          <a:r>
            <a:rPr lang="en-IN" sz="2400" b="0" i="0" kern="1200" dirty="0"/>
            <a:t>Expand into international markets</a:t>
          </a:r>
        </a:p>
        <a:p>
          <a:pPr marL="0" lvl="0" indent="0" algn="ctr" defTabSz="1066800">
            <a:lnSpc>
              <a:spcPct val="90000"/>
            </a:lnSpc>
            <a:spcBef>
              <a:spcPct val="0"/>
            </a:spcBef>
            <a:spcAft>
              <a:spcPct val="35000"/>
            </a:spcAft>
            <a:buFont typeface="Arial" panose="020B0604020202020204" pitchFamily="34" charset="0"/>
            <a:buNone/>
          </a:pPr>
          <a:r>
            <a:rPr lang="en-US" sz="2400" b="0" i="0" kern="1200" dirty="0"/>
            <a:t>Develop advanced variants (multi-sensor, military-grade)</a:t>
          </a:r>
        </a:p>
        <a:p>
          <a:pPr marL="0" lvl="0" indent="0" algn="ctr" defTabSz="1066800">
            <a:lnSpc>
              <a:spcPct val="90000"/>
            </a:lnSpc>
            <a:spcBef>
              <a:spcPct val="0"/>
            </a:spcBef>
            <a:spcAft>
              <a:spcPct val="35000"/>
            </a:spcAft>
            <a:buFont typeface="Arial" panose="020B0604020202020204" pitchFamily="34" charset="0"/>
            <a:buNone/>
          </a:pPr>
          <a:r>
            <a:rPr lang="en-US" sz="2400" b="0" i="0" kern="1200" dirty="0"/>
            <a:t>Integrate with mental health platforms and telemedicine</a:t>
          </a:r>
          <a:endParaRPr lang="en-IN" sz="2400" kern="1200" dirty="0">
            <a:latin typeface="Montserrat" panose="00000500000000000000" pitchFamily="2" charset="0"/>
          </a:endParaRPr>
        </a:p>
      </dsp:txBody>
      <dsp:txXfrm>
        <a:off x="8514107" y="710397"/>
        <a:ext cx="3469572" cy="353731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0697F-16F4-44E2-AFF3-63CF0A714EEB}">
      <dsp:nvSpPr>
        <dsp:cNvPr id="0" name=""/>
        <dsp:cNvSpPr/>
      </dsp:nvSpPr>
      <dsp:spPr>
        <a:xfrm>
          <a:off x="2732171" y="156926"/>
          <a:ext cx="5098044" cy="2302969"/>
        </a:xfrm>
        <a:prstGeom prst="rect">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i="0" kern="1200" dirty="0"/>
            <a:t>Electronics Developer:</a:t>
          </a:r>
          <a:r>
            <a:rPr lang="en-US" sz="2400" b="0" i="0" kern="1200" dirty="0"/>
            <a:t> Handles EEG integration, ESP32 programming</a:t>
          </a:r>
        </a:p>
        <a:p>
          <a:pPr marL="0" lvl="0" indent="0" algn="l" defTabSz="1066800">
            <a:lnSpc>
              <a:spcPct val="90000"/>
            </a:lnSpc>
            <a:spcBef>
              <a:spcPct val="0"/>
            </a:spcBef>
            <a:spcAft>
              <a:spcPct val="35000"/>
            </a:spcAft>
            <a:buFont typeface="Arial" panose="020B0604020202020204" pitchFamily="34" charset="0"/>
            <a:buNone/>
          </a:pPr>
          <a:r>
            <a:rPr lang="en-US" sz="2400" b="1" i="0" kern="1200" dirty="0"/>
            <a:t>Software/App Developer:</a:t>
          </a:r>
          <a:r>
            <a:rPr lang="en-US" sz="2400" b="0" i="0" kern="1200" dirty="0"/>
            <a:t> Builds mobile app and Firebase backend</a:t>
          </a:r>
          <a:endParaRPr lang="en-IN" sz="2400" kern="1200" dirty="0">
            <a:solidFill>
              <a:schemeClr val="bg1"/>
            </a:solidFill>
            <a:latin typeface="Montserrat" panose="00000500000000000000" pitchFamily="2" charset="0"/>
          </a:endParaRPr>
        </a:p>
      </dsp:txBody>
      <dsp:txXfrm>
        <a:off x="2732171" y="156926"/>
        <a:ext cx="5098044" cy="2302969"/>
      </dsp:txXfrm>
    </dsp:sp>
    <dsp:sp modelId="{7887EDED-12AF-4382-A7A3-8629FCB97637}">
      <dsp:nvSpPr>
        <dsp:cNvPr id="0" name=""/>
        <dsp:cNvSpPr/>
      </dsp:nvSpPr>
      <dsp:spPr>
        <a:xfrm>
          <a:off x="0" y="2483470"/>
          <a:ext cx="10594081" cy="2302969"/>
        </a:xfrm>
        <a:prstGeom prst="rect">
          <a:avLst/>
        </a:prstGeom>
        <a:solidFill>
          <a:srgbClr val="F0403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1" i="0" kern="1200" dirty="0"/>
            <a:t>Data Analyst:</a:t>
          </a:r>
          <a:r>
            <a:rPr lang="en-IN" sz="2400" b="0" i="0" kern="1200" dirty="0"/>
            <a:t> Manages signal processing and stress algorithm</a:t>
          </a:r>
        </a:p>
        <a:p>
          <a:pPr marL="0" lvl="0" indent="0" algn="l" defTabSz="1066800">
            <a:lnSpc>
              <a:spcPct val="90000"/>
            </a:lnSpc>
            <a:spcBef>
              <a:spcPct val="0"/>
            </a:spcBef>
            <a:spcAft>
              <a:spcPct val="35000"/>
            </a:spcAft>
            <a:buFont typeface="Arial" panose="020B0604020202020204" pitchFamily="34" charset="0"/>
            <a:buNone/>
          </a:pPr>
          <a:r>
            <a:rPr lang="en-US" sz="2400" b="1" i="0" kern="1200" dirty="0"/>
            <a:t>Project Lead:</a:t>
          </a:r>
          <a:r>
            <a:rPr lang="en-US" sz="2400" b="0" i="0" kern="1200" dirty="0"/>
            <a:t> Coordinates development, documentation, and deployment</a:t>
          </a:r>
          <a:endParaRPr lang="en-IN" sz="2400" kern="1200" dirty="0">
            <a:solidFill>
              <a:schemeClr val="bg1"/>
            </a:solidFill>
            <a:latin typeface="Montserrat" panose="00000500000000000000" pitchFamily="2" charset="0"/>
          </a:endParaRPr>
        </a:p>
      </dsp:txBody>
      <dsp:txXfrm>
        <a:off x="0" y="2483470"/>
        <a:ext cx="10594081" cy="230296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09CD44-6373-48BA-94CF-0D0DE4938535}">
      <dsp:nvSpPr>
        <dsp:cNvPr id="0" name=""/>
        <dsp:cNvSpPr/>
      </dsp:nvSpPr>
      <dsp:spPr>
        <a:xfrm>
          <a:off x="2568311" y="55627"/>
          <a:ext cx="5160972" cy="4963936"/>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i="0" kern="1200" dirty="0"/>
            <a:t>Team members:</a:t>
          </a:r>
          <a:r>
            <a:rPr lang="en-US" sz="2400" b="0" i="0" kern="1200" dirty="0"/>
            <a:t> Sri Venkata Krishna</a:t>
          </a:r>
          <a:br>
            <a:rPr lang="en-US" sz="2400" kern="1200" dirty="0"/>
          </a:br>
          <a:r>
            <a:rPr lang="en-US" sz="2400" b="1" i="0" kern="1200" dirty="0"/>
            <a:t>Phone:</a:t>
          </a:r>
          <a:r>
            <a:rPr lang="en-US" sz="2400" b="0" i="0" kern="1200" dirty="0"/>
            <a:t> 9989402587</a:t>
          </a:r>
        </a:p>
        <a:p>
          <a:pPr marL="0" lvl="0" indent="0" algn="ctr" defTabSz="1066800">
            <a:lnSpc>
              <a:spcPct val="90000"/>
            </a:lnSpc>
            <a:spcBef>
              <a:spcPct val="0"/>
            </a:spcBef>
            <a:spcAft>
              <a:spcPct val="35000"/>
            </a:spcAft>
            <a:buNone/>
          </a:pPr>
          <a:r>
            <a:rPr lang="en-US" sz="2400" b="1" i="0" kern="1200" dirty="0"/>
            <a:t>Team members :</a:t>
          </a:r>
          <a:r>
            <a:rPr lang="en-US" sz="2400" b="0" i="0" kern="1200" dirty="0"/>
            <a:t> S Sidesh Raj</a:t>
          </a:r>
          <a:br>
            <a:rPr lang="en-US" sz="2400" kern="1200" dirty="0"/>
          </a:br>
          <a:r>
            <a:rPr lang="en-US" sz="2400" b="1" i="0" kern="1200" dirty="0"/>
            <a:t>Phone:</a:t>
          </a:r>
          <a:r>
            <a:rPr lang="en-US" sz="2400" b="0" i="0" kern="1200" dirty="0"/>
            <a:t> 9942731253</a:t>
          </a:r>
          <a:br>
            <a:rPr lang="en-US" sz="2400" b="0" i="0" kern="1200" dirty="0"/>
          </a:br>
          <a:r>
            <a:rPr lang="en-US" sz="2400" b="1" i="0" kern="1200" dirty="0"/>
            <a:t>Team members :</a:t>
          </a:r>
          <a:r>
            <a:rPr lang="en-US" sz="2400" b="0" i="0" kern="1200" dirty="0"/>
            <a:t> N Gokul </a:t>
          </a:r>
          <a:r>
            <a:rPr lang="en-US" sz="2400" b="0" i="0" kern="1200" dirty="0" err="1"/>
            <a:t>Hutaasan</a:t>
          </a:r>
          <a:br>
            <a:rPr lang="en-US" sz="2400" kern="1200" dirty="0"/>
          </a:br>
          <a:r>
            <a:rPr lang="en-US" sz="2400" b="1" i="0" kern="1200" dirty="0"/>
            <a:t>Phone:</a:t>
          </a:r>
          <a:r>
            <a:rPr lang="en-US" sz="2400" b="0" i="0" kern="1200" dirty="0"/>
            <a:t> 6304554987</a:t>
          </a:r>
        </a:p>
        <a:p>
          <a:pPr marL="0" lvl="0" indent="0" algn="ctr" defTabSz="1066800">
            <a:lnSpc>
              <a:spcPct val="90000"/>
            </a:lnSpc>
            <a:spcBef>
              <a:spcPct val="0"/>
            </a:spcBef>
            <a:spcAft>
              <a:spcPct val="35000"/>
            </a:spcAft>
            <a:buNone/>
          </a:pPr>
          <a:r>
            <a:rPr lang="en-US" sz="2400" b="1" i="0" kern="1200" dirty="0"/>
            <a:t>Team members :</a:t>
          </a:r>
          <a:r>
            <a:rPr lang="en-US" sz="2400" b="0" i="0" kern="1200" dirty="0"/>
            <a:t> Y Surya </a:t>
          </a:r>
          <a:r>
            <a:rPr lang="en-US" sz="2400" b="0" i="0" kern="1200" dirty="0" err="1"/>
            <a:t>Prathapa</a:t>
          </a:r>
          <a:r>
            <a:rPr lang="en-US" sz="2400" b="0" i="0" kern="1200" dirty="0"/>
            <a:t> Reddy</a:t>
          </a:r>
          <a:br>
            <a:rPr lang="en-US" sz="2400" kern="1200" dirty="0"/>
          </a:br>
          <a:r>
            <a:rPr lang="en-US" sz="2400" b="1" i="0" kern="1200" dirty="0"/>
            <a:t>Phone:</a:t>
          </a:r>
          <a:r>
            <a:rPr lang="en-US" sz="2400" b="0" i="0" kern="1200" dirty="0"/>
            <a:t> 7780393847</a:t>
          </a:r>
        </a:p>
        <a:p>
          <a:pPr marL="0" lvl="0" indent="0" algn="ctr" defTabSz="1066800">
            <a:lnSpc>
              <a:spcPct val="90000"/>
            </a:lnSpc>
            <a:spcBef>
              <a:spcPct val="0"/>
            </a:spcBef>
            <a:spcAft>
              <a:spcPct val="35000"/>
            </a:spcAft>
            <a:buNone/>
          </a:pPr>
          <a:r>
            <a:rPr lang="en-US" sz="2400" b="1" i="0" kern="1200" dirty="0"/>
            <a:t>Team members :</a:t>
          </a:r>
          <a:r>
            <a:rPr lang="en-US" sz="2400" b="0" i="0" kern="1200" dirty="0"/>
            <a:t> D </a:t>
          </a:r>
          <a:r>
            <a:rPr lang="en-US" sz="2400" b="0" i="0" kern="1200" dirty="0" err="1"/>
            <a:t>Vinithri</a:t>
          </a:r>
          <a:r>
            <a:rPr lang="en-US" sz="2400" b="0" i="0" kern="1200" dirty="0"/>
            <a:t> </a:t>
          </a:r>
          <a:br>
            <a:rPr lang="en-US" sz="2400" kern="1200" dirty="0"/>
          </a:br>
          <a:r>
            <a:rPr lang="en-US" sz="2400" b="1" i="0" kern="1200" dirty="0"/>
            <a:t>Phone:</a:t>
          </a:r>
          <a:r>
            <a:rPr lang="en-US" sz="2400" b="0" i="0" kern="1200" dirty="0"/>
            <a:t> 8977952958</a:t>
          </a:r>
          <a:br>
            <a:rPr lang="en-US" sz="2400" kern="1200" dirty="0"/>
          </a:br>
          <a:endParaRPr lang="en-IN" sz="2400" kern="1200" dirty="0">
            <a:latin typeface="Montserrat" panose="00000500000000000000" pitchFamily="2" charset="0"/>
          </a:endParaRPr>
        </a:p>
      </dsp:txBody>
      <dsp:txXfrm>
        <a:off x="2568311" y="55627"/>
        <a:ext cx="5160972" cy="496393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0DEBC1-D45A-4584-BEC9-4C32FB35D207}"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B8F7D2-DBF7-47B1-8A95-599CF99D4995}" type="slidenum">
              <a:rPr lang="en-US" smtClean="0"/>
              <a:t>‹#›</a:t>
            </a:fld>
            <a:endParaRPr lang="en-US"/>
          </a:p>
        </p:txBody>
      </p:sp>
    </p:spTree>
    <p:extLst>
      <p:ext uri="{BB962C8B-B14F-4D97-AF65-F5344CB8AC3E}">
        <p14:creationId xmlns:p14="http://schemas.microsoft.com/office/powerpoint/2010/main" val="368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18" Type="http://schemas.openxmlformats.org/officeDocument/2006/relationships/image" Target="../media/image19.png"/><Relationship Id="rId3" Type="http://schemas.openxmlformats.org/officeDocument/2006/relationships/image" Target="../media/image4.svg"/><Relationship Id="rId7" Type="http://schemas.openxmlformats.org/officeDocument/2006/relationships/image" Target="../media/image8.svg"/><Relationship Id="rId12" Type="http://schemas.openxmlformats.org/officeDocument/2006/relationships/image" Target="../media/image13.png"/><Relationship Id="rId17" Type="http://schemas.openxmlformats.org/officeDocument/2006/relationships/image" Target="../media/image18.svg"/><Relationship Id="rId2" Type="http://schemas.openxmlformats.org/officeDocument/2006/relationships/image" Target="../media/image3.png"/><Relationship Id="rId16"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5" Type="http://schemas.openxmlformats.org/officeDocument/2006/relationships/image" Target="../media/image1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 Id="rId14"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76E162F-09E4-4F97-91E2-A255FA795549}"/>
              </a:ext>
            </a:extLst>
          </p:cNvPr>
          <p:cNvPicPr>
            <a:picLocks noChangeAspect="1"/>
          </p:cNvPicPr>
          <p:nvPr userDrawn="1"/>
        </p:nvPicPr>
        <p:blipFill>
          <a:blip r:embed="rId2">
            <a:extLst>
              <a:ext uri="{28A0092B-C50C-407E-A947-70E740481C1C}">
                <a14:useLocalDpi xmlns:a14="http://schemas.microsoft.com/office/drawing/2010/main" val="0"/>
              </a:ext>
            </a:extLst>
          </a:blip>
          <a:srcRect l="5667" t="16155" r="46167" b="14753"/>
          <a:stretch>
            <a:fillRect/>
          </a:stretch>
        </p:blipFill>
        <p:spPr>
          <a:xfrm>
            <a:off x="690880" y="1107905"/>
            <a:ext cx="5872480" cy="4738300"/>
          </a:xfrm>
          <a:custGeom>
            <a:avLst/>
            <a:gdLst>
              <a:gd name="connsiteX0" fmla="*/ 4174488 w 5872480"/>
              <a:gd name="connsiteY0" fmla="*/ 1655999 h 4738300"/>
              <a:gd name="connsiteX1" fmla="*/ 5049498 w 5872480"/>
              <a:gd name="connsiteY1" fmla="*/ 1655999 h 4738300"/>
              <a:gd name="connsiteX2" fmla="*/ 4611993 w 5872480"/>
              <a:gd name="connsiteY2" fmla="*/ 2410318 h 4738300"/>
              <a:gd name="connsiteX3" fmla="*/ 4611993 w 5872480"/>
              <a:gd name="connsiteY3" fmla="*/ 825866 h 4738300"/>
              <a:gd name="connsiteX4" fmla="*/ 5049498 w 5872480"/>
              <a:gd name="connsiteY4" fmla="*/ 1580184 h 4738300"/>
              <a:gd name="connsiteX5" fmla="*/ 4174488 w 5872480"/>
              <a:gd name="connsiteY5" fmla="*/ 1580184 h 4738300"/>
              <a:gd name="connsiteX6" fmla="*/ 1759292 w 5872480"/>
              <a:gd name="connsiteY6" fmla="*/ 687469 h 4738300"/>
              <a:gd name="connsiteX7" fmla="*/ 3231335 w 5872480"/>
              <a:gd name="connsiteY7" fmla="*/ 3225474 h 4738300"/>
              <a:gd name="connsiteX8" fmla="*/ 4113188 w 5872480"/>
              <a:gd name="connsiteY8" fmla="*/ 1705039 h 4738300"/>
              <a:gd name="connsiteX9" fmla="*/ 5872480 w 5872480"/>
              <a:gd name="connsiteY9" fmla="*/ 4738300 h 4738300"/>
              <a:gd name="connsiteX10" fmla="*/ 2353896 w 5872480"/>
              <a:gd name="connsiteY10" fmla="*/ 4738300 h 4738300"/>
              <a:gd name="connsiteX11" fmla="*/ 2944086 w 5872480"/>
              <a:gd name="connsiteY11" fmla="*/ 3720731 h 4738300"/>
              <a:gd name="connsiteX12" fmla="*/ 0 w 5872480"/>
              <a:gd name="connsiteY12" fmla="*/ 3720731 h 4738300"/>
              <a:gd name="connsiteX13" fmla="*/ 1469615 w 5872480"/>
              <a:gd name="connsiteY13" fmla="*/ 0 h 4738300"/>
              <a:gd name="connsiteX14" fmla="*/ 4988199 w 5872480"/>
              <a:gd name="connsiteY14" fmla="*/ 0 h 4738300"/>
              <a:gd name="connsiteX15" fmla="*/ 3228907 w 5872480"/>
              <a:gd name="connsiteY15" fmla="*/ 3033262 h 47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72480" h="4738300">
                <a:moveTo>
                  <a:pt x="4174488" y="1655999"/>
                </a:moveTo>
                <a:lnTo>
                  <a:pt x="5049498" y="1655999"/>
                </a:lnTo>
                <a:lnTo>
                  <a:pt x="4611993" y="2410318"/>
                </a:lnTo>
                <a:close/>
                <a:moveTo>
                  <a:pt x="4611993" y="825866"/>
                </a:moveTo>
                <a:lnTo>
                  <a:pt x="5049498" y="1580184"/>
                </a:lnTo>
                <a:lnTo>
                  <a:pt x="4174488" y="1580184"/>
                </a:lnTo>
                <a:close/>
                <a:moveTo>
                  <a:pt x="1759292" y="687469"/>
                </a:moveTo>
                <a:lnTo>
                  <a:pt x="3231335" y="3225474"/>
                </a:lnTo>
                <a:lnTo>
                  <a:pt x="4113188" y="1705039"/>
                </a:lnTo>
                <a:lnTo>
                  <a:pt x="5872480" y="4738300"/>
                </a:lnTo>
                <a:lnTo>
                  <a:pt x="2353896" y="4738300"/>
                </a:lnTo>
                <a:lnTo>
                  <a:pt x="2944086" y="3720731"/>
                </a:lnTo>
                <a:lnTo>
                  <a:pt x="0" y="3720731"/>
                </a:lnTo>
                <a:close/>
                <a:moveTo>
                  <a:pt x="1469615" y="0"/>
                </a:moveTo>
                <a:lnTo>
                  <a:pt x="4988199" y="0"/>
                </a:lnTo>
                <a:lnTo>
                  <a:pt x="3228907" y="3033262"/>
                </a:lnTo>
                <a:close/>
              </a:path>
            </a:pathLst>
          </a:custGeom>
        </p:spPr>
      </p:pic>
    </p:spTree>
    <p:extLst>
      <p:ext uri="{BB962C8B-B14F-4D97-AF65-F5344CB8AC3E}">
        <p14:creationId xmlns:p14="http://schemas.microsoft.com/office/powerpoint/2010/main" val="1008767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EF6555-EF9F-4581-A38A-38BDC30ED10E}"/>
              </a:ext>
            </a:extLst>
          </p:cNvPr>
          <p:cNvPicPr>
            <a:picLocks noChangeAspect="1"/>
          </p:cNvPicPr>
          <p:nvPr userDrawn="1"/>
        </p:nvPicPr>
        <p:blipFill>
          <a:blip r:embed="rId2">
            <a:extLst>
              <a:ext uri="{28A0092B-C50C-407E-A947-70E740481C1C}">
                <a14:useLocalDpi xmlns:a14="http://schemas.microsoft.com/office/drawing/2010/main" val="0"/>
              </a:ext>
            </a:extLst>
          </a:blip>
          <a:srcRect l="53250" t="5241" r="3417" b="5241"/>
          <a:stretch>
            <a:fillRect/>
          </a:stretch>
        </p:blipFill>
        <p:spPr>
          <a:xfrm>
            <a:off x="6492239" y="359410"/>
            <a:ext cx="5283200" cy="6139180"/>
          </a:xfrm>
          <a:custGeom>
            <a:avLst/>
            <a:gdLst>
              <a:gd name="connsiteX0" fmla="*/ 1334703 w 5283200"/>
              <a:gd name="connsiteY0" fmla="*/ 3802380 h 6139180"/>
              <a:gd name="connsiteX1" fmla="*/ 2613794 w 5283200"/>
              <a:gd name="connsiteY1" fmla="*/ 3802380 h 6139180"/>
              <a:gd name="connsiteX2" fmla="*/ 2613794 w 5283200"/>
              <a:gd name="connsiteY2" fmla="*/ 6139180 h 6139180"/>
              <a:gd name="connsiteX3" fmla="*/ 1334703 w 5283200"/>
              <a:gd name="connsiteY3" fmla="*/ 6139180 h 6139180"/>
              <a:gd name="connsiteX4" fmla="*/ 4004109 w 5283200"/>
              <a:gd name="connsiteY4" fmla="*/ 2413000 h 6139180"/>
              <a:gd name="connsiteX5" fmla="*/ 5283200 w 5283200"/>
              <a:gd name="connsiteY5" fmla="*/ 2413000 h 6139180"/>
              <a:gd name="connsiteX6" fmla="*/ 5283200 w 5283200"/>
              <a:gd name="connsiteY6" fmla="*/ 4749800 h 6139180"/>
              <a:gd name="connsiteX7" fmla="*/ 4004109 w 5283200"/>
              <a:gd name="connsiteY7" fmla="*/ 4749800 h 6139180"/>
              <a:gd name="connsiteX8" fmla="*/ 0 w 5283200"/>
              <a:gd name="connsiteY8" fmla="*/ 1022350 h 6139180"/>
              <a:gd name="connsiteX9" fmla="*/ 1279091 w 5283200"/>
              <a:gd name="connsiteY9" fmla="*/ 1022350 h 6139180"/>
              <a:gd name="connsiteX10" fmla="*/ 1279091 w 5283200"/>
              <a:gd name="connsiteY10" fmla="*/ 4768850 h 6139180"/>
              <a:gd name="connsiteX11" fmla="*/ 0 w 5283200"/>
              <a:gd name="connsiteY11" fmla="*/ 4768850 h 6139180"/>
              <a:gd name="connsiteX12" fmla="*/ 2669406 w 5283200"/>
              <a:gd name="connsiteY12" fmla="*/ 1003301 h 6139180"/>
              <a:gd name="connsiteX13" fmla="*/ 3948497 w 5283200"/>
              <a:gd name="connsiteY13" fmla="*/ 1003301 h 6139180"/>
              <a:gd name="connsiteX14" fmla="*/ 3948497 w 5283200"/>
              <a:gd name="connsiteY14" fmla="*/ 5435600 h 6139180"/>
              <a:gd name="connsiteX15" fmla="*/ 2669406 w 5283200"/>
              <a:gd name="connsiteY15" fmla="*/ 5435600 h 6139180"/>
              <a:gd name="connsiteX16" fmla="*/ 1334703 w 5283200"/>
              <a:gd name="connsiteY16" fmla="*/ 0 h 6139180"/>
              <a:gd name="connsiteX17" fmla="*/ 2613794 w 5283200"/>
              <a:gd name="connsiteY17" fmla="*/ 0 h 6139180"/>
              <a:gd name="connsiteX18" fmla="*/ 2613794 w 5283200"/>
              <a:gd name="connsiteY18" fmla="*/ 3746500 h 6139180"/>
              <a:gd name="connsiteX19" fmla="*/ 1334703 w 5283200"/>
              <a:gd name="connsiteY19" fmla="*/ 3746500 h 613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3200" h="6139180">
                <a:moveTo>
                  <a:pt x="1334703" y="3802380"/>
                </a:moveTo>
                <a:lnTo>
                  <a:pt x="2613794" y="3802380"/>
                </a:lnTo>
                <a:lnTo>
                  <a:pt x="2613794" y="6139180"/>
                </a:lnTo>
                <a:lnTo>
                  <a:pt x="1334703" y="6139180"/>
                </a:lnTo>
                <a:close/>
                <a:moveTo>
                  <a:pt x="4004109" y="2413000"/>
                </a:moveTo>
                <a:lnTo>
                  <a:pt x="5283200" y="2413000"/>
                </a:lnTo>
                <a:lnTo>
                  <a:pt x="5283200" y="4749800"/>
                </a:lnTo>
                <a:lnTo>
                  <a:pt x="4004109" y="4749800"/>
                </a:lnTo>
                <a:close/>
                <a:moveTo>
                  <a:pt x="0" y="1022350"/>
                </a:moveTo>
                <a:lnTo>
                  <a:pt x="1279091" y="1022350"/>
                </a:lnTo>
                <a:lnTo>
                  <a:pt x="1279091" y="4768850"/>
                </a:lnTo>
                <a:lnTo>
                  <a:pt x="0" y="4768850"/>
                </a:lnTo>
                <a:close/>
                <a:moveTo>
                  <a:pt x="2669406" y="1003301"/>
                </a:moveTo>
                <a:lnTo>
                  <a:pt x="3948497" y="1003301"/>
                </a:lnTo>
                <a:lnTo>
                  <a:pt x="3948497" y="5435600"/>
                </a:lnTo>
                <a:lnTo>
                  <a:pt x="2669406" y="5435600"/>
                </a:lnTo>
                <a:close/>
                <a:moveTo>
                  <a:pt x="1334703" y="0"/>
                </a:moveTo>
                <a:lnTo>
                  <a:pt x="2613794" y="0"/>
                </a:lnTo>
                <a:lnTo>
                  <a:pt x="2613794" y="3746500"/>
                </a:lnTo>
                <a:lnTo>
                  <a:pt x="1334703" y="3746500"/>
                </a:lnTo>
                <a:close/>
              </a:path>
            </a:pathLst>
          </a:custGeom>
        </p:spPr>
      </p:pic>
    </p:spTree>
    <p:extLst>
      <p:ext uri="{BB962C8B-B14F-4D97-AF65-F5344CB8AC3E}">
        <p14:creationId xmlns:p14="http://schemas.microsoft.com/office/powerpoint/2010/main" val="2941575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8BCEE87-031F-49C9-AC3B-784278BEAFBC}"/>
              </a:ext>
            </a:extLst>
          </p:cNvPr>
          <p:cNvPicPr>
            <a:picLocks noChangeAspect="1"/>
          </p:cNvPicPr>
          <p:nvPr userDrawn="1"/>
        </p:nvPicPr>
        <p:blipFill>
          <a:blip r:embed="rId2">
            <a:extLst>
              <a:ext uri="{28A0092B-C50C-407E-A947-70E740481C1C}">
                <a14:useLocalDpi xmlns:a14="http://schemas.microsoft.com/office/drawing/2010/main" val="0"/>
              </a:ext>
            </a:extLst>
          </a:blip>
          <a:srcRect b="28000"/>
          <a:stretch>
            <a:fillRect/>
          </a:stretch>
        </p:blipFill>
        <p:spPr>
          <a:xfrm>
            <a:off x="0" y="1"/>
            <a:ext cx="12192000" cy="4937759"/>
          </a:xfrm>
          <a:custGeom>
            <a:avLst/>
            <a:gdLst>
              <a:gd name="connsiteX0" fmla="*/ 0 w 12192000"/>
              <a:gd name="connsiteY0" fmla="*/ 0 h 4937759"/>
              <a:gd name="connsiteX1" fmla="*/ 12192000 w 12192000"/>
              <a:gd name="connsiteY1" fmla="*/ 0 h 4937759"/>
              <a:gd name="connsiteX2" fmla="*/ 12192000 w 12192000"/>
              <a:gd name="connsiteY2" fmla="*/ 4937759 h 4937759"/>
              <a:gd name="connsiteX3" fmla="*/ 0 w 12192000"/>
              <a:gd name="connsiteY3" fmla="*/ 4937759 h 4937759"/>
            </a:gdLst>
            <a:ahLst/>
            <a:cxnLst>
              <a:cxn ang="0">
                <a:pos x="connsiteX0" y="connsiteY0"/>
              </a:cxn>
              <a:cxn ang="0">
                <a:pos x="connsiteX1" y="connsiteY1"/>
              </a:cxn>
              <a:cxn ang="0">
                <a:pos x="connsiteX2" y="connsiteY2"/>
              </a:cxn>
              <a:cxn ang="0">
                <a:pos x="connsiteX3" y="connsiteY3"/>
              </a:cxn>
            </a:cxnLst>
            <a:rect l="l" t="t" r="r" b="b"/>
            <a:pathLst>
              <a:path w="12192000" h="4937759">
                <a:moveTo>
                  <a:pt x="0" y="0"/>
                </a:moveTo>
                <a:lnTo>
                  <a:pt x="12192000" y="0"/>
                </a:lnTo>
                <a:lnTo>
                  <a:pt x="12192000" y="4937759"/>
                </a:lnTo>
                <a:lnTo>
                  <a:pt x="0" y="4937759"/>
                </a:lnTo>
                <a:close/>
              </a:path>
            </a:pathLst>
          </a:custGeom>
        </p:spPr>
      </p:pic>
    </p:spTree>
    <p:extLst>
      <p:ext uri="{BB962C8B-B14F-4D97-AF65-F5344CB8AC3E}">
        <p14:creationId xmlns:p14="http://schemas.microsoft.com/office/powerpoint/2010/main" val="3263859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9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8304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Left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2898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CA8310F-4D2E-431D-ACB1-4BAFF2853B4F}" type="datetimeFigureOut">
              <a:rPr lang="en-IN" smtClean="0"/>
              <a:t>02-12-2025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B09D83-CF09-43CB-9643-4CF430E56C9B}" type="slidenum">
              <a:rPr lang="en-IN" smtClean="0"/>
              <a:t>‹#›</a:t>
            </a:fld>
            <a:endParaRPr lang="en-IN"/>
          </a:p>
        </p:txBody>
      </p:sp>
    </p:spTree>
    <p:extLst>
      <p:ext uri="{BB962C8B-B14F-4D97-AF65-F5344CB8AC3E}">
        <p14:creationId xmlns:p14="http://schemas.microsoft.com/office/powerpoint/2010/main" val="2897476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usiness Model Canvas">
    <p:spTree>
      <p:nvGrpSpPr>
        <p:cNvPr id="1" name=""/>
        <p:cNvGrpSpPr/>
        <p:nvPr/>
      </p:nvGrpSpPr>
      <p:grpSpPr>
        <a:xfrm>
          <a:off x="0" y="0"/>
          <a:ext cx="0" cy="0"/>
          <a:chOff x="0" y="0"/>
          <a:chExt cx="0" cy="0"/>
        </a:xfrm>
      </p:grpSpPr>
      <p:pic>
        <p:nvPicPr>
          <p:cNvPr id="6" name="Graphic 5" descr="Employee badge">
            <a:extLst>
              <a:ext uri="{FF2B5EF4-FFF2-40B4-BE49-F238E27FC236}">
                <a16:creationId xmlns:a16="http://schemas.microsoft.com/office/drawing/2014/main" id="{637D86DF-E6FE-4EFC-B80B-25ECFCAE1D1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84783" y="2336009"/>
            <a:ext cx="576000" cy="576000"/>
          </a:xfrm>
          <a:prstGeom prst="rect">
            <a:avLst/>
          </a:prstGeom>
        </p:spPr>
      </p:pic>
      <p:pic>
        <p:nvPicPr>
          <p:cNvPr id="7" name="Graphic 6" descr="Lightbulb and gear">
            <a:extLst>
              <a:ext uri="{FF2B5EF4-FFF2-40B4-BE49-F238E27FC236}">
                <a16:creationId xmlns:a16="http://schemas.microsoft.com/office/drawing/2014/main" id="{36FF85F1-BDF0-4421-9281-0C6398B12360}"/>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07987" y="2319801"/>
            <a:ext cx="576000" cy="576000"/>
          </a:xfrm>
          <a:prstGeom prst="rect">
            <a:avLst/>
          </a:prstGeom>
        </p:spPr>
      </p:pic>
      <p:pic>
        <p:nvPicPr>
          <p:cNvPr id="8" name="Graphic 7" descr="Money">
            <a:extLst>
              <a:ext uri="{FF2B5EF4-FFF2-40B4-BE49-F238E27FC236}">
                <a16:creationId xmlns:a16="http://schemas.microsoft.com/office/drawing/2014/main" id="{30A756DC-A7F2-4832-95C3-A7F702BE36C1}"/>
              </a:ext>
            </a:extLst>
          </p:cNvPr>
          <p:cNvPicPr>
            <a:picLocks noChangeAspect="1"/>
          </p:cNvPicPr>
          <p:nvPr userDrawn="1"/>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845851" y="5730612"/>
            <a:ext cx="576000" cy="576000"/>
          </a:xfrm>
          <a:prstGeom prst="rect">
            <a:avLst/>
          </a:prstGeom>
        </p:spPr>
      </p:pic>
      <p:pic>
        <p:nvPicPr>
          <p:cNvPr id="9" name="Graphic 8" descr="Eye">
            <a:extLst>
              <a:ext uri="{FF2B5EF4-FFF2-40B4-BE49-F238E27FC236}">
                <a16:creationId xmlns:a16="http://schemas.microsoft.com/office/drawing/2014/main" id="{90C45DE2-636A-4272-80A6-C3F367341FCC}"/>
              </a:ext>
            </a:extLst>
          </p:cNvPr>
          <p:cNvPicPr>
            <a:picLocks noChangeAspect="1"/>
          </p:cNvPicPr>
          <p:nvPr userDrawn="1"/>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46400" y="1458813"/>
            <a:ext cx="576000" cy="576000"/>
          </a:xfrm>
          <a:prstGeom prst="rect">
            <a:avLst/>
          </a:prstGeom>
        </p:spPr>
      </p:pic>
      <p:pic>
        <p:nvPicPr>
          <p:cNvPr id="10" name="Graphic 9" descr="Money">
            <a:extLst>
              <a:ext uri="{FF2B5EF4-FFF2-40B4-BE49-F238E27FC236}">
                <a16:creationId xmlns:a16="http://schemas.microsoft.com/office/drawing/2014/main" id="{CFA85E23-33A8-4D40-ABE4-01A7400CDA47}"/>
              </a:ext>
            </a:extLst>
          </p:cNvPr>
          <p:cNvPicPr>
            <a:picLocks noChangeAspect="1"/>
          </p:cNvPicPr>
          <p:nvPr userDrawn="1"/>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533776" y="5719233"/>
            <a:ext cx="576000" cy="576000"/>
          </a:xfrm>
          <a:prstGeom prst="rect">
            <a:avLst/>
          </a:prstGeom>
        </p:spPr>
      </p:pic>
      <p:pic>
        <p:nvPicPr>
          <p:cNvPr id="11" name="Graphic 10" descr="Customer review">
            <a:extLst>
              <a:ext uri="{FF2B5EF4-FFF2-40B4-BE49-F238E27FC236}">
                <a16:creationId xmlns:a16="http://schemas.microsoft.com/office/drawing/2014/main" id="{69051EB2-5216-417F-B73E-6784CDD2FF7F}"/>
              </a:ext>
            </a:extLst>
          </p:cNvPr>
          <p:cNvPicPr>
            <a:picLocks noChangeAspect="1"/>
          </p:cNvPicPr>
          <p:nvPr userDrawn="1"/>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897935" y="2286571"/>
            <a:ext cx="576000" cy="576000"/>
          </a:xfrm>
          <a:prstGeom prst="rect">
            <a:avLst/>
          </a:prstGeom>
        </p:spPr>
      </p:pic>
      <p:pic>
        <p:nvPicPr>
          <p:cNvPr id="12" name="Graphic 11" descr="Playbook">
            <a:extLst>
              <a:ext uri="{FF2B5EF4-FFF2-40B4-BE49-F238E27FC236}">
                <a16:creationId xmlns:a16="http://schemas.microsoft.com/office/drawing/2014/main" id="{993A030E-7204-473A-B4EE-C988DB0C50A1}"/>
              </a:ext>
            </a:extLst>
          </p:cNvPr>
          <p:cNvPicPr>
            <a:picLocks noChangeAspect="1"/>
          </p:cNvPicPr>
          <p:nvPr userDrawn="1"/>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flipH="1">
            <a:off x="8246400" y="3607978"/>
            <a:ext cx="576000" cy="576000"/>
          </a:xfrm>
          <a:prstGeom prst="rect">
            <a:avLst/>
          </a:prstGeom>
        </p:spPr>
      </p:pic>
      <p:pic>
        <p:nvPicPr>
          <p:cNvPr id="13" name="Graphic 12" descr="Puzzle pieces">
            <a:extLst>
              <a:ext uri="{FF2B5EF4-FFF2-40B4-BE49-F238E27FC236}">
                <a16:creationId xmlns:a16="http://schemas.microsoft.com/office/drawing/2014/main" id="{60A24F37-E2D3-4ABF-BB27-7F476B0EEF24}"/>
              </a:ext>
            </a:extLst>
          </p:cNvPr>
          <p:cNvPicPr>
            <a:picLocks noChangeAspect="1"/>
          </p:cNvPicPr>
          <p:nvPr userDrawn="1"/>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flipH="1">
            <a:off x="3368807" y="3607978"/>
            <a:ext cx="576000" cy="576000"/>
          </a:xfrm>
          <a:prstGeom prst="rect">
            <a:avLst/>
          </a:prstGeom>
        </p:spPr>
      </p:pic>
      <p:pic>
        <p:nvPicPr>
          <p:cNvPr id="14" name="Graphic 13" descr="Checklist">
            <a:extLst>
              <a:ext uri="{FF2B5EF4-FFF2-40B4-BE49-F238E27FC236}">
                <a16:creationId xmlns:a16="http://schemas.microsoft.com/office/drawing/2014/main" id="{08EE316E-A639-43A7-9113-D5E0BE7A6A72}"/>
              </a:ext>
            </a:extLst>
          </p:cNvPr>
          <p:cNvPicPr>
            <a:picLocks noChangeAspect="1"/>
          </p:cNvPicPr>
          <p:nvPr userDrawn="1"/>
        </p:nvPicPr>
        <p:blipFill>
          <a:blip r:embed="rId16"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372136" y="1453661"/>
            <a:ext cx="576000" cy="576000"/>
          </a:xfrm>
          <a:prstGeom prst="rect">
            <a:avLst/>
          </a:prstGeom>
        </p:spPr>
      </p:pic>
      <p:sp>
        <p:nvSpPr>
          <p:cNvPr id="15" name="Text Placeholder 6">
            <a:extLst>
              <a:ext uri="{FF2B5EF4-FFF2-40B4-BE49-F238E27FC236}">
                <a16:creationId xmlns:a16="http://schemas.microsoft.com/office/drawing/2014/main" id="{FF93AC94-FD78-419D-9550-E5BA2E79C20F}"/>
              </a:ext>
            </a:extLst>
          </p:cNvPr>
          <p:cNvSpPr>
            <a:spLocks noGrp="1"/>
          </p:cNvSpPr>
          <p:nvPr>
            <p:ph type="body" sz="quarter" idx="28" hasCustomPrompt="1"/>
          </p:nvPr>
        </p:nvSpPr>
        <p:spPr>
          <a:xfrm>
            <a:off x="20639" y="5180278"/>
            <a:ext cx="6049168" cy="1653910"/>
          </a:xfrm>
        </p:spPr>
        <p:txBody>
          <a:bodyPr lIns="36000" tIns="36000" rIns="36000" bIns="36000">
            <a:normAutofit/>
          </a:bodyPr>
          <a:lstStyle>
            <a:lvl1pPr marL="108000" indent="-108000">
              <a:spcBef>
                <a:spcPts val="200"/>
              </a:spcBef>
              <a:defRPr sz="1100"/>
            </a:lvl1pPr>
            <a:lvl2pPr marL="216000" indent="-108000">
              <a:spcBef>
                <a:spcPts val="200"/>
              </a:spcBef>
              <a:defRPr sz="1050"/>
            </a:lvl2pPr>
            <a:lvl3pPr marL="324000" indent="-108000">
              <a:spcBef>
                <a:spcPts val="200"/>
              </a:spcBef>
              <a:defRPr sz="1000"/>
            </a:lvl3pPr>
            <a:lvl4pPr marL="432000" indent="-108000">
              <a:spcBef>
                <a:spcPts val="200"/>
              </a:spcBef>
              <a:defRPr sz="900"/>
            </a:lvl4pPr>
          </a:lstStyle>
          <a:p>
            <a:pPr lvl="0"/>
            <a:r>
              <a:rPr lang="en-US" dirty="0"/>
              <a:t>What might your resources cost? Will your channels take commission of your sales?</a:t>
            </a:r>
          </a:p>
          <a:p>
            <a:pPr lvl="1"/>
            <a:r>
              <a:rPr lang="en-US" dirty="0"/>
              <a:t>Second level</a:t>
            </a:r>
          </a:p>
          <a:p>
            <a:pPr lvl="2"/>
            <a:r>
              <a:rPr lang="en-US" dirty="0"/>
              <a:t>Third level</a:t>
            </a:r>
          </a:p>
          <a:p>
            <a:pPr lvl="3"/>
            <a:r>
              <a:rPr lang="en-US" dirty="0"/>
              <a:t>Fourth level</a:t>
            </a:r>
          </a:p>
        </p:txBody>
      </p:sp>
      <p:sp>
        <p:nvSpPr>
          <p:cNvPr id="16" name="Text Placeholder 6">
            <a:extLst>
              <a:ext uri="{FF2B5EF4-FFF2-40B4-BE49-F238E27FC236}">
                <a16:creationId xmlns:a16="http://schemas.microsoft.com/office/drawing/2014/main" id="{EDF5CB28-FD6D-4186-B15C-C90D5128E630}"/>
              </a:ext>
            </a:extLst>
          </p:cNvPr>
          <p:cNvSpPr>
            <a:spLocks noGrp="1"/>
          </p:cNvSpPr>
          <p:nvPr>
            <p:ph type="body" sz="quarter" idx="21" hasCustomPrompt="1"/>
          </p:nvPr>
        </p:nvSpPr>
        <p:spPr>
          <a:xfrm>
            <a:off x="20638" y="885825"/>
            <a:ext cx="2398712" cy="3870761"/>
          </a:xfrm>
        </p:spPr>
        <p:txBody>
          <a:bodyPr lIns="36000" tIns="36000" rIns="36000" bIns="36000">
            <a:normAutofit/>
          </a:bodyPr>
          <a:lstStyle>
            <a:lvl1pPr marL="108000" indent="-108000">
              <a:spcBef>
                <a:spcPts val="200"/>
              </a:spcBef>
              <a:defRPr sz="1100"/>
            </a:lvl1pPr>
            <a:lvl2pPr marL="216000" indent="-108000">
              <a:spcBef>
                <a:spcPts val="200"/>
              </a:spcBef>
              <a:defRPr sz="1050"/>
            </a:lvl2pPr>
            <a:lvl3pPr marL="324000" indent="-108000">
              <a:spcBef>
                <a:spcPts val="200"/>
              </a:spcBef>
              <a:defRPr sz="1000"/>
            </a:lvl3pPr>
            <a:lvl4pPr marL="432000" indent="-108000">
              <a:spcBef>
                <a:spcPts val="200"/>
              </a:spcBef>
              <a:defRPr sz="900"/>
            </a:lvl4pPr>
          </a:lstStyle>
          <a:p>
            <a:pPr lvl="0"/>
            <a:r>
              <a:rPr lang="en-US" dirty="0"/>
              <a:t>Do you need partners and suppliers to make the business work?</a:t>
            </a:r>
          </a:p>
          <a:p>
            <a:pPr lvl="1"/>
            <a:r>
              <a:rPr lang="en-US" dirty="0"/>
              <a:t>Second level</a:t>
            </a:r>
          </a:p>
          <a:p>
            <a:pPr lvl="2"/>
            <a:r>
              <a:rPr lang="en-US" dirty="0"/>
              <a:t>Third level</a:t>
            </a:r>
          </a:p>
          <a:p>
            <a:pPr lvl="3"/>
            <a:r>
              <a:rPr lang="en-US" dirty="0"/>
              <a:t>Fourth level</a:t>
            </a:r>
          </a:p>
        </p:txBody>
      </p:sp>
      <p:sp>
        <p:nvSpPr>
          <p:cNvPr id="17" name="Text Placeholder 6">
            <a:extLst>
              <a:ext uri="{FF2B5EF4-FFF2-40B4-BE49-F238E27FC236}">
                <a16:creationId xmlns:a16="http://schemas.microsoft.com/office/drawing/2014/main" id="{2865A4CB-6B56-4C68-B874-2C5E731E5F2A}"/>
              </a:ext>
            </a:extLst>
          </p:cNvPr>
          <p:cNvSpPr>
            <a:spLocks noGrp="1"/>
          </p:cNvSpPr>
          <p:nvPr>
            <p:ph type="body" sz="quarter" idx="22" hasCustomPrompt="1"/>
          </p:nvPr>
        </p:nvSpPr>
        <p:spPr>
          <a:xfrm>
            <a:off x="2457451" y="885825"/>
            <a:ext cx="2398712" cy="1721976"/>
          </a:xfrm>
        </p:spPr>
        <p:txBody>
          <a:bodyPr lIns="36000" tIns="36000" rIns="36000" bIns="36000">
            <a:normAutofit/>
          </a:bodyPr>
          <a:lstStyle>
            <a:lvl1pPr marL="108000" indent="-108000">
              <a:spcBef>
                <a:spcPts val="200"/>
              </a:spcBef>
              <a:defRPr sz="1100"/>
            </a:lvl1pPr>
            <a:lvl2pPr marL="216000" indent="-108000">
              <a:spcBef>
                <a:spcPts val="200"/>
              </a:spcBef>
              <a:defRPr sz="1050"/>
            </a:lvl2pPr>
            <a:lvl3pPr marL="324000" indent="-108000">
              <a:spcBef>
                <a:spcPts val="200"/>
              </a:spcBef>
              <a:defRPr sz="1000"/>
            </a:lvl3pPr>
            <a:lvl4pPr marL="432000" indent="-108000">
              <a:spcBef>
                <a:spcPts val="200"/>
              </a:spcBef>
              <a:defRPr sz="900"/>
            </a:lvl4pPr>
          </a:lstStyle>
          <a:p>
            <a:pPr lvl="0"/>
            <a:r>
              <a:rPr lang="en-US" dirty="0"/>
              <a:t>Do we source raw materials? Engage customers for retail sales? How might you maintain visibility of your business performance?</a:t>
            </a:r>
          </a:p>
          <a:p>
            <a:pPr lvl="1"/>
            <a:r>
              <a:rPr lang="en-US" dirty="0"/>
              <a:t>Second level</a:t>
            </a:r>
          </a:p>
          <a:p>
            <a:pPr lvl="2"/>
            <a:r>
              <a:rPr lang="en-US" dirty="0"/>
              <a:t>Third level</a:t>
            </a:r>
          </a:p>
          <a:p>
            <a:pPr lvl="3"/>
            <a:r>
              <a:rPr lang="en-US" dirty="0"/>
              <a:t>Fourth level</a:t>
            </a:r>
          </a:p>
        </p:txBody>
      </p:sp>
      <p:sp>
        <p:nvSpPr>
          <p:cNvPr id="18" name="Text Placeholder 6">
            <a:extLst>
              <a:ext uri="{FF2B5EF4-FFF2-40B4-BE49-F238E27FC236}">
                <a16:creationId xmlns:a16="http://schemas.microsoft.com/office/drawing/2014/main" id="{172570D5-7874-436D-963D-194BDD6642C7}"/>
              </a:ext>
            </a:extLst>
          </p:cNvPr>
          <p:cNvSpPr>
            <a:spLocks noGrp="1"/>
          </p:cNvSpPr>
          <p:nvPr>
            <p:ph type="body" sz="quarter" idx="23" hasCustomPrompt="1"/>
          </p:nvPr>
        </p:nvSpPr>
        <p:spPr>
          <a:xfrm>
            <a:off x="4890508" y="885825"/>
            <a:ext cx="2398712" cy="3870761"/>
          </a:xfrm>
        </p:spPr>
        <p:txBody>
          <a:bodyPr lIns="36000" tIns="36000" rIns="36000" bIns="36000">
            <a:normAutofit/>
          </a:bodyPr>
          <a:lstStyle>
            <a:lvl1pPr marL="108000" indent="-108000">
              <a:spcBef>
                <a:spcPts val="200"/>
              </a:spcBef>
              <a:defRPr sz="1100"/>
            </a:lvl1pPr>
            <a:lvl2pPr marL="216000" indent="-108000">
              <a:spcBef>
                <a:spcPts val="200"/>
              </a:spcBef>
              <a:defRPr sz="1050"/>
            </a:lvl2pPr>
            <a:lvl3pPr marL="324000" indent="-108000">
              <a:spcBef>
                <a:spcPts val="200"/>
              </a:spcBef>
              <a:defRPr sz="1000"/>
            </a:lvl3pPr>
            <a:lvl4pPr marL="432000" indent="-108000">
              <a:spcBef>
                <a:spcPts val="200"/>
              </a:spcBef>
              <a:defRPr sz="900"/>
            </a:lvl4pPr>
          </a:lstStyle>
          <a:p>
            <a:pPr lvl="0"/>
            <a:r>
              <a:rPr lang="en-US" dirty="0"/>
              <a:t>How are you solving the stated problem for your customers and how will you know that the problem is being solved?</a:t>
            </a:r>
          </a:p>
          <a:p>
            <a:pPr lvl="1"/>
            <a:r>
              <a:rPr lang="en-US" dirty="0"/>
              <a:t>Second level</a:t>
            </a:r>
          </a:p>
          <a:p>
            <a:pPr lvl="2"/>
            <a:r>
              <a:rPr lang="en-US" dirty="0"/>
              <a:t>Third level</a:t>
            </a:r>
          </a:p>
          <a:p>
            <a:pPr lvl="3"/>
            <a:r>
              <a:rPr lang="en-US" dirty="0"/>
              <a:t>Fourth level</a:t>
            </a:r>
          </a:p>
        </p:txBody>
      </p:sp>
      <p:sp>
        <p:nvSpPr>
          <p:cNvPr id="19" name="Text Placeholder 6">
            <a:extLst>
              <a:ext uri="{FF2B5EF4-FFF2-40B4-BE49-F238E27FC236}">
                <a16:creationId xmlns:a16="http://schemas.microsoft.com/office/drawing/2014/main" id="{3FD73EB5-AAC5-45F2-BA57-46E8FF1563AF}"/>
              </a:ext>
            </a:extLst>
          </p:cNvPr>
          <p:cNvSpPr>
            <a:spLocks noGrp="1"/>
          </p:cNvSpPr>
          <p:nvPr>
            <p:ph type="body" sz="quarter" idx="25" hasCustomPrompt="1"/>
          </p:nvPr>
        </p:nvSpPr>
        <p:spPr>
          <a:xfrm>
            <a:off x="7337709" y="888595"/>
            <a:ext cx="2398712" cy="1721976"/>
          </a:xfrm>
        </p:spPr>
        <p:txBody>
          <a:bodyPr lIns="36000" tIns="36000" rIns="36000" bIns="36000">
            <a:normAutofit/>
          </a:bodyPr>
          <a:lstStyle>
            <a:lvl1pPr marL="108000" indent="-108000">
              <a:spcBef>
                <a:spcPts val="200"/>
              </a:spcBef>
              <a:defRPr sz="1100"/>
            </a:lvl1pPr>
            <a:lvl2pPr marL="216000" indent="-108000">
              <a:spcBef>
                <a:spcPts val="200"/>
              </a:spcBef>
              <a:defRPr sz="1050"/>
            </a:lvl2pPr>
            <a:lvl3pPr marL="324000" indent="-108000">
              <a:spcBef>
                <a:spcPts val="200"/>
              </a:spcBef>
              <a:defRPr sz="1000"/>
            </a:lvl3pPr>
            <a:lvl4pPr marL="432000" indent="-108000">
              <a:spcBef>
                <a:spcPts val="200"/>
              </a:spcBef>
              <a:defRPr sz="900"/>
            </a:lvl4pPr>
          </a:lstStyle>
          <a:p>
            <a:pPr lvl="0"/>
            <a:r>
              <a:rPr lang="en-US" dirty="0"/>
              <a:t>What sort of relationship do you want to create with your customers? What will they feel when you do business together?</a:t>
            </a:r>
          </a:p>
          <a:p>
            <a:pPr lvl="1"/>
            <a:r>
              <a:rPr lang="en-US" dirty="0"/>
              <a:t>Second level</a:t>
            </a:r>
          </a:p>
          <a:p>
            <a:pPr lvl="2"/>
            <a:r>
              <a:rPr lang="en-US" dirty="0"/>
              <a:t>Third level</a:t>
            </a:r>
          </a:p>
          <a:p>
            <a:pPr lvl="3"/>
            <a:r>
              <a:rPr lang="en-US" dirty="0"/>
              <a:t>Fourth level</a:t>
            </a:r>
          </a:p>
        </p:txBody>
      </p:sp>
      <p:sp>
        <p:nvSpPr>
          <p:cNvPr id="20" name="Text Placeholder 6">
            <a:extLst>
              <a:ext uri="{FF2B5EF4-FFF2-40B4-BE49-F238E27FC236}">
                <a16:creationId xmlns:a16="http://schemas.microsoft.com/office/drawing/2014/main" id="{15B73DF3-61EA-4BF2-82E3-EFE3D8601970}"/>
              </a:ext>
            </a:extLst>
          </p:cNvPr>
          <p:cNvSpPr>
            <a:spLocks noGrp="1"/>
          </p:cNvSpPr>
          <p:nvPr>
            <p:ph type="body" sz="quarter" idx="26" hasCustomPrompt="1"/>
          </p:nvPr>
        </p:nvSpPr>
        <p:spPr>
          <a:xfrm>
            <a:off x="9770766" y="888595"/>
            <a:ext cx="2398712" cy="3870761"/>
          </a:xfrm>
        </p:spPr>
        <p:txBody>
          <a:bodyPr lIns="36000" tIns="36000" rIns="36000" bIns="36000">
            <a:normAutofit/>
          </a:bodyPr>
          <a:lstStyle>
            <a:lvl1pPr marL="108000" indent="-108000">
              <a:spcBef>
                <a:spcPts val="200"/>
              </a:spcBef>
              <a:defRPr sz="1100"/>
            </a:lvl1pPr>
            <a:lvl2pPr marL="216000" indent="-108000">
              <a:spcBef>
                <a:spcPts val="200"/>
              </a:spcBef>
              <a:defRPr sz="1050"/>
            </a:lvl2pPr>
            <a:lvl3pPr marL="324000" indent="-108000">
              <a:spcBef>
                <a:spcPts val="200"/>
              </a:spcBef>
              <a:defRPr sz="1000"/>
            </a:lvl3pPr>
            <a:lvl4pPr marL="432000" indent="-108000">
              <a:spcBef>
                <a:spcPts val="200"/>
              </a:spcBef>
              <a:defRPr sz="900"/>
            </a:lvl4pPr>
          </a:lstStyle>
          <a:p>
            <a:pPr lvl="0"/>
            <a:r>
              <a:rPr lang="en-AU" noProof="0" dirty="0"/>
              <a:t>Who are the people or organisations for which you create value?</a:t>
            </a:r>
          </a:p>
          <a:p>
            <a:pPr lvl="1"/>
            <a:r>
              <a:rPr lang="en-AU" noProof="0" dirty="0"/>
              <a:t>Second level</a:t>
            </a:r>
          </a:p>
          <a:p>
            <a:pPr lvl="2"/>
            <a:r>
              <a:rPr lang="en-AU" noProof="0" dirty="0"/>
              <a:t>Third level</a:t>
            </a:r>
          </a:p>
          <a:p>
            <a:pPr lvl="3"/>
            <a:r>
              <a:rPr lang="en-AU" noProof="0" dirty="0"/>
              <a:t>Fourth level</a:t>
            </a:r>
          </a:p>
        </p:txBody>
      </p:sp>
      <p:sp>
        <p:nvSpPr>
          <p:cNvPr id="21" name="Text Placeholder 6">
            <a:extLst>
              <a:ext uri="{FF2B5EF4-FFF2-40B4-BE49-F238E27FC236}">
                <a16:creationId xmlns:a16="http://schemas.microsoft.com/office/drawing/2014/main" id="{F57EF870-98F9-4CC8-A03A-6F923223BF32}"/>
              </a:ext>
            </a:extLst>
          </p:cNvPr>
          <p:cNvSpPr>
            <a:spLocks noGrp="1"/>
          </p:cNvSpPr>
          <p:nvPr>
            <p:ph type="body" sz="quarter" idx="27" hasCustomPrompt="1"/>
          </p:nvPr>
        </p:nvSpPr>
        <p:spPr>
          <a:xfrm>
            <a:off x="7337709" y="3037760"/>
            <a:ext cx="2398712" cy="1721976"/>
          </a:xfrm>
        </p:spPr>
        <p:txBody>
          <a:bodyPr lIns="36000" tIns="36000" rIns="36000" bIns="36000">
            <a:normAutofit/>
          </a:bodyPr>
          <a:lstStyle>
            <a:lvl1pPr marL="108000" indent="-108000">
              <a:spcBef>
                <a:spcPts val="200"/>
              </a:spcBef>
              <a:defRPr sz="1100"/>
            </a:lvl1pPr>
            <a:lvl2pPr marL="216000" indent="-108000">
              <a:spcBef>
                <a:spcPts val="200"/>
              </a:spcBef>
              <a:defRPr sz="1050"/>
            </a:lvl2pPr>
            <a:lvl3pPr marL="324000" indent="-108000">
              <a:spcBef>
                <a:spcPts val="200"/>
              </a:spcBef>
              <a:defRPr sz="1000"/>
            </a:lvl3pPr>
            <a:lvl4pPr marL="432000" indent="-108000">
              <a:spcBef>
                <a:spcPts val="200"/>
              </a:spcBef>
              <a:defRPr sz="900"/>
            </a:lvl4pPr>
          </a:lstStyle>
          <a:p>
            <a:pPr lvl="0"/>
            <a:r>
              <a:rPr lang="en-US" dirty="0"/>
              <a:t>What are the touch points by which you interact with customers and deliver value?</a:t>
            </a:r>
          </a:p>
          <a:p>
            <a:pPr lvl="1"/>
            <a:r>
              <a:rPr lang="en-US" dirty="0"/>
              <a:t>Second level</a:t>
            </a:r>
          </a:p>
          <a:p>
            <a:pPr lvl="2"/>
            <a:r>
              <a:rPr lang="en-US" dirty="0"/>
              <a:t>Third level</a:t>
            </a:r>
          </a:p>
          <a:p>
            <a:pPr lvl="3"/>
            <a:r>
              <a:rPr lang="en-US" dirty="0"/>
              <a:t>Fourth level</a:t>
            </a:r>
          </a:p>
        </p:txBody>
      </p:sp>
      <p:sp>
        <p:nvSpPr>
          <p:cNvPr id="22" name="Text Placeholder 6">
            <a:extLst>
              <a:ext uri="{FF2B5EF4-FFF2-40B4-BE49-F238E27FC236}">
                <a16:creationId xmlns:a16="http://schemas.microsoft.com/office/drawing/2014/main" id="{E711F054-97D6-4A51-AF55-D2A385BC66A2}"/>
              </a:ext>
            </a:extLst>
          </p:cNvPr>
          <p:cNvSpPr>
            <a:spLocks noGrp="1"/>
          </p:cNvSpPr>
          <p:nvPr>
            <p:ph type="body" sz="quarter" idx="29" hasCustomPrompt="1"/>
          </p:nvPr>
        </p:nvSpPr>
        <p:spPr>
          <a:xfrm>
            <a:off x="6116639" y="5180278"/>
            <a:ext cx="6049168" cy="1653910"/>
          </a:xfrm>
        </p:spPr>
        <p:txBody>
          <a:bodyPr lIns="36000" tIns="36000" rIns="36000" bIns="36000">
            <a:normAutofit/>
          </a:bodyPr>
          <a:lstStyle>
            <a:lvl1pPr marL="108000" indent="-108000">
              <a:spcBef>
                <a:spcPts val="200"/>
              </a:spcBef>
              <a:defRPr sz="1100"/>
            </a:lvl1pPr>
            <a:lvl2pPr marL="216000" indent="-108000">
              <a:spcBef>
                <a:spcPts val="200"/>
              </a:spcBef>
              <a:defRPr sz="1050"/>
            </a:lvl2pPr>
            <a:lvl3pPr marL="324000" indent="-108000">
              <a:spcBef>
                <a:spcPts val="200"/>
              </a:spcBef>
              <a:defRPr sz="1000"/>
            </a:lvl3pPr>
            <a:lvl4pPr marL="432000" indent="-108000">
              <a:spcBef>
                <a:spcPts val="200"/>
              </a:spcBef>
              <a:defRPr sz="900"/>
            </a:lvl4pPr>
          </a:lstStyle>
          <a:p>
            <a:pPr lvl="0"/>
            <a:r>
              <a:rPr lang="en-AU" dirty="0"/>
              <a:t>What is valuable to your customers and how does that translate to a pricing mechanisms?</a:t>
            </a:r>
            <a:endParaRPr lang="en-US" dirty="0"/>
          </a:p>
          <a:p>
            <a:pPr lvl="1"/>
            <a:r>
              <a:rPr lang="en-US" dirty="0"/>
              <a:t>Second level</a:t>
            </a:r>
          </a:p>
          <a:p>
            <a:pPr lvl="2"/>
            <a:r>
              <a:rPr lang="en-US" dirty="0"/>
              <a:t>Third level</a:t>
            </a:r>
          </a:p>
          <a:p>
            <a:pPr lvl="3"/>
            <a:r>
              <a:rPr lang="en-US" dirty="0"/>
              <a:t>Fourth level</a:t>
            </a:r>
          </a:p>
        </p:txBody>
      </p:sp>
      <p:sp>
        <p:nvSpPr>
          <p:cNvPr id="24" name="TextBox 23">
            <a:extLst>
              <a:ext uri="{FF2B5EF4-FFF2-40B4-BE49-F238E27FC236}">
                <a16:creationId xmlns:a16="http://schemas.microsoft.com/office/drawing/2014/main" id="{09FFF697-8B4E-4517-A09A-53C29F514171}"/>
              </a:ext>
            </a:extLst>
          </p:cNvPr>
          <p:cNvSpPr txBox="1"/>
          <p:nvPr userDrawn="1"/>
        </p:nvSpPr>
        <p:spPr>
          <a:xfrm>
            <a:off x="0" y="467543"/>
            <a:ext cx="2438396" cy="400110"/>
          </a:xfrm>
          <a:prstGeom prst="rect">
            <a:avLst/>
          </a:prstGeom>
          <a:noFill/>
        </p:spPr>
        <p:txBody>
          <a:bodyPr wrap="square" rtlCol="0">
            <a:spAutoFit/>
          </a:bodyPr>
          <a:lstStyle/>
          <a:p>
            <a:pPr marL="288000"/>
            <a:r>
              <a:rPr lang="en-AU" sz="1400" dirty="0">
                <a:latin typeface="+mj-lt"/>
              </a:rPr>
              <a:t>Key partnerships</a:t>
            </a:r>
          </a:p>
          <a:p>
            <a:pPr marL="288000"/>
            <a:r>
              <a:rPr lang="en-AU" sz="600" dirty="0">
                <a:latin typeface="+mn-lt"/>
              </a:rPr>
              <a:t>Who are our key partners?</a:t>
            </a:r>
            <a:endParaRPr lang="en-AU" sz="500" dirty="0">
              <a:latin typeface="+mn-lt"/>
            </a:endParaRPr>
          </a:p>
        </p:txBody>
      </p:sp>
      <p:cxnSp>
        <p:nvCxnSpPr>
          <p:cNvPr id="25" name="Straight Connector 24">
            <a:extLst>
              <a:ext uri="{FF2B5EF4-FFF2-40B4-BE49-F238E27FC236}">
                <a16:creationId xmlns:a16="http://schemas.microsoft.com/office/drawing/2014/main" id="{C3591EA6-4927-4B51-BA8F-30376639C103}"/>
              </a:ext>
            </a:extLst>
          </p:cNvPr>
          <p:cNvCxnSpPr>
            <a:cxnSpLocks/>
          </p:cNvCxnSpPr>
          <p:nvPr userDrawn="1"/>
        </p:nvCxnSpPr>
        <p:spPr>
          <a:xfrm flipV="1">
            <a:off x="6096000" y="4783560"/>
            <a:ext cx="0" cy="207444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174EC24-68CE-475A-A8AE-CA0E2167C310}"/>
              </a:ext>
            </a:extLst>
          </p:cNvPr>
          <p:cNvCxnSpPr>
            <a:cxnSpLocks/>
          </p:cNvCxnSpPr>
          <p:nvPr userDrawn="1"/>
        </p:nvCxnSpPr>
        <p:spPr>
          <a:xfrm flipH="1">
            <a:off x="0" y="4783560"/>
            <a:ext cx="121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F64C485-C996-4F67-894F-67F0397C2A51}"/>
              </a:ext>
            </a:extLst>
          </p:cNvPr>
          <p:cNvCxnSpPr>
            <a:cxnSpLocks/>
          </p:cNvCxnSpPr>
          <p:nvPr userDrawn="1"/>
        </p:nvCxnSpPr>
        <p:spPr>
          <a:xfrm flipV="1">
            <a:off x="4876800" y="464456"/>
            <a:ext cx="0" cy="4320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35B8955-AC50-406B-A3DD-3F914E41B43E}"/>
              </a:ext>
            </a:extLst>
          </p:cNvPr>
          <p:cNvCxnSpPr>
            <a:cxnSpLocks/>
          </p:cNvCxnSpPr>
          <p:nvPr userDrawn="1"/>
        </p:nvCxnSpPr>
        <p:spPr>
          <a:xfrm flipV="1">
            <a:off x="2438400" y="464456"/>
            <a:ext cx="0" cy="431910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463F288-CAB9-4916-AA37-2209C408C646}"/>
              </a:ext>
            </a:extLst>
          </p:cNvPr>
          <p:cNvCxnSpPr>
            <a:cxnSpLocks/>
          </p:cNvCxnSpPr>
          <p:nvPr userDrawn="1"/>
        </p:nvCxnSpPr>
        <p:spPr>
          <a:xfrm flipV="1">
            <a:off x="7315200" y="464456"/>
            <a:ext cx="0" cy="4320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4495E62-BBA9-4041-8305-FE6B1AA451AB}"/>
              </a:ext>
            </a:extLst>
          </p:cNvPr>
          <p:cNvCxnSpPr>
            <a:cxnSpLocks/>
          </p:cNvCxnSpPr>
          <p:nvPr userDrawn="1"/>
        </p:nvCxnSpPr>
        <p:spPr>
          <a:xfrm flipV="1">
            <a:off x="9753600" y="464456"/>
            <a:ext cx="0" cy="4320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39044B6-1D88-4314-AE66-21A17BD64F09}"/>
              </a:ext>
            </a:extLst>
          </p:cNvPr>
          <p:cNvCxnSpPr>
            <a:cxnSpLocks/>
          </p:cNvCxnSpPr>
          <p:nvPr userDrawn="1"/>
        </p:nvCxnSpPr>
        <p:spPr>
          <a:xfrm>
            <a:off x="7315200" y="2618807"/>
            <a:ext cx="24384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01310D0-02FF-4B3A-A6F5-7F1BDC82F873}"/>
              </a:ext>
            </a:extLst>
          </p:cNvPr>
          <p:cNvCxnSpPr>
            <a:cxnSpLocks/>
          </p:cNvCxnSpPr>
          <p:nvPr userDrawn="1"/>
        </p:nvCxnSpPr>
        <p:spPr>
          <a:xfrm>
            <a:off x="2438400" y="2618807"/>
            <a:ext cx="24384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5FFDC4C-2375-4B99-B6AE-A5E63EBCA71A}"/>
              </a:ext>
            </a:extLst>
          </p:cNvPr>
          <p:cNvSpPr txBox="1"/>
          <p:nvPr userDrawn="1"/>
        </p:nvSpPr>
        <p:spPr>
          <a:xfrm>
            <a:off x="0" y="456593"/>
            <a:ext cx="383377" cy="405683"/>
          </a:xfrm>
          <a:prstGeom prst="rect">
            <a:avLst/>
          </a:prstGeom>
          <a:noFill/>
        </p:spPr>
        <p:txBody>
          <a:bodyPr wrap="square" tIns="18000" bIns="18000" rtlCol="0" anchor="ctr">
            <a:spAutoFit/>
          </a:bodyPr>
          <a:lstStyle/>
          <a:p>
            <a:pPr algn="ctr"/>
            <a:r>
              <a:rPr lang="en-AU" sz="2300" b="0" dirty="0">
                <a:solidFill>
                  <a:schemeClr val="tx2">
                    <a:lumMod val="40000"/>
                    <a:lumOff val="60000"/>
                  </a:schemeClr>
                </a:solidFill>
                <a:latin typeface="+mn-lt"/>
              </a:rPr>
              <a:t>7</a:t>
            </a:r>
          </a:p>
        </p:txBody>
      </p:sp>
      <p:sp>
        <p:nvSpPr>
          <p:cNvPr id="34" name="TextBox 33">
            <a:extLst>
              <a:ext uri="{FF2B5EF4-FFF2-40B4-BE49-F238E27FC236}">
                <a16:creationId xmlns:a16="http://schemas.microsoft.com/office/drawing/2014/main" id="{984E0E88-5724-4819-8D93-7EC472FD7101}"/>
              </a:ext>
            </a:extLst>
          </p:cNvPr>
          <p:cNvSpPr txBox="1"/>
          <p:nvPr userDrawn="1"/>
        </p:nvSpPr>
        <p:spPr>
          <a:xfrm>
            <a:off x="2438399" y="467543"/>
            <a:ext cx="2438396" cy="400110"/>
          </a:xfrm>
          <a:prstGeom prst="rect">
            <a:avLst/>
          </a:prstGeom>
          <a:noFill/>
        </p:spPr>
        <p:txBody>
          <a:bodyPr wrap="square" rtlCol="0">
            <a:spAutoFit/>
          </a:bodyPr>
          <a:lstStyle/>
          <a:p>
            <a:pPr marL="288000"/>
            <a:r>
              <a:rPr lang="en-AU" sz="1400" dirty="0">
                <a:latin typeface="+mj-lt"/>
              </a:rPr>
              <a:t>Key activities</a:t>
            </a:r>
          </a:p>
          <a:p>
            <a:pPr marL="288000"/>
            <a:r>
              <a:rPr lang="en-AU" sz="600" dirty="0">
                <a:latin typeface="+mn-lt"/>
              </a:rPr>
              <a:t>What things do you do to deliver your value proposition?</a:t>
            </a:r>
            <a:endParaRPr lang="en-AU" sz="500" dirty="0">
              <a:latin typeface="+mn-lt"/>
            </a:endParaRPr>
          </a:p>
        </p:txBody>
      </p:sp>
      <p:sp>
        <p:nvSpPr>
          <p:cNvPr id="35" name="TextBox 34">
            <a:extLst>
              <a:ext uri="{FF2B5EF4-FFF2-40B4-BE49-F238E27FC236}">
                <a16:creationId xmlns:a16="http://schemas.microsoft.com/office/drawing/2014/main" id="{A3D42F36-E7FD-49EA-A0B7-C7A4BA143B00}"/>
              </a:ext>
            </a:extLst>
          </p:cNvPr>
          <p:cNvSpPr txBox="1"/>
          <p:nvPr userDrawn="1"/>
        </p:nvSpPr>
        <p:spPr>
          <a:xfrm>
            <a:off x="2438401" y="2615416"/>
            <a:ext cx="2438396" cy="400110"/>
          </a:xfrm>
          <a:prstGeom prst="rect">
            <a:avLst/>
          </a:prstGeom>
          <a:noFill/>
        </p:spPr>
        <p:txBody>
          <a:bodyPr wrap="square" rtlCol="0">
            <a:spAutoFit/>
          </a:bodyPr>
          <a:lstStyle/>
          <a:p>
            <a:pPr marL="288000"/>
            <a:r>
              <a:rPr lang="en-AU" sz="1400" dirty="0">
                <a:latin typeface="+mj-lt"/>
              </a:rPr>
              <a:t>Resources</a:t>
            </a:r>
          </a:p>
          <a:p>
            <a:pPr marL="288000"/>
            <a:r>
              <a:rPr lang="en-AU" sz="600" dirty="0">
                <a:latin typeface="+mn-lt"/>
              </a:rPr>
              <a:t>What assets do you need to make it a reality?</a:t>
            </a:r>
            <a:endParaRPr lang="en-AU" sz="500" dirty="0">
              <a:latin typeface="+mn-lt"/>
            </a:endParaRPr>
          </a:p>
        </p:txBody>
      </p:sp>
      <p:sp>
        <p:nvSpPr>
          <p:cNvPr id="36" name="TextBox 35">
            <a:extLst>
              <a:ext uri="{FF2B5EF4-FFF2-40B4-BE49-F238E27FC236}">
                <a16:creationId xmlns:a16="http://schemas.microsoft.com/office/drawing/2014/main" id="{5CB58708-8F87-4123-9577-F8E72B786FCE}"/>
              </a:ext>
            </a:extLst>
          </p:cNvPr>
          <p:cNvSpPr txBox="1"/>
          <p:nvPr userDrawn="1"/>
        </p:nvSpPr>
        <p:spPr>
          <a:xfrm>
            <a:off x="0" y="2246"/>
            <a:ext cx="1554480" cy="253916"/>
          </a:xfrm>
          <a:prstGeom prst="rect">
            <a:avLst/>
          </a:prstGeom>
          <a:noFill/>
        </p:spPr>
        <p:txBody>
          <a:bodyPr wrap="square" rtlCol="0">
            <a:spAutoFit/>
          </a:bodyPr>
          <a:lstStyle/>
          <a:p>
            <a:pPr marL="0" algn="l"/>
            <a:r>
              <a:rPr lang="en-AU" sz="1050" dirty="0">
                <a:solidFill>
                  <a:schemeClr val="tx2"/>
                </a:solidFill>
                <a:latin typeface="+mj-lt"/>
              </a:rPr>
              <a:t>Business Model Canvas</a:t>
            </a:r>
            <a:endParaRPr lang="en-AU" sz="200" dirty="0">
              <a:solidFill>
                <a:schemeClr val="tx2"/>
              </a:solidFill>
              <a:latin typeface="+mn-lt"/>
            </a:endParaRPr>
          </a:p>
        </p:txBody>
      </p:sp>
      <p:sp>
        <p:nvSpPr>
          <p:cNvPr id="37" name="TextBox 36">
            <a:extLst>
              <a:ext uri="{FF2B5EF4-FFF2-40B4-BE49-F238E27FC236}">
                <a16:creationId xmlns:a16="http://schemas.microsoft.com/office/drawing/2014/main" id="{55360DEB-169A-4C05-B0E6-8EA02256A1A7}"/>
              </a:ext>
            </a:extLst>
          </p:cNvPr>
          <p:cNvSpPr txBox="1"/>
          <p:nvPr userDrawn="1"/>
        </p:nvSpPr>
        <p:spPr>
          <a:xfrm>
            <a:off x="-1" y="203856"/>
            <a:ext cx="383377" cy="108000"/>
          </a:xfrm>
          <a:prstGeom prst="rect">
            <a:avLst/>
          </a:prstGeom>
          <a:noFill/>
        </p:spPr>
        <p:txBody>
          <a:bodyPr wrap="square" lIns="90000" tIns="18000" rIns="90000" bIns="18000" rtlCol="0" anchor="ctr" anchorCtr="0">
            <a:spAutoFit/>
          </a:bodyPr>
          <a:lstStyle/>
          <a:p>
            <a:pPr marL="0" algn="l"/>
            <a:r>
              <a:rPr lang="en-AU" sz="700" dirty="0">
                <a:solidFill>
                  <a:schemeClr val="tx2"/>
                </a:solidFill>
                <a:latin typeface="+mn-lt"/>
              </a:rPr>
              <a:t>Date:</a:t>
            </a:r>
            <a:endParaRPr lang="en-AU" sz="100" dirty="0">
              <a:solidFill>
                <a:schemeClr val="tx2"/>
              </a:solidFill>
              <a:latin typeface="+mn-lt"/>
            </a:endParaRPr>
          </a:p>
        </p:txBody>
      </p:sp>
      <p:sp>
        <p:nvSpPr>
          <p:cNvPr id="38" name="Text Placeholder 44">
            <a:extLst>
              <a:ext uri="{FF2B5EF4-FFF2-40B4-BE49-F238E27FC236}">
                <a16:creationId xmlns:a16="http://schemas.microsoft.com/office/drawing/2014/main" id="{BCCE09CE-B13A-415A-A59A-7157453F1491}"/>
              </a:ext>
            </a:extLst>
          </p:cNvPr>
          <p:cNvSpPr>
            <a:spLocks noGrp="1"/>
          </p:cNvSpPr>
          <p:nvPr>
            <p:ph type="body" sz="quarter" idx="12" hasCustomPrompt="1"/>
          </p:nvPr>
        </p:nvSpPr>
        <p:spPr>
          <a:xfrm>
            <a:off x="1722665" y="0"/>
            <a:ext cx="8694961" cy="444264"/>
          </a:xfrm>
        </p:spPr>
        <p:txBody>
          <a:bodyPr anchor="ctr">
            <a:normAutofit/>
          </a:bodyPr>
          <a:lstStyle>
            <a:lvl1pPr marL="0" indent="0" algn="ctr">
              <a:buNone/>
              <a:defRPr sz="2000">
                <a:solidFill>
                  <a:schemeClr val="tx2"/>
                </a:solidFill>
                <a:latin typeface="+mj-lt"/>
              </a:defRPr>
            </a:lvl1pPr>
          </a:lstStyle>
          <a:p>
            <a:pPr lvl="0"/>
            <a:r>
              <a:rPr lang="en-AU" dirty="0">
                <a:latin typeface="+mj-lt"/>
              </a:rPr>
              <a:t>Click to add a canvas title</a:t>
            </a:r>
            <a:endParaRPr lang="en-AU" dirty="0"/>
          </a:p>
        </p:txBody>
      </p:sp>
      <p:sp>
        <p:nvSpPr>
          <p:cNvPr id="39" name="Text Placeholder 47">
            <a:extLst>
              <a:ext uri="{FF2B5EF4-FFF2-40B4-BE49-F238E27FC236}">
                <a16:creationId xmlns:a16="http://schemas.microsoft.com/office/drawing/2014/main" id="{A1ED222E-3649-4FB2-8ED4-4E3A7D39E46C}"/>
              </a:ext>
            </a:extLst>
          </p:cNvPr>
          <p:cNvSpPr>
            <a:spLocks noGrp="1"/>
          </p:cNvSpPr>
          <p:nvPr>
            <p:ph type="body" sz="quarter" idx="13" hasCustomPrompt="1"/>
          </p:nvPr>
        </p:nvSpPr>
        <p:spPr>
          <a:xfrm>
            <a:off x="0" y="329488"/>
            <a:ext cx="1664494" cy="108000"/>
          </a:xfrm>
        </p:spPr>
        <p:txBody>
          <a:bodyPr tIns="18000" bIns="18000" anchor="ctr" anchorCtr="0">
            <a:normAutofit/>
          </a:bodyPr>
          <a:lstStyle>
            <a:lvl1pPr marL="0" indent="0">
              <a:buNone/>
              <a:defRPr sz="700">
                <a:solidFill>
                  <a:schemeClr val="tx2"/>
                </a:solidFill>
              </a:defRPr>
            </a:lvl1pPr>
          </a:lstStyle>
          <a:p>
            <a:pPr lvl="0"/>
            <a:r>
              <a:rPr lang="en-AU" dirty="0"/>
              <a:t>Link to document master copy</a:t>
            </a:r>
          </a:p>
        </p:txBody>
      </p:sp>
      <p:sp>
        <p:nvSpPr>
          <p:cNvPr id="40" name="Text Placeholder 47">
            <a:extLst>
              <a:ext uri="{FF2B5EF4-FFF2-40B4-BE49-F238E27FC236}">
                <a16:creationId xmlns:a16="http://schemas.microsoft.com/office/drawing/2014/main" id="{B5AD25F1-01C1-48C2-A0C9-8AB98BF7AC45}"/>
              </a:ext>
            </a:extLst>
          </p:cNvPr>
          <p:cNvSpPr>
            <a:spLocks noGrp="1"/>
          </p:cNvSpPr>
          <p:nvPr>
            <p:ph type="body" sz="quarter" idx="14" hasCustomPrompt="1"/>
          </p:nvPr>
        </p:nvSpPr>
        <p:spPr>
          <a:xfrm>
            <a:off x="314325" y="217361"/>
            <a:ext cx="1350169" cy="108000"/>
          </a:xfrm>
        </p:spPr>
        <p:txBody>
          <a:bodyPr lIns="36000" tIns="18000" bIns="18000" anchor="ctr" anchorCtr="0">
            <a:normAutofit/>
          </a:bodyPr>
          <a:lstStyle>
            <a:lvl1pPr marL="0" indent="0">
              <a:buNone/>
              <a:defRPr sz="700">
                <a:solidFill>
                  <a:schemeClr val="tx2"/>
                </a:solidFill>
              </a:defRPr>
            </a:lvl1pPr>
          </a:lstStyle>
          <a:p>
            <a:pPr lvl="0"/>
            <a:r>
              <a:rPr lang="en-AU" dirty="0"/>
              <a:t>Click to add date</a:t>
            </a:r>
          </a:p>
        </p:txBody>
      </p:sp>
      <p:sp>
        <p:nvSpPr>
          <p:cNvPr id="41" name="TextBox 40">
            <a:extLst>
              <a:ext uri="{FF2B5EF4-FFF2-40B4-BE49-F238E27FC236}">
                <a16:creationId xmlns:a16="http://schemas.microsoft.com/office/drawing/2014/main" id="{FA01D6DA-2B32-47D8-8A49-B9415DA770B6}"/>
              </a:ext>
            </a:extLst>
          </p:cNvPr>
          <p:cNvSpPr txBox="1"/>
          <p:nvPr userDrawn="1"/>
        </p:nvSpPr>
        <p:spPr>
          <a:xfrm>
            <a:off x="2438399" y="456593"/>
            <a:ext cx="383377" cy="405683"/>
          </a:xfrm>
          <a:prstGeom prst="rect">
            <a:avLst/>
          </a:prstGeom>
          <a:noFill/>
        </p:spPr>
        <p:txBody>
          <a:bodyPr wrap="square" tIns="18000" bIns="18000" rtlCol="0" anchor="ctr">
            <a:spAutoFit/>
          </a:bodyPr>
          <a:lstStyle/>
          <a:p>
            <a:pPr algn="ctr"/>
            <a:r>
              <a:rPr lang="en-AU" sz="2300" b="0" dirty="0">
                <a:solidFill>
                  <a:schemeClr val="tx2">
                    <a:lumMod val="40000"/>
                    <a:lumOff val="60000"/>
                  </a:schemeClr>
                </a:solidFill>
                <a:latin typeface="+mn-lt"/>
              </a:rPr>
              <a:t>8</a:t>
            </a:r>
          </a:p>
        </p:txBody>
      </p:sp>
      <p:sp>
        <p:nvSpPr>
          <p:cNvPr id="42" name="TextBox 41">
            <a:extLst>
              <a:ext uri="{FF2B5EF4-FFF2-40B4-BE49-F238E27FC236}">
                <a16:creationId xmlns:a16="http://schemas.microsoft.com/office/drawing/2014/main" id="{CAD30194-B8EF-4BBA-91F6-92516FE482F5}"/>
              </a:ext>
            </a:extLst>
          </p:cNvPr>
          <p:cNvSpPr txBox="1"/>
          <p:nvPr userDrawn="1"/>
        </p:nvSpPr>
        <p:spPr>
          <a:xfrm>
            <a:off x="2438399" y="2609295"/>
            <a:ext cx="383377" cy="405683"/>
          </a:xfrm>
          <a:prstGeom prst="rect">
            <a:avLst/>
          </a:prstGeom>
          <a:noFill/>
        </p:spPr>
        <p:txBody>
          <a:bodyPr wrap="square" tIns="18000" bIns="18000" rtlCol="0" anchor="ctr">
            <a:spAutoFit/>
          </a:bodyPr>
          <a:lstStyle/>
          <a:p>
            <a:pPr algn="ctr"/>
            <a:r>
              <a:rPr lang="en-AU" sz="2300" b="0" dirty="0">
                <a:solidFill>
                  <a:schemeClr val="tx2">
                    <a:lumMod val="40000"/>
                    <a:lumOff val="60000"/>
                  </a:schemeClr>
                </a:solidFill>
                <a:latin typeface="+mn-lt"/>
              </a:rPr>
              <a:t>6</a:t>
            </a:r>
          </a:p>
        </p:txBody>
      </p:sp>
      <p:sp>
        <p:nvSpPr>
          <p:cNvPr id="43" name="TextBox 42">
            <a:extLst>
              <a:ext uri="{FF2B5EF4-FFF2-40B4-BE49-F238E27FC236}">
                <a16:creationId xmlns:a16="http://schemas.microsoft.com/office/drawing/2014/main" id="{FEBE50D7-8BBE-4EB7-9B5B-F155F73810B6}"/>
              </a:ext>
            </a:extLst>
          </p:cNvPr>
          <p:cNvSpPr txBox="1"/>
          <p:nvPr userDrawn="1"/>
        </p:nvSpPr>
        <p:spPr>
          <a:xfrm>
            <a:off x="1" y="4785495"/>
            <a:ext cx="3486145" cy="400110"/>
          </a:xfrm>
          <a:prstGeom prst="rect">
            <a:avLst/>
          </a:prstGeom>
          <a:noFill/>
        </p:spPr>
        <p:txBody>
          <a:bodyPr wrap="square" rtlCol="0">
            <a:spAutoFit/>
          </a:bodyPr>
          <a:lstStyle/>
          <a:p>
            <a:pPr marL="288000"/>
            <a:r>
              <a:rPr lang="en-AU" sz="1400" dirty="0">
                <a:latin typeface="+mj-lt"/>
              </a:rPr>
              <a:t>Cost structure</a:t>
            </a:r>
          </a:p>
          <a:p>
            <a:pPr marL="288000"/>
            <a:r>
              <a:rPr lang="en-AU" sz="600" dirty="0">
                <a:latin typeface="+mn-lt"/>
              </a:rPr>
              <a:t>What are the most important and expensive resources that you’re going to have to pay for?</a:t>
            </a:r>
            <a:endParaRPr lang="en-AU" sz="500" dirty="0">
              <a:latin typeface="+mn-lt"/>
            </a:endParaRPr>
          </a:p>
        </p:txBody>
      </p:sp>
      <p:sp>
        <p:nvSpPr>
          <p:cNvPr id="44" name="TextBox 43">
            <a:extLst>
              <a:ext uri="{FF2B5EF4-FFF2-40B4-BE49-F238E27FC236}">
                <a16:creationId xmlns:a16="http://schemas.microsoft.com/office/drawing/2014/main" id="{991A5FFB-D2FB-4441-892C-6FF5CA4CB5BC}"/>
              </a:ext>
            </a:extLst>
          </p:cNvPr>
          <p:cNvSpPr txBox="1"/>
          <p:nvPr userDrawn="1"/>
        </p:nvSpPr>
        <p:spPr>
          <a:xfrm>
            <a:off x="0" y="4779374"/>
            <a:ext cx="383377" cy="405683"/>
          </a:xfrm>
          <a:prstGeom prst="rect">
            <a:avLst/>
          </a:prstGeom>
          <a:noFill/>
        </p:spPr>
        <p:txBody>
          <a:bodyPr wrap="square" tIns="18000" bIns="18000" rtlCol="0" anchor="ctr">
            <a:spAutoFit/>
          </a:bodyPr>
          <a:lstStyle/>
          <a:p>
            <a:pPr algn="ctr"/>
            <a:r>
              <a:rPr lang="en-AU" sz="2300" b="0" dirty="0">
                <a:solidFill>
                  <a:schemeClr val="tx2">
                    <a:lumMod val="40000"/>
                    <a:lumOff val="60000"/>
                  </a:schemeClr>
                </a:solidFill>
                <a:latin typeface="+mn-lt"/>
              </a:rPr>
              <a:t>9</a:t>
            </a:r>
          </a:p>
        </p:txBody>
      </p:sp>
      <p:sp>
        <p:nvSpPr>
          <p:cNvPr id="45" name="TextBox 44">
            <a:extLst>
              <a:ext uri="{FF2B5EF4-FFF2-40B4-BE49-F238E27FC236}">
                <a16:creationId xmlns:a16="http://schemas.microsoft.com/office/drawing/2014/main" id="{D6EB7712-3F01-4574-BA9D-75582D5C18E3}"/>
              </a:ext>
            </a:extLst>
          </p:cNvPr>
          <p:cNvSpPr txBox="1"/>
          <p:nvPr userDrawn="1"/>
        </p:nvSpPr>
        <p:spPr>
          <a:xfrm>
            <a:off x="6096001" y="4784678"/>
            <a:ext cx="5010149" cy="400110"/>
          </a:xfrm>
          <a:prstGeom prst="rect">
            <a:avLst/>
          </a:prstGeom>
          <a:noFill/>
        </p:spPr>
        <p:txBody>
          <a:bodyPr wrap="square" rtlCol="0">
            <a:spAutoFit/>
          </a:bodyPr>
          <a:lstStyle/>
          <a:p>
            <a:pPr marL="288000"/>
            <a:r>
              <a:rPr lang="en-AU" sz="1400" dirty="0">
                <a:latin typeface="+mj-lt"/>
              </a:rPr>
              <a:t>Revenue streams</a:t>
            </a:r>
          </a:p>
          <a:p>
            <a:pPr marL="288000"/>
            <a:r>
              <a:rPr lang="en-AU" sz="600" dirty="0">
                <a:latin typeface="+mn-lt"/>
              </a:rPr>
              <a:t>How do you actually make money to sustain your business?</a:t>
            </a:r>
            <a:endParaRPr lang="en-AU" sz="500" dirty="0">
              <a:latin typeface="+mn-lt"/>
            </a:endParaRPr>
          </a:p>
        </p:txBody>
      </p:sp>
      <p:sp>
        <p:nvSpPr>
          <p:cNvPr id="46" name="TextBox 45">
            <a:extLst>
              <a:ext uri="{FF2B5EF4-FFF2-40B4-BE49-F238E27FC236}">
                <a16:creationId xmlns:a16="http://schemas.microsoft.com/office/drawing/2014/main" id="{D7F21924-D499-45E6-ACE8-2D26E1544850}"/>
              </a:ext>
            </a:extLst>
          </p:cNvPr>
          <p:cNvSpPr txBox="1"/>
          <p:nvPr userDrawn="1"/>
        </p:nvSpPr>
        <p:spPr>
          <a:xfrm>
            <a:off x="6096000" y="4778557"/>
            <a:ext cx="383377" cy="405683"/>
          </a:xfrm>
          <a:prstGeom prst="rect">
            <a:avLst/>
          </a:prstGeom>
          <a:noFill/>
        </p:spPr>
        <p:txBody>
          <a:bodyPr wrap="square" tIns="18000" bIns="18000" rtlCol="0" anchor="ctr">
            <a:spAutoFit/>
          </a:bodyPr>
          <a:lstStyle/>
          <a:p>
            <a:pPr algn="ctr"/>
            <a:r>
              <a:rPr lang="en-AU" sz="2300" b="0" dirty="0">
                <a:solidFill>
                  <a:schemeClr val="tx2">
                    <a:lumMod val="40000"/>
                    <a:lumOff val="60000"/>
                  </a:schemeClr>
                </a:solidFill>
                <a:latin typeface="+mn-lt"/>
              </a:rPr>
              <a:t>5</a:t>
            </a:r>
          </a:p>
        </p:txBody>
      </p:sp>
      <p:sp>
        <p:nvSpPr>
          <p:cNvPr id="47" name="TextBox 46">
            <a:extLst>
              <a:ext uri="{FF2B5EF4-FFF2-40B4-BE49-F238E27FC236}">
                <a16:creationId xmlns:a16="http://schemas.microsoft.com/office/drawing/2014/main" id="{53738020-C735-4DF5-834E-215FF2D1D3A0}"/>
              </a:ext>
            </a:extLst>
          </p:cNvPr>
          <p:cNvSpPr txBox="1"/>
          <p:nvPr userDrawn="1"/>
        </p:nvSpPr>
        <p:spPr>
          <a:xfrm>
            <a:off x="7315203" y="461755"/>
            <a:ext cx="2438396" cy="400110"/>
          </a:xfrm>
          <a:prstGeom prst="rect">
            <a:avLst/>
          </a:prstGeom>
          <a:noFill/>
        </p:spPr>
        <p:txBody>
          <a:bodyPr wrap="square" rtlCol="0">
            <a:spAutoFit/>
          </a:bodyPr>
          <a:lstStyle/>
          <a:p>
            <a:pPr marL="288000"/>
            <a:r>
              <a:rPr lang="en-AU" sz="1400" dirty="0">
                <a:latin typeface="+mj-lt"/>
              </a:rPr>
              <a:t>Customer relationships</a:t>
            </a:r>
          </a:p>
          <a:p>
            <a:pPr marL="288000"/>
            <a:r>
              <a:rPr lang="en-AU" sz="600" dirty="0">
                <a:latin typeface="+mn-lt"/>
              </a:rPr>
              <a:t>How do you find customers, keep them and grow user base?</a:t>
            </a:r>
            <a:endParaRPr lang="en-AU" sz="500" dirty="0">
              <a:latin typeface="+mn-lt"/>
            </a:endParaRPr>
          </a:p>
        </p:txBody>
      </p:sp>
      <p:sp>
        <p:nvSpPr>
          <p:cNvPr id="48" name="TextBox 47">
            <a:extLst>
              <a:ext uri="{FF2B5EF4-FFF2-40B4-BE49-F238E27FC236}">
                <a16:creationId xmlns:a16="http://schemas.microsoft.com/office/drawing/2014/main" id="{F96FBBA0-F7C0-4706-8AC8-5671D646C5BB}"/>
              </a:ext>
            </a:extLst>
          </p:cNvPr>
          <p:cNvSpPr txBox="1"/>
          <p:nvPr userDrawn="1"/>
        </p:nvSpPr>
        <p:spPr>
          <a:xfrm>
            <a:off x="7315201" y="455634"/>
            <a:ext cx="383377" cy="405683"/>
          </a:xfrm>
          <a:prstGeom prst="rect">
            <a:avLst/>
          </a:prstGeom>
          <a:noFill/>
        </p:spPr>
        <p:txBody>
          <a:bodyPr wrap="square" tIns="18000" bIns="18000" rtlCol="0" anchor="ctr">
            <a:spAutoFit/>
          </a:bodyPr>
          <a:lstStyle/>
          <a:p>
            <a:pPr algn="ctr"/>
            <a:r>
              <a:rPr lang="en-AU" sz="2300" b="0" dirty="0">
                <a:solidFill>
                  <a:schemeClr val="tx2">
                    <a:lumMod val="40000"/>
                    <a:lumOff val="60000"/>
                  </a:schemeClr>
                </a:solidFill>
                <a:latin typeface="+mn-lt"/>
              </a:rPr>
              <a:t>4</a:t>
            </a:r>
          </a:p>
        </p:txBody>
      </p:sp>
      <p:sp>
        <p:nvSpPr>
          <p:cNvPr id="49" name="TextBox 48">
            <a:extLst>
              <a:ext uri="{FF2B5EF4-FFF2-40B4-BE49-F238E27FC236}">
                <a16:creationId xmlns:a16="http://schemas.microsoft.com/office/drawing/2014/main" id="{FA2AC192-7AF4-4944-A82C-559F72A25F7C}"/>
              </a:ext>
            </a:extLst>
          </p:cNvPr>
          <p:cNvSpPr txBox="1"/>
          <p:nvPr userDrawn="1"/>
        </p:nvSpPr>
        <p:spPr>
          <a:xfrm>
            <a:off x="7315202" y="2615416"/>
            <a:ext cx="2438396" cy="400110"/>
          </a:xfrm>
          <a:prstGeom prst="rect">
            <a:avLst/>
          </a:prstGeom>
          <a:noFill/>
        </p:spPr>
        <p:txBody>
          <a:bodyPr wrap="square" rtlCol="0">
            <a:spAutoFit/>
          </a:bodyPr>
          <a:lstStyle/>
          <a:p>
            <a:pPr marL="288000"/>
            <a:r>
              <a:rPr lang="en-AU" sz="1400" dirty="0">
                <a:latin typeface="+mj-lt"/>
              </a:rPr>
              <a:t>Channels</a:t>
            </a:r>
          </a:p>
          <a:p>
            <a:pPr marL="288000"/>
            <a:r>
              <a:rPr lang="en-AU" sz="600" dirty="0">
                <a:latin typeface="+mn-lt"/>
              </a:rPr>
              <a:t>How does your product or service get to your customer?</a:t>
            </a:r>
            <a:endParaRPr lang="en-AU" sz="500" dirty="0">
              <a:latin typeface="+mn-lt"/>
            </a:endParaRPr>
          </a:p>
        </p:txBody>
      </p:sp>
      <p:sp>
        <p:nvSpPr>
          <p:cNvPr id="50" name="TextBox 49">
            <a:extLst>
              <a:ext uri="{FF2B5EF4-FFF2-40B4-BE49-F238E27FC236}">
                <a16:creationId xmlns:a16="http://schemas.microsoft.com/office/drawing/2014/main" id="{89907E71-3D0B-4CF6-8BA5-2EAC34E3F92F}"/>
              </a:ext>
            </a:extLst>
          </p:cNvPr>
          <p:cNvSpPr txBox="1"/>
          <p:nvPr userDrawn="1"/>
        </p:nvSpPr>
        <p:spPr>
          <a:xfrm>
            <a:off x="7315200" y="2609295"/>
            <a:ext cx="383377" cy="405683"/>
          </a:xfrm>
          <a:prstGeom prst="rect">
            <a:avLst/>
          </a:prstGeom>
          <a:noFill/>
        </p:spPr>
        <p:txBody>
          <a:bodyPr wrap="square" tIns="18000" bIns="18000" rtlCol="0" anchor="ctr">
            <a:spAutoFit/>
          </a:bodyPr>
          <a:lstStyle/>
          <a:p>
            <a:pPr algn="ctr"/>
            <a:r>
              <a:rPr lang="en-AU" sz="2300" b="0" dirty="0">
                <a:solidFill>
                  <a:schemeClr val="tx2">
                    <a:lumMod val="40000"/>
                    <a:lumOff val="60000"/>
                  </a:schemeClr>
                </a:solidFill>
                <a:latin typeface="+mn-lt"/>
              </a:rPr>
              <a:t>3</a:t>
            </a:r>
          </a:p>
        </p:txBody>
      </p:sp>
      <p:sp>
        <p:nvSpPr>
          <p:cNvPr id="51" name="TextBox 50">
            <a:extLst>
              <a:ext uri="{FF2B5EF4-FFF2-40B4-BE49-F238E27FC236}">
                <a16:creationId xmlns:a16="http://schemas.microsoft.com/office/drawing/2014/main" id="{5CC662E8-22E7-4619-BBDF-B65F8FAC31AE}"/>
              </a:ext>
            </a:extLst>
          </p:cNvPr>
          <p:cNvSpPr txBox="1"/>
          <p:nvPr userDrawn="1"/>
        </p:nvSpPr>
        <p:spPr>
          <a:xfrm>
            <a:off x="4876785" y="467796"/>
            <a:ext cx="2438396" cy="400110"/>
          </a:xfrm>
          <a:prstGeom prst="rect">
            <a:avLst/>
          </a:prstGeom>
          <a:noFill/>
        </p:spPr>
        <p:txBody>
          <a:bodyPr wrap="square" rtlCol="0">
            <a:spAutoFit/>
          </a:bodyPr>
          <a:lstStyle/>
          <a:p>
            <a:pPr marL="288000"/>
            <a:r>
              <a:rPr lang="en-AU" sz="1400" dirty="0">
                <a:latin typeface="+mj-lt"/>
              </a:rPr>
              <a:t>Value proposition</a:t>
            </a:r>
          </a:p>
          <a:p>
            <a:pPr marL="288000"/>
            <a:r>
              <a:rPr lang="en-AU" sz="600" dirty="0">
                <a:latin typeface="+mn-lt"/>
              </a:rPr>
              <a:t>What problem or need are you solving for?</a:t>
            </a:r>
            <a:endParaRPr lang="en-AU" sz="500" dirty="0">
              <a:latin typeface="+mn-lt"/>
            </a:endParaRPr>
          </a:p>
        </p:txBody>
      </p:sp>
      <p:sp>
        <p:nvSpPr>
          <p:cNvPr id="52" name="TextBox 51">
            <a:extLst>
              <a:ext uri="{FF2B5EF4-FFF2-40B4-BE49-F238E27FC236}">
                <a16:creationId xmlns:a16="http://schemas.microsoft.com/office/drawing/2014/main" id="{4D3251B1-8D3B-4AFE-8C6C-664D98845871}"/>
              </a:ext>
            </a:extLst>
          </p:cNvPr>
          <p:cNvSpPr txBox="1"/>
          <p:nvPr userDrawn="1"/>
        </p:nvSpPr>
        <p:spPr>
          <a:xfrm>
            <a:off x="4876785" y="456846"/>
            <a:ext cx="383377" cy="405683"/>
          </a:xfrm>
          <a:prstGeom prst="rect">
            <a:avLst/>
          </a:prstGeom>
          <a:noFill/>
        </p:spPr>
        <p:txBody>
          <a:bodyPr wrap="square" tIns="18000" bIns="18000" rtlCol="0" anchor="ctr">
            <a:spAutoFit/>
          </a:bodyPr>
          <a:lstStyle/>
          <a:p>
            <a:pPr algn="ctr"/>
            <a:r>
              <a:rPr lang="en-AU" sz="2300" b="0" dirty="0">
                <a:solidFill>
                  <a:schemeClr val="tx2">
                    <a:lumMod val="40000"/>
                    <a:lumOff val="60000"/>
                  </a:schemeClr>
                </a:solidFill>
                <a:latin typeface="+mn-lt"/>
              </a:rPr>
              <a:t>2</a:t>
            </a:r>
          </a:p>
        </p:txBody>
      </p:sp>
      <p:sp>
        <p:nvSpPr>
          <p:cNvPr id="53" name="TextBox 52">
            <a:extLst>
              <a:ext uri="{FF2B5EF4-FFF2-40B4-BE49-F238E27FC236}">
                <a16:creationId xmlns:a16="http://schemas.microsoft.com/office/drawing/2014/main" id="{730D1429-6258-42C1-BA7C-0BDA05611A3E}"/>
              </a:ext>
            </a:extLst>
          </p:cNvPr>
          <p:cNvSpPr txBox="1"/>
          <p:nvPr userDrawn="1"/>
        </p:nvSpPr>
        <p:spPr>
          <a:xfrm>
            <a:off x="9753604" y="468292"/>
            <a:ext cx="2438396" cy="400110"/>
          </a:xfrm>
          <a:prstGeom prst="rect">
            <a:avLst/>
          </a:prstGeom>
          <a:noFill/>
        </p:spPr>
        <p:txBody>
          <a:bodyPr wrap="square" rtlCol="0">
            <a:spAutoFit/>
          </a:bodyPr>
          <a:lstStyle/>
          <a:p>
            <a:pPr marL="288000"/>
            <a:r>
              <a:rPr lang="en-AU" sz="1400" dirty="0">
                <a:latin typeface="+mj-lt"/>
              </a:rPr>
              <a:t>Customer segments</a:t>
            </a:r>
          </a:p>
          <a:p>
            <a:pPr marL="288000"/>
            <a:r>
              <a:rPr lang="en-AU" sz="600" dirty="0">
                <a:latin typeface="+mn-lt"/>
              </a:rPr>
              <a:t>Who are your customers? What are the different groupings?</a:t>
            </a:r>
            <a:endParaRPr lang="en-AU" sz="500" dirty="0">
              <a:latin typeface="+mn-lt"/>
            </a:endParaRPr>
          </a:p>
        </p:txBody>
      </p:sp>
      <p:sp>
        <p:nvSpPr>
          <p:cNvPr id="54" name="TextBox 53">
            <a:extLst>
              <a:ext uri="{FF2B5EF4-FFF2-40B4-BE49-F238E27FC236}">
                <a16:creationId xmlns:a16="http://schemas.microsoft.com/office/drawing/2014/main" id="{19EC4E71-1B5B-43C5-957A-5904EC271668}"/>
              </a:ext>
            </a:extLst>
          </p:cNvPr>
          <p:cNvSpPr txBox="1"/>
          <p:nvPr userDrawn="1"/>
        </p:nvSpPr>
        <p:spPr>
          <a:xfrm>
            <a:off x="9753604" y="457342"/>
            <a:ext cx="383377" cy="405683"/>
          </a:xfrm>
          <a:prstGeom prst="rect">
            <a:avLst/>
          </a:prstGeom>
          <a:noFill/>
        </p:spPr>
        <p:txBody>
          <a:bodyPr wrap="square" tIns="18000" bIns="18000" rtlCol="0" anchor="ctr">
            <a:spAutoFit/>
          </a:bodyPr>
          <a:lstStyle/>
          <a:p>
            <a:pPr algn="ctr"/>
            <a:r>
              <a:rPr lang="en-AU" sz="2300" b="0" dirty="0">
                <a:solidFill>
                  <a:schemeClr val="tx2">
                    <a:lumMod val="40000"/>
                    <a:lumOff val="60000"/>
                  </a:schemeClr>
                </a:solidFill>
                <a:latin typeface="+mn-lt"/>
              </a:rPr>
              <a:t>1</a:t>
            </a:r>
          </a:p>
        </p:txBody>
      </p:sp>
      <p:sp>
        <p:nvSpPr>
          <p:cNvPr id="55" name="Text Placeholder 6">
            <a:extLst>
              <a:ext uri="{FF2B5EF4-FFF2-40B4-BE49-F238E27FC236}">
                <a16:creationId xmlns:a16="http://schemas.microsoft.com/office/drawing/2014/main" id="{2BE139DE-24AE-460C-BBB3-AE2E0EF4B8A3}"/>
              </a:ext>
            </a:extLst>
          </p:cNvPr>
          <p:cNvSpPr>
            <a:spLocks noGrp="1"/>
          </p:cNvSpPr>
          <p:nvPr>
            <p:ph type="body" sz="quarter" idx="24" hasCustomPrompt="1"/>
          </p:nvPr>
        </p:nvSpPr>
        <p:spPr>
          <a:xfrm>
            <a:off x="2457451" y="3034990"/>
            <a:ext cx="2398712" cy="1721976"/>
          </a:xfrm>
        </p:spPr>
        <p:txBody>
          <a:bodyPr lIns="36000" tIns="36000" rIns="36000" bIns="36000">
            <a:normAutofit/>
          </a:bodyPr>
          <a:lstStyle>
            <a:lvl1pPr marL="108000" indent="-108000">
              <a:spcBef>
                <a:spcPts val="200"/>
              </a:spcBef>
              <a:defRPr sz="1100"/>
            </a:lvl1pPr>
            <a:lvl2pPr marL="216000" indent="-108000">
              <a:spcBef>
                <a:spcPts val="200"/>
              </a:spcBef>
              <a:defRPr sz="1050"/>
            </a:lvl2pPr>
            <a:lvl3pPr marL="324000" indent="-108000">
              <a:spcBef>
                <a:spcPts val="200"/>
              </a:spcBef>
              <a:defRPr sz="1000"/>
            </a:lvl3pPr>
            <a:lvl4pPr marL="432000" indent="-108000">
              <a:spcBef>
                <a:spcPts val="200"/>
              </a:spcBef>
              <a:defRPr sz="900"/>
            </a:lvl4pPr>
          </a:lstStyle>
          <a:p>
            <a:pPr lvl="0"/>
            <a:r>
              <a:rPr lang="en-US" dirty="0"/>
              <a:t>What does the infrastructure look like to enable your revenue streams and key relationships?</a:t>
            </a:r>
          </a:p>
          <a:p>
            <a:pPr lvl="1"/>
            <a:r>
              <a:rPr lang="en-US" dirty="0"/>
              <a:t>Second level</a:t>
            </a:r>
          </a:p>
          <a:p>
            <a:pPr lvl="2"/>
            <a:r>
              <a:rPr lang="en-US" dirty="0"/>
              <a:t>Third level</a:t>
            </a:r>
          </a:p>
          <a:p>
            <a:pPr lvl="3"/>
            <a:r>
              <a:rPr lang="en-US" dirty="0"/>
              <a:t>Fourth level</a:t>
            </a:r>
          </a:p>
        </p:txBody>
      </p:sp>
      <p:pic>
        <p:nvPicPr>
          <p:cNvPr id="58" name="Picture 57" descr="A screenshot of a video game&#10;&#10;Description automatically generated with low confidence">
            <a:extLst>
              <a:ext uri="{FF2B5EF4-FFF2-40B4-BE49-F238E27FC236}">
                <a16:creationId xmlns:a16="http://schemas.microsoft.com/office/drawing/2014/main" id="{76573A0A-59DD-49EE-8BA1-445AEBB7DBA0}"/>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516349" y="116997"/>
            <a:ext cx="1488867" cy="230983"/>
          </a:xfrm>
          <a:prstGeom prst="rect">
            <a:avLst/>
          </a:prstGeom>
        </p:spPr>
      </p:pic>
      <p:sp>
        <p:nvSpPr>
          <p:cNvPr id="3" name="Picture Placeholder 2">
            <a:extLst>
              <a:ext uri="{FF2B5EF4-FFF2-40B4-BE49-F238E27FC236}">
                <a16:creationId xmlns:a16="http://schemas.microsoft.com/office/drawing/2014/main" id="{89D02C3A-D013-45AC-800F-E25484734103}"/>
              </a:ext>
            </a:extLst>
          </p:cNvPr>
          <p:cNvSpPr>
            <a:spLocks noGrp="1"/>
          </p:cNvSpPr>
          <p:nvPr>
            <p:ph type="pic" sz="quarter" idx="30"/>
          </p:nvPr>
        </p:nvSpPr>
        <p:spPr>
          <a:xfrm>
            <a:off x="10417627" y="0"/>
            <a:ext cx="1748974" cy="437488"/>
          </a:xfrm>
        </p:spPr>
        <p:txBody>
          <a:bodyPr>
            <a:noAutofit/>
          </a:bodyPr>
          <a:lstStyle>
            <a:lvl1pPr marL="0" indent="0" algn="r">
              <a:buNone/>
              <a:defRPr sz="1000">
                <a:solidFill>
                  <a:schemeClr val="bg2"/>
                </a:solidFill>
              </a:defRPr>
            </a:lvl1pPr>
          </a:lstStyle>
          <a:p>
            <a:endParaRPr lang="en-AU" dirty="0"/>
          </a:p>
        </p:txBody>
      </p:sp>
      <p:sp>
        <p:nvSpPr>
          <p:cNvPr id="56" name="Rectangle 55">
            <a:extLst>
              <a:ext uri="{FF2B5EF4-FFF2-40B4-BE49-F238E27FC236}">
                <a16:creationId xmlns:a16="http://schemas.microsoft.com/office/drawing/2014/main" id="{3EAB91F2-9F58-4078-B3F2-1ECADF2CC9C6}"/>
              </a:ext>
            </a:extLst>
          </p:cNvPr>
          <p:cNvSpPr/>
          <p:nvPr userDrawn="1"/>
        </p:nvSpPr>
        <p:spPr>
          <a:xfrm>
            <a:off x="1905" y="464456"/>
            <a:ext cx="12182971" cy="6382800"/>
          </a:xfrm>
          <a:prstGeom prst="rect">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49138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shadeToTitle="1">
        <a:blipFill dpi="0" rotWithShape="1">
          <a:blip r:embed="rId9">
            <a:alphaModFix amt="10000"/>
            <a:lum/>
          </a:blip>
          <a:srcRect/>
          <a:tile tx="0" ty="0" sx="100000" sy="100000" flip="none" algn="tl"/>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6311967"/>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61" r:id="rId3"/>
    <p:sldLayoutId id="2147483667" r:id="rId4"/>
    <p:sldLayoutId id="2147483670" r:id="rId5"/>
    <p:sldLayoutId id="2147483671" r:id="rId6"/>
    <p:sldLayoutId id="2147483672"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24.png"/><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xml.rels><?xml version="1.0" encoding="UTF-8" standalone="yes"?>
<Relationships xmlns="http://schemas.openxmlformats.org/package/2006/relationships"><Relationship Id="rId3" Type="http://schemas.openxmlformats.org/officeDocument/2006/relationships/hyperlink" Target="https://miro.com/miroverse/problem-framing-canvas-1/" TargetMode="External"/><Relationship Id="rId2" Type="http://schemas.openxmlformats.org/officeDocument/2006/relationships/hyperlink" Target="https://www.metabeta.com/blog/process/problem-statement-canvas/" TargetMode="Externa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hyperlink" Target="https://miro.com/miroverse/empathy-map-canvas-1/" TargetMode="Externa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mailto:yukti@aicte-india.org" TargetMode="Externa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g"/><Relationship Id="rId1" Type="http://schemas.openxmlformats.org/officeDocument/2006/relationships/slideLayout" Target="../slideLayouts/slideLayout6.xml"/><Relationship Id="rId4" Type="http://schemas.openxmlformats.org/officeDocument/2006/relationships/image" Target="../media/image3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5.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5.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5.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5.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5.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5.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5.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D53FA9-7356-4623-B129-4764C3F1EA3D}"/>
              </a:ext>
            </a:extLst>
          </p:cNvPr>
          <p:cNvPicPr>
            <a:picLocks noChangeAspect="1"/>
          </p:cNvPicPr>
          <p:nvPr/>
        </p:nvPicPr>
        <p:blipFill rotWithShape="1">
          <a:blip r:embed="rId2">
            <a:extLst>
              <a:ext uri="{BEBA8EAE-BF5A-486C-A8C5-ECC9F3942E4B}">
                <a14:imgProps xmlns:a14="http://schemas.microsoft.com/office/drawing/2010/main">
                  <a14:imgLayer r:embed="rId3">
                    <a14:imgEffect>
                      <a14:colorTemperature colorTemp="8800"/>
                    </a14:imgEffect>
                    <a14:imgEffect>
                      <a14:saturation sat="0"/>
                    </a14:imgEffect>
                    <a14:imgEffect>
                      <a14:brightnessContrast bright="-40000" contrast="20000"/>
                    </a14:imgEffect>
                  </a14:imgLayer>
                </a14:imgProps>
              </a:ext>
              <a:ext uri="{28A0092B-C50C-407E-A947-70E740481C1C}">
                <a14:useLocalDpi xmlns:a14="http://schemas.microsoft.com/office/drawing/2010/main" val="0"/>
              </a:ext>
            </a:extLst>
          </a:blip>
          <a:srcRect b="27881"/>
          <a:stretch/>
        </p:blipFill>
        <p:spPr>
          <a:xfrm>
            <a:off x="0" y="0"/>
            <a:ext cx="12192000" cy="4937760"/>
          </a:xfrm>
          <a:prstGeom prst="rect">
            <a:avLst/>
          </a:prstGeom>
          <a:solidFill>
            <a:schemeClr val="bg1"/>
          </a:solidFill>
          <a:effectLst>
            <a:outerShdw blurRad="50800" dist="50800" dir="5400000" algn="ctr" rotWithShape="0">
              <a:srgbClr val="000000"/>
            </a:outerShdw>
          </a:effectLst>
        </p:spPr>
      </p:pic>
      <p:sp>
        <p:nvSpPr>
          <p:cNvPr id="29" name="Rectangle 28"/>
          <p:cNvSpPr/>
          <p:nvPr/>
        </p:nvSpPr>
        <p:spPr>
          <a:xfrm>
            <a:off x="0" y="0"/>
            <a:ext cx="12192000" cy="4937760"/>
          </a:xfrm>
          <a:prstGeom prst="rect">
            <a:avLst/>
          </a:prstGeom>
          <a:solidFill>
            <a:schemeClr val="tx1">
              <a:lumMod val="85000"/>
              <a:lumOff val="15000"/>
              <a:alpha val="6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619993" y="4264971"/>
            <a:ext cx="10952013" cy="1647287"/>
          </a:xfrm>
          <a:prstGeom prst="roundRect">
            <a:avLst>
              <a:gd name="adj" fmla="val 50000"/>
            </a:avLst>
          </a:prstGeom>
          <a:solidFill>
            <a:srgbClr val="F04034"/>
          </a:solidFill>
          <a:ln>
            <a:noFill/>
          </a:ln>
          <a:effectLst>
            <a:outerShdw blurRad="889000" dist="368300" dir="8400000" sx="102000" sy="102000" algn="ctr" rotWithShape="0">
              <a:prstClr val="black">
                <a:alpha val="6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500" b="1" dirty="0">
                <a:solidFill>
                  <a:schemeClr val="bg1"/>
                </a:solidFill>
                <a:latin typeface="Montserrat" panose="00000500000000000000" pitchFamily="2" charset="0"/>
              </a:rPr>
              <a:t>Innovation Title: Stress Monitoring Cap</a:t>
            </a:r>
            <a:endParaRPr lang="en-US" sz="2500" dirty="0">
              <a:latin typeface="Montserrat" panose="00000500000000000000" pitchFamily="2" charset="0"/>
            </a:endParaRPr>
          </a:p>
        </p:txBody>
      </p:sp>
      <p:sp>
        <p:nvSpPr>
          <p:cNvPr id="28" name="TextBox 27"/>
          <p:cNvSpPr txBox="1"/>
          <p:nvPr/>
        </p:nvSpPr>
        <p:spPr>
          <a:xfrm>
            <a:off x="180391" y="187495"/>
            <a:ext cx="11831215" cy="1938992"/>
          </a:xfrm>
          <a:prstGeom prst="rect">
            <a:avLst/>
          </a:prstGeom>
          <a:noFill/>
        </p:spPr>
        <p:txBody>
          <a:bodyPr wrap="square" rtlCol="0">
            <a:spAutoFit/>
          </a:bodyPr>
          <a:lstStyle/>
          <a:p>
            <a:pPr algn="ctr"/>
            <a:r>
              <a:rPr lang="en-IN" sz="2400" b="1" dirty="0">
                <a:solidFill>
                  <a:schemeClr val="bg1"/>
                </a:solidFill>
                <a:latin typeface="Montserrat" panose="00000500000000000000" pitchFamily="2" charset="0"/>
              </a:rPr>
              <a:t>AICTE Productization Fellowship </a:t>
            </a:r>
          </a:p>
          <a:p>
            <a:pPr algn="ctr"/>
            <a:r>
              <a:rPr lang="en-IN" sz="2400" b="1" dirty="0">
                <a:solidFill>
                  <a:schemeClr val="bg1"/>
                </a:solidFill>
                <a:latin typeface="Montserrat" panose="00000500000000000000" pitchFamily="2" charset="0"/>
              </a:rPr>
              <a:t>YUKTI Innovation Challenge 2025</a:t>
            </a:r>
          </a:p>
          <a:p>
            <a:pPr algn="ctr"/>
            <a:r>
              <a:rPr lang="en-IN" sz="2400" b="1" dirty="0">
                <a:solidFill>
                  <a:schemeClr val="bg1"/>
                </a:solidFill>
                <a:latin typeface="Montserrat" panose="00000500000000000000" pitchFamily="2" charset="0"/>
              </a:rPr>
              <a:t>Institution’s Innovation Council (IIC), AICTE</a:t>
            </a:r>
          </a:p>
          <a:p>
            <a:pPr algn="ctr"/>
            <a:endParaRPr lang="en-IN" sz="2400" b="1" dirty="0">
              <a:solidFill>
                <a:schemeClr val="bg1"/>
              </a:solidFill>
              <a:latin typeface="Montserrat" panose="00000500000000000000" pitchFamily="2" charset="0"/>
            </a:endParaRPr>
          </a:p>
          <a:p>
            <a:pPr algn="ctr"/>
            <a:r>
              <a:rPr lang="en-IN" sz="2400" b="1" dirty="0">
                <a:solidFill>
                  <a:schemeClr val="bg1"/>
                </a:solidFill>
                <a:latin typeface="Montserrat" panose="00000500000000000000" pitchFamily="2" charset="0"/>
              </a:rPr>
              <a:t>2</a:t>
            </a:r>
            <a:r>
              <a:rPr lang="en-IN" sz="2400" b="1" baseline="30000" dirty="0">
                <a:solidFill>
                  <a:schemeClr val="bg1"/>
                </a:solidFill>
                <a:latin typeface="Montserrat" panose="00000500000000000000" pitchFamily="2" charset="0"/>
              </a:rPr>
              <a:t>nd</a:t>
            </a:r>
            <a:r>
              <a:rPr lang="en-IN" sz="2400" b="1" dirty="0">
                <a:solidFill>
                  <a:schemeClr val="bg1"/>
                </a:solidFill>
                <a:latin typeface="Montserrat" panose="00000500000000000000" pitchFamily="2" charset="0"/>
              </a:rPr>
              <a:t> Stage Evaluation</a:t>
            </a:r>
          </a:p>
        </p:txBody>
      </p:sp>
      <p:sp>
        <p:nvSpPr>
          <p:cNvPr id="12" name="TextBox 11">
            <a:extLst>
              <a:ext uri="{FF2B5EF4-FFF2-40B4-BE49-F238E27FC236}">
                <a16:creationId xmlns:a16="http://schemas.microsoft.com/office/drawing/2014/main" id="{569AB65A-9930-4692-A810-1D36B837F291}"/>
              </a:ext>
            </a:extLst>
          </p:cNvPr>
          <p:cNvSpPr txBox="1"/>
          <p:nvPr/>
        </p:nvSpPr>
        <p:spPr>
          <a:xfrm>
            <a:off x="1" y="2561973"/>
            <a:ext cx="4656465" cy="1015663"/>
          </a:xfrm>
          <a:prstGeom prst="rect">
            <a:avLst/>
          </a:prstGeom>
          <a:noFill/>
        </p:spPr>
        <p:txBody>
          <a:bodyPr wrap="square" rtlCol="0">
            <a:spAutoFit/>
          </a:bodyPr>
          <a:lstStyle/>
          <a:p>
            <a:r>
              <a:rPr lang="en-IN" sz="1500" dirty="0">
                <a:solidFill>
                  <a:schemeClr val="bg1"/>
                </a:solidFill>
                <a:latin typeface="Montserrat" panose="00000500000000000000" pitchFamily="2" charset="0"/>
              </a:rPr>
              <a:t>Proto ID:</a:t>
            </a:r>
          </a:p>
          <a:p>
            <a:r>
              <a:rPr lang="en-US" sz="1500" dirty="0">
                <a:solidFill>
                  <a:schemeClr val="bg1"/>
                </a:solidFill>
                <a:latin typeface="Montserrat" panose="00000500000000000000" pitchFamily="2" charset="0"/>
              </a:rPr>
              <a:t>IIC Institute Name:</a:t>
            </a:r>
          </a:p>
          <a:p>
            <a:r>
              <a:rPr lang="en-US" sz="1500" dirty="0">
                <a:solidFill>
                  <a:schemeClr val="bg1"/>
                </a:solidFill>
                <a:latin typeface="Montserrat" panose="00000500000000000000" pitchFamily="2" charset="0"/>
              </a:rPr>
              <a:t>Team Lead Name:</a:t>
            </a:r>
          </a:p>
          <a:p>
            <a:pPr algn="ctr"/>
            <a:endParaRPr lang="id-ID" sz="1500" dirty="0">
              <a:solidFill>
                <a:schemeClr val="bg1"/>
              </a:solidFill>
              <a:latin typeface="Montserrat" panose="00000500000000000000" pitchFamily="2" charset="0"/>
            </a:endParaRPr>
          </a:p>
        </p:txBody>
      </p:sp>
      <p:sp>
        <p:nvSpPr>
          <p:cNvPr id="9" name="TextBox 8">
            <a:extLst>
              <a:ext uri="{FF2B5EF4-FFF2-40B4-BE49-F238E27FC236}">
                <a16:creationId xmlns:a16="http://schemas.microsoft.com/office/drawing/2014/main" id="{569AB65A-9930-4692-A810-1D36B837F291}"/>
              </a:ext>
            </a:extLst>
          </p:cNvPr>
          <p:cNvSpPr txBox="1"/>
          <p:nvPr/>
        </p:nvSpPr>
        <p:spPr>
          <a:xfrm>
            <a:off x="7535535" y="2561973"/>
            <a:ext cx="4656465" cy="1015663"/>
          </a:xfrm>
          <a:prstGeom prst="rect">
            <a:avLst/>
          </a:prstGeom>
          <a:noFill/>
        </p:spPr>
        <p:txBody>
          <a:bodyPr wrap="square" rtlCol="0">
            <a:spAutoFit/>
          </a:bodyPr>
          <a:lstStyle/>
          <a:p>
            <a:r>
              <a:rPr lang="en-IN" sz="1500" dirty="0">
                <a:solidFill>
                  <a:schemeClr val="bg1"/>
                </a:solidFill>
                <a:latin typeface="Montserrat" panose="00000500000000000000" pitchFamily="2" charset="0"/>
              </a:rPr>
              <a:t>Theme/Sector of Focus:</a:t>
            </a:r>
          </a:p>
          <a:p>
            <a:r>
              <a:rPr lang="en-US" sz="1500" dirty="0">
                <a:solidFill>
                  <a:schemeClr val="bg1"/>
                </a:solidFill>
                <a:latin typeface="Montserrat" panose="00000500000000000000" pitchFamily="2" charset="0"/>
              </a:rPr>
              <a:t>Mentor Name:</a:t>
            </a:r>
          </a:p>
          <a:p>
            <a:r>
              <a:rPr lang="en-US" sz="1500" dirty="0">
                <a:solidFill>
                  <a:schemeClr val="bg1"/>
                </a:solidFill>
                <a:latin typeface="Montserrat" panose="00000500000000000000" pitchFamily="2" charset="0"/>
              </a:rPr>
              <a:t>Team Members:</a:t>
            </a:r>
          </a:p>
          <a:p>
            <a:pPr algn="ctr"/>
            <a:endParaRPr lang="id-ID" sz="1500" dirty="0">
              <a:solidFill>
                <a:schemeClr val="bg1"/>
              </a:solidFill>
              <a:latin typeface="Montserrat" panose="00000500000000000000" pitchFamily="2" charset="0"/>
            </a:endParaRPr>
          </a:p>
        </p:txBody>
      </p:sp>
      <p:pic>
        <p:nvPicPr>
          <p:cNvPr id="8" name="Picture 7" descr="Graphical user interface&#10;&#10;Description automatically generated with medium confidence">
            <a:extLst>
              <a:ext uri="{FF2B5EF4-FFF2-40B4-BE49-F238E27FC236}">
                <a16:creationId xmlns:a16="http://schemas.microsoft.com/office/drawing/2014/main" id="{979991DD-220B-DED6-34E5-8934C079260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12894" y="6252547"/>
            <a:ext cx="1801473" cy="639523"/>
          </a:xfrm>
          <a:prstGeom prst="rect">
            <a:avLst/>
          </a:prstGeom>
        </p:spPr>
      </p:pic>
      <p:pic>
        <p:nvPicPr>
          <p:cNvPr id="11" name="Picture 10" descr="Logo&#10;&#10;Description automatically generated">
            <a:extLst>
              <a:ext uri="{FF2B5EF4-FFF2-40B4-BE49-F238E27FC236}">
                <a16:creationId xmlns:a16="http://schemas.microsoft.com/office/drawing/2014/main" id="{A4C4E51A-F5A9-07B7-8CA1-FFF57D59322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974990" y="6260541"/>
            <a:ext cx="599121" cy="599121"/>
          </a:xfrm>
          <a:prstGeom prst="rect">
            <a:avLst/>
          </a:prstGeom>
        </p:spPr>
      </p:pic>
      <p:pic>
        <p:nvPicPr>
          <p:cNvPr id="14" name="Picture 1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0391" y="6340711"/>
            <a:ext cx="2097799" cy="431510"/>
          </a:xfrm>
          <a:prstGeom prst="rect">
            <a:avLst/>
          </a:prstGeom>
        </p:spPr>
      </p:pic>
      <p:pic>
        <p:nvPicPr>
          <p:cNvPr id="16" name="Picture 1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813294" y="6282546"/>
            <a:ext cx="1294870" cy="560183"/>
          </a:xfrm>
          <a:prstGeom prst="rect">
            <a:avLst/>
          </a:prstGeom>
        </p:spPr>
      </p:pic>
    </p:spTree>
    <p:extLst>
      <p:ext uri="{BB962C8B-B14F-4D97-AF65-F5344CB8AC3E}">
        <p14:creationId xmlns:p14="http://schemas.microsoft.com/office/powerpoint/2010/main" val="4015691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30629"/>
            <a:ext cx="11425645" cy="6500948"/>
          </a:xfrm>
        </p:spPr>
        <p:txBody>
          <a:bodyPr>
            <a:normAutofit/>
          </a:bodyPr>
          <a:lstStyle/>
          <a:p>
            <a:r>
              <a:rPr lang="en-IN" b="1" dirty="0"/>
              <a:t>Assignment 1: Problem Framing/Statement Canvas</a:t>
            </a:r>
            <a:br>
              <a:rPr lang="en-IN" b="1" dirty="0"/>
            </a:br>
            <a:br>
              <a:rPr lang="en-IN" dirty="0"/>
            </a:br>
            <a:r>
              <a:rPr lang="en-IN" sz="3600" dirty="0"/>
              <a:t>Preparation and Submission of a Problem Statement Canvas Sheet for Validation of your Idea/Prototype/Innovation</a:t>
            </a:r>
            <a:br>
              <a:rPr lang="en-IN" dirty="0"/>
            </a:br>
            <a:br>
              <a:rPr lang="en-IN" dirty="0"/>
            </a:br>
            <a:r>
              <a:rPr lang="en-IN" sz="2800" i="1" dirty="0"/>
              <a:t>Find few Sample Problem Statement/Framing Canvas copy for Reference and Blank Formats for Fill up and Upload of the same (jpg or pdf) in the YUKTI Portal. </a:t>
            </a:r>
          </a:p>
        </p:txBody>
      </p:sp>
      <p:sp>
        <p:nvSpPr>
          <p:cNvPr id="3" name="Rectangle 2"/>
          <p:cNvSpPr/>
          <p:nvPr/>
        </p:nvSpPr>
        <p:spPr>
          <a:xfrm>
            <a:off x="548640" y="5708247"/>
            <a:ext cx="11321143" cy="923330"/>
          </a:xfrm>
          <a:prstGeom prst="rect">
            <a:avLst/>
          </a:prstGeom>
        </p:spPr>
        <p:txBody>
          <a:bodyPr wrap="square">
            <a:spAutoFit/>
          </a:bodyPr>
          <a:lstStyle/>
          <a:p>
            <a:pPr algn="ctr"/>
            <a:r>
              <a:rPr lang="en-IN" i="1" dirty="0"/>
              <a:t>Please refer the example and format of Problem Statement Canvas provided at </a:t>
            </a:r>
            <a:r>
              <a:rPr lang="en-IN" i="1" dirty="0">
                <a:hlinkClick r:id="rId2"/>
              </a:rPr>
              <a:t>https://www.metabeta.com/blog/process/problem-statement-canvas/</a:t>
            </a:r>
            <a:r>
              <a:rPr lang="en-IN" i="1" dirty="0"/>
              <a:t>. Alternatively can refer the Problem Framing Canvas at </a:t>
            </a:r>
            <a:r>
              <a:rPr lang="en-IN" i="1" dirty="0">
                <a:hlinkClick r:id="rId3"/>
              </a:rPr>
              <a:t>https://miro.com/miroverse/problem-framing-canvas-1/</a:t>
            </a:r>
            <a:r>
              <a:rPr lang="en-IN" i="1" dirty="0"/>
              <a:t> </a:t>
            </a:r>
          </a:p>
        </p:txBody>
      </p:sp>
    </p:spTree>
    <p:extLst>
      <p:ext uri="{BB962C8B-B14F-4D97-AF65-F5344CB8AC3E}">
        <p14:creationId xmlns:p14="http://schemas.microsoft.com/office/powerpoint/2010/main" val="2259143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200272" y="124199"/>
            <a:ext cx="11895153" cy="6680097"/>
            <a:chOff x="143122" y="105149"/>
            <a:chExt cx="11895153" cy="6680097"/>
          </a:xfrm>
        </p:grpSpPr>
        <p:pic>
          <p:nvPicPr>
            <p:cNvPr id="5122" name="Picture 2" descr="Problem statement canvas for startups and innovation tea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122" y="1075149"/>
              <a:ext cx="11895153" cy="5654303"/>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623437" y="632525"/>
              <a:ext cx="5198993" cy="384721"/>
            </a:xfrm>
            <a:prstGeom prst="rect">
              <a:avLst/>
            </a:prstGeom>
            <a:solidFill>
              <a:schemeClr val="bg1"/>
            </a:solidFill>
            <a:ln>
              <a:solidFill>
                <a:schemeClr val="tx1"/>
              </a:solidFill>
            </a:ln>
          </p:spPr>
          <p:txBody>
            <a:bodyPr wrap="square" rtlCol="0">
              <a:spAutoFit/>
            </a:bodyPr>
            <a:lstStyle/>
            <a:p>
              <a:r>
                <a:rPr lang="en-IN" sz="1000" dirty="0">
                  <a:solidFill>
                    <a:srgbClr val="C00000"/>
                  </a:solidFill>
                </a:rPr>
                <a:t>Who is your Customer Segment:</a:t>
              </a:r>
            </a:p>
            <a:p>
              <a:r>
                <a:rPr lang="en-US" sz="900" dirty="0">
                  <a:latin typeface="Times New Roman" panose="02020603050405020304" pitchFamily="18" charset="0"/>
                  <a:ea typeface="Tahoma" panose="020B0604030504040204" pitchFamily="34" charset="0"/>
                  <a:cs typeface="Times New Roman" panose="02020603050405020304" pitchFamily="18" charset="0"/>
                </a:rPr>
                <a:t>Students, corporate employees, healthcare patients, and defense personnel experiencing high mental load</a:t>
              </a:r>
              <a:r>
                <a:rPr lang="en-US" sz="900" dirty="0">
                  <a:latin typeface="Times New Roman" panose="02020603050405020304" pitchFamily="18" charset="0"/>
                  <a:cs typeface="Times New Roman" panose="02020603050405020304" pitchFamily="18" charset="0"/>
                </a:rPr>
                <a:t>.</a:t>
              </a:r>
              <a:endParaRPr lang="en-IN" sz="900" dirty="0">
                <a:solidFill>
                  <a:srgbClr val="C0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6623436" y="208095"/>
              <a:ext cx="5287617" cy="400110"/>
            </a:xfrm>
            <a:prstGeom prst="rect">
              <a:avLst/>
            </a:prstGeom>
            <a:solidFill>
              <a:schemeClr val="bg1"/>
            </a:solidFill>
            <a:ln>
              <a:solidFill>
                <a:schemeClr val="tx1"/>
              </a:solidFill>
            </a:ln>
          </p:spPr>
          <p:txBody>
            <a:bodyPr wrap="square" rtlCol="0">
              <a:spAutoFit/>
            </a:bodyPr>
            <a:lstStyle/>
            <a:p>
              <a:r>
                <a:rPr lang="en-IN" sz="1000" dirty="0">
                  <a:solidFill>
                    <a:srgbClr val="C00000"/>
                  </a:solidFill>
                </a:rPr>
                <a:t>Idea/Innovation Title:</a:t>
              </a:r>
            </a:p>
            <a:p>
              <a:r>
                <a:rPr lang="en-IN" sz="1000" dirty="0">
                  <a:solidFill>
                    <a:srgbClr val="C00000"/>
                  </a:solidFill>
                </a:rPr>
                <a:t> </a:t>
              </a:r>
              <a:r>
                <a:rPr lang="en-US" sz="1000" dirty="0">
                  <a:latin typeface="Times New Roman" panose="02020603050405020304" pitchFamily="18" charset="0"/>
                  <a:cs typeface="Times New Roman" panose="02020603050405020304" pitchFamily="18" charset="0"/>
                </a:rPr>
                <a:t>Wearable Brainwave Monitoring Cap to Detect and Alert Cognitive Stress</a:t>
              </a:r>
              <a:endParaRPr lang="en-IN" sz="1000" dirty="0">
                <a:solidFill>
                  <a:srgbClr val="C00000"/>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365890" y="779963"/>
              <a:ext cx="4207621" cy="246221"/>
            </a:xfrm>
            <a:prstGeom prst="rect">
              <a:avLst/>
            </a:prstGeom>
            <a:solidFill>
              <a:schemeClr val="bg1"/>
            </a:solidFill>
            <a:ln>
              <a:solidFill>
                <a:schemeClr val="tx1"/>
              </a:solidFill>
            </a:ln>
          </p:spPr>
          <p:txBody>
            <a:bodyPr wrap="square" rtlCol="0">
              <a:spAutoFit/>
            </a:bodyPr>
            <a:lstStyle/>
            <a:p>
              <a:r>
                <a:rPr lang="en-IN" sz="1000" dirty="0">
                  <a:solidFill>
                    <a:srgbClr val="C00000"/>
                  </a:solidFill>
                </a:rPr>
                <a:t>Prepared By: D </a:t>
              </a:r>
              <a:r>
                <a:rPr lang="en-IN" sz="1000" dirty="0" err="1">
                  <a:solidFill>
                    <a:srgbClr val="C00000"/>
                  </a:solidFill>
                </a:rPr>
                <a:t>Vinithri</a:t>
              </a:r>
              <a:endParaRPr lang="en-IN" sz="1000" dirty="0">
                <a:solidFill>
                  <a:srgbClr val="C00000"/>
                </a:solidFill>
              </a:endParaRPr>
            </a:p>
          </p:txBody>
        </p:sp>
        <p:sp>
          <p:nvSpPr>
            <p:cNvPr id="10" name="TextBox 9"/>
            <p:cNvSpPr txBox="1"/>
            <p:nvPr/>
          </p:nvSpPr>
          <p:spPr>
            <a:xfrm>
              <a:off x="365890" y="105149"/>
              <a:ext cx="4207621" cy="523220"/>
            </a:xfrm>
            <a:prstGeom prst="rect">
              <a:avLst/>
            </a:prstGeom>
            <a:solidFill>
              <a:schemeClr val="bg1"/>
            </a:solidFill>
            <a:ln>
              <a:noFill/>
            </a:ln>
          </p:spPr>
          <p:txBody>
            <a:bodyPr wrap="square" rtlCol="0">
              <a:spAutoFit/>
            </a:bodyPr>
            <a:lstStyle/>
            <a:p>
              <a:r>
                <a:rPr lang="en-IN" sz="2800" b="1" dirty="0">
                  <a:solidFill>
                    <a:srgbClr val="C00000"/>
                  </a:solidFill>
                </a:rPr>
                <a:t>Problem Statement Canvas</a:t>
              </a:r>
            </a:p>
          </p:txBody>
        </p:sp>
        <p:sp>
          <p:nvSpPr>
            <p:cNvPr id="7" name="TextBox 6"/>
            <p:cNvSpPr txBox="1"/>
            <p:nvPr/>
          </p:nvSpPr>
          <p:spPr>
            <a:xfrm>
              <a:off x="4676879" y="197377"/>
              <a:ext cx="1803434" cy="246221"/>
            </a:xfrm>
            <a:prstGeom prst="rect">
              <a:avLst/>
            </a:prstGeom>
            <a:solidFill>
              <a:schemeClr val="bg1"/>
            </a:solidFill>
            <a:ln>
              <a:solidFill>
                <a:schemeClr val="tx1"/>
              </a:solidFill>
            </a:ln>
          </p:spPr>
          <p:txBody>
            <a:bodyPr wrap="square" rtlCol="0">
              <a:spAutoFit/>
            </a:bodyPr>
            <a:lstStyle/>
            <a:p>
              <a:r>
                <a:rPr lang="en-IN" sz="1000" dirty="0">
                  <a:solidFill>
                    <a:srgbClr val="C00000"/>
                  </a:solidFill>
                </a:rPr>
                <a:t>YUKTI Proto ID: </a:t>
              </a:r>
              <a:r>
                <a:rPr lang="en-IN" sz="1000" dirty="0"/>
                <a:t>IR2025-983828</a:t>
              </a:r>
              <a:endParaRPr lang="en-IN" sz="1000" dirty="0">
                <a:solidFill>
                  <a:srgbClr val="C00000"/>
                </a:solidFill>
              </a:endParaRPr>
            </a:p>
          </p:txBody>
        </p:sp>
        <p:sp>
          <p:nvSpPr>
            <p:cNvPr id="9" name="TextBox 8"/>
            <p:cNvSpPr txBox="1"/>
            <p:nvPr/>
          </p:nvSpPr>
          <p:spPr>
            <a:xfrm>
              <a:off x="4676879" y="510355"/>
              <a:ext cx="1803434" cy="246221"/>
            </a:xfrm>
            <a:prstGeom prst="rect">
              <a:avLst/>
            </a:prstGeom>
            <a:solidFill>
              <a:schemeClr val="bg1"/>
            </a:solidFill>
            <a:ln>
              <a:solidFill>
                <a:schemeClr val="tx1"/>
              </a:solidFill>
            </a:ln>
          </p:spPr>
          <p:txBody>
            <a:bodyPr wrap="square" rtlCol="0">
              <a:spAutoFit/>
            </a:bodyPr>
            <a:lstStyle/>
            <a:p>
              <a:r>
                <a:rPr lang="en-IN" sz="1000" dirty="0">
                  <a:solidFill>
                    <a:srgbClr val="C00000"/>
                  </a:solidFill>
                </a:rPr>
                <a:t>Date of Submission: </a:t>
              </a:r>
            </a:p>
          </p:txBody>
        </p:sp>
        <p:sp>
          <p:nvSpPr>
            <p:cNvPr id="11" name="TextBox 10"/>
            <p:cNvSpPr txBox="1"/>
            <p:nvPr/>
          </p:nvSpPr>
          <p:spPr>
            <a:xfrm>
              <a:off x="4676879" y="807050"/>
              <a:ext cx="1803434" cy="246221"/>
            </a:xfrm>
            <a:prstGeom prst="rect">
              <a:avLst/>
            </a:prstGeom>
            <a:solidFill>
              <a:schemeClr val="bg1"/>
            </a:solidFill>
            <a:ln>
              <a:solidFill>
                <a:schemeClr val="tx1"/>
              </a:solidFill>
            </a:ln>
          </p:spPr>
          <p:txBody>
            <a:bodyPr wrap="square" rtlCol="0">
              <a:spAutoFit/>
            </a:bodyPr>
            <a:lstStyle/>
            <a:p>
              <a:r>
                <a:rPr lang="en-IN" sz="1000" dirty="0">
                  <a:solidFill>
                    <a:srgbClr val="C00000"/>
                  </a:solidFill>
                </a:rPr>
                <a:t>Contact No: 8925272958</a:t>
              </a:r>
            </a:p>
          </p:txBody>
        </p:sp>
        <p:sp>
          <p:nvSpPr>
            <p:cNvPr id="12" name="TextBox 11"/>
            <p:cNvSpPr txBox="1"/>
            <p:nvPr/>
          </p:nvSpPr>
          <p:spPr>
            <a:xfrm>
              <a:off x="277902" y="1991205"/>
              <a:ext cx="3734027" cy="1723549"/>
            </a:xfrm>
            <a:prstGeom prst="rect">
              <a:avLst/>
            </a:prstGeom>
            <a:noFill/>
            <a:ln>
              <a:solidFill>
                <a:schemeClr val="tx1"/>
              </a:solidFill>
              <a:prstDash val="dashDot"/>
            </a:ln>
          </p:spPr>
          <p:txBody>
            <a:bodyPr wrap="square" rtlCol="0">
              <a:spAutoFit/>
            </a:bodyPr>
            <a:lstStyle/>
            <a:p>
              <a:r>
                <a:rPr lang="en-IN" sz="1000" dirty="0">
                  <a:solidFill>
                    <a:srgbClr val="C00000"/>
                  </a:solidFill>
                </a:rPr>
                <a:t>Your Answer:</a:t>
              </a:r>
              <a:r>
                <a:rPr lang="en-US" sz="1200" dirty="0">
                  <a:latin typeface="Times New Roman" panose="02020603050405020304" pitchFamily="18" charset="0"/>
                  <a:cs typeface="Times New Roman" panose="02020603050405020304" pitchFamily="18" charset="0"/>
                </a:rPr>
                <a:t>Cognitive stress occurs during situations of high mental workload—such as exams, tight deadlines, multitasking, long working hours, or critical decision-making scenarios. It is most common in environments with continuous pressure, lack of rest, or emotional strain. The problem often goes unnoticed because early signs of cognitive overload are subtle and difficult to detect without real-time monitoring.</a:t>
              </a:r>
              <a:endParaRPr lang="en-IN" sz="1200" dirty="0">
                <a:solidFill>
                  <a:srgbClr val="C00000"/>
                </a:solidFill>
                <a:latin typeface="Times New Roman" panose="02020603050405020304" pitchFamily="18" charset="0"/>
                <a:cs typeface="Times New Roman" panose="02020603050405020304" pitchFamily="18" charset="0"/>
              </a:endParaRPr>
            </a:p>
            <a:p>
              <a:endParaRPr lang="en-IN" sz="1000" dirty="0">
                <a:solidFill>
                  <a:srgbClr val="C00000"/>
                </a:solidFill>
              </a:endParaRPr>
            </a:p>
          </p:txBody>
        </p:sp>
        <p:sp>
          <p:nvSpPr>
            <p:cNvPr id="13" name="TextBox 12"/>
            <p:cNvSpPr txBox="1"/>
            <p:nvPr/>
          </p:nvSpPr>
          <p:spPr>
            <a:xfrm>
              <a:off x="4233071" y="2160270"/>
              <a:ext cx="3728668" cy="1538883"/>
            </a:xfrm>
            <a:prstGeom prst="rect">
              <a:avLst/>
            </a:prstGeom>
            <a:noFill/>
            <a:ln>
              <a:solidFill>
                <a:schemeClr val="tx1"/>
              </a:solidFill>
              <a:prstDash val="dashDot"/>
            </a:ln>
          </p:spPr>
          <p:txBody>
            <a:bodyPr wrap="square" rtlCol="0">
              <a:spAutoFit/>
            </a:bodyPr>
            <a:lstStyle/>
            <a:p>
              <a:r>
                <a:rPr lang="en-IN" sz="1000" dirty="0">
                  <a:solidFill>
                    <a:srgbClr val="C00000"/>
                  </a:solidFill>
                </a:rPr>
                <a:t>Your Answer:</a:t>
              </a:r>
            </a:p>
            <a:p>
              <a:r>
                <a:rPr lang="en-US" sz="1200" dirty="0">
                  <a:latin typeface="Times New Roman" panose="02020603050405020304" pitchFamily="18" charset="0"/>
                  <a:cs typeface="Times New Roman" panose="02020603050405020304" pitchFamily="18" charset="0"/>
                </a:rPr>
                <a:t>The root cause is the lack of real-time, objective tools to measure brain-based stress levels. Current stress assessments depend on subjective self-reporting, heart rate monitoring, or clinical EEG systems that are expensive, bulky, and not accessible for everyday use. This leads to delayed intervention and deteriorating mental health, productivity, and decision-making ability.</a:t>
              </a:r>
              <a:endParaRPr lang="en-IN" sz="1200" dirty="0">
                <a:solidFill>
                  <a:srgbClr val="C0000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276945" y="1931186"/>
              <a:ext cx="3461665" cy="1723549"/>
            </a:xfrm>
            <a:prstGeom prst="rect">
              <a:avLst/>
            </a:prstGeom>
            <a:noFill/>
            <a:ln>
              <a:solidFill>
                <a:schemeClr val="tx1"/>
              </a:solidFill>
              <a:prstDash val="dashDot"/>
            </a:ln>
          </p:spPr>
          <p:txBody>
            <a:bodyPr wrap="square" rtlCol="0">
              <a:spAutoFit/>
            </a:bodyPr>
            <a:lstStyle/>
            <a:p>
              <a:r>
                <a:rPr lang="en-IN" sz="1000" dirty="0">
                  <a:solidFill>
                    <a:srgbClr val="C00000"/>
                  </a:solidFill>
                </a:rPr>
                <a:t>Your Answer:</a:t>
              </a:r>
            </a:p>
            <a:p>
              <a:r>
                <a:rPr lang="en-US" sz="1200" dirty="0">
                  <a:latin typeface="Times New Roman" panose="02020603050405020304" pitchFamily="18" charset="0"/>
                  <a:cs typeface="Times New Roman" panose="02020603050405020304" pitchFamily="18" charset="0"/>
                </a:rPr>
                <a:t>Use meditation or relaxation apps</a:t>
              </a:r>
            </a:p>
            <a:p>
              <a:r>
                <a:rPr lang="en-US" sz="1200" dirty="0">
                  <a:latin typeface="Times New Roman" panose="02020603050405020304" pitchFamily="18" charset="0"/>
                  <a:cs typeface="Times New Roman" panose="02020603050405020304" pitchFamily="18" charset="0"/>
                </a:rPr>
                <a:t>Rely on wearables that measure heart rate or skin response</a:t>
              </a:r>
            </a:p>
            <a:p>
              <a:r>
                <a:rPr lang="en-US" sz="1200" dirty="0">
                  <a:latin typeface="Times New Roman" panose="02020603050405020304" pitchFamily="18" charset="0"/>
                  <a:cs typeface="Times New Roman" panose="02020603050405020304" pitchFamily="18" charset="0"/>
                </a:rPr>
                <a:t>Visit mental health professionals occasionally</a:t>
              </a:r>
            </a:p>
            <a:p>
              <a:r>
                <a:rPr lang="en-US" sz="1200" dirty="0">
                  <a:latin typeface="Times New Roman" panose="02020603050405020304" pitchFamily="18" charset="0"/>
                  <a:cs typeface="Times New Roman" panose="02020603050405020304" pitchFamily="18" charset="0"/>
                </a:rPr>
                <a:t>Try lifestyle changes like breaks, sleep improvement, or exercise</a:t>
              </a:r>
            </a:p>
            <a:p>
              <a:r>
                <a:rPr lang="en-US" sz="1200" dirty="0">
                  <a:latin typeface="Times New Roman" panose="02020603050405020304" pitchFamily="18" charset="0"/>
                  <a:cs typeface="Times New Roman" panose="02020603050405020304" pitchFamily="18" charset="0"/>
                </a:rPr>
                <a:t>Use guesswork or self-observation to judge stress levels</a:t>
              </a:r>
            </a:p>
          </p:txBody>
        </p:sp>
        <p:sp>
          <p:nvSpPr>
            <p:cNvPr id="15" name="TextBox 14"/>
            <p:cNvSpPr txBox="1"/>
            <p:nvPr/>
          </p:nvSpPr>
          <p:spPr>
            <a:xfrm>
              <a:off x="212766" y="4692365"/>
              <a:ext cx="3799163" cy="2092881"/>
            </a:xfrm>
            <a:prstGeom prst="rect">
              <a:avLst/>
            </a:prstGeom>
            <a:noFill/>
            <a:ln>
              <a:solidFill>
                <a:schemeClr val="tx1"/>
              </a:solidFill>
              <a:prstDash val="dashDot"/>
            </a:ln>
          </p:spPr>
          <p:txBody>
            <a:bodyPr wrap="square" rtlCol="0">
              <a:spAutoFit/>
            </a:bodyPr>
            <a:lstStyle/>
            <a:p>
              <a:r>
                <a:rPr lang="en-IN" sz="1000" dirty="0">
                  <a:solidFill>
                    <a:srgbClr val="C00000"/>
                  </a:solidFill>
                </a:rPr>
                <a:t>Your Answer:</a:t>
              </a:r>
            </a:p>
            <a:p>
              <a:r>
                <a:rPr lang="en-US" sz="1200" b="1" dirty="0">
                  <a:latin typeface="Times New Roman" panose="02020603050405020304" pitchFamily="18" charset="0"/>
                  <a:cs typeface="Times New Roman" panose="02020603050405020304" pitchFamily="18" charset="0"/>
                </a:rPr>
                <a:t>Students:</a:t>
              </a:r>
              <a:r>
                <a:rPr lang="en-US" sz="1200" dirty="0">
                  <a:latin typeface="Times New Roman" panose="02020603050405020304" pitchFamily="18" charset="0"/>
                  <a:cs typeface="Times New Roman" panose="02020603050405020304" pitchFamily="18" charset="0"/>
                </a:rPr>
                <a:t> Facing exam pressure, academic stress, and performance load</a:t>
              </a:r>
            </a:p>
            <a:p>
              <a:r>
                <a:rPr lang="en-US" sz="1200" b="1" dirty="0">
                  <a:latin typeface="Times New Roman" panose="02020603050405020304" pitchFamily="18" charset="0"/>
                  <a:cs typeface="Times New Roman" panose="02020603050405020304" pitchFamily="18" charset="0"/>
                </a:rPr>
                <a:t>Corporate Professionals:</a:t>
              </a:r>
              <a:r>
                <a:rPr lang="en-US" sz="1200" dirty="0">
                  <a:latin typeface="Times New Roman" panose="02020603050405020304" pitchFamily="18" charset="0"/>
                  <a:cs typeface="Times New Roman" panose="02020603050405020304" pitchFamily="18" charset="0"/>
                </a:rPr>
                <a:t> Handling deadlines, workload, and burnout</a:t>
              </a:r>
            </a:p>
            <a:p>
              <a:r>
                <a:rPr lang="en-US" sz="1200" b="1" dirty="0">
                  <a:latin typeface="Times New Roman" panose="02020603050405020304" pitchFamily="18" charset="0"/>
                  <a:cs typeface="Times New Roman" panose="02020603050405020304" pitchFamily="18" charset="0"/>
                </a:rPr>
                <a:t>Healthcare Patients:</a:t>
              </a:r>
              <a:r>
                <a:rPr lang="en-US" sz="1200" dirty="0">
                  <a:latin typeface="Times New Roman" panose="02020603050405020304" pitchFamily="18" charset="0"/>
                  <a:cs typeface="Times New Roman" panose="02020603050405020304" pitchFamily="18" charset="0"/>
                </a:rPr>
                <a:t> Suffering from anxiety or cognitive overload</a:t>
              </a:r>
            </a:p>
            <a:p>
              <a:r>
                <a:rPr lang="en-US" sz="1200" b="1" dirty="0">
                  <a:latin typeface="Times New Roman" panose="02020603050405020304" pitchFamily="18" charset="0"/>
                  <a:cs typeface="Times New Roman" panose="02020603050405020304" pitchFamily="18" charset="0"/>
                </a:rPr>
                <a:t>Defense Personnel:</a:t>
              </a:r>
              <a:r>
                <a:rPr lang="en-US" sz="1200" dirty="0">
                  <a:latin typeface="Times New Roman" panose="02020603050405020304" pitchFamily="18" charset="0"/>
                  <a:cs typeface="Times New Roman" panose="02020603050405020304" pitchFamily="18" charset="0"/>
                </a:rPr>
                <a:t> Working in extremely high-stress and high-risk environments</a:t>
              </a:r>
            </a:p>
            <a:p>
              <a:r>
                <a:rPr lang="en-US" sz="1200" b="1" dirty="0">
                  <a:latin typeface="Times New Roman" panose="02020603050405020304" pitchFamily="18" charset="0"/>
                  <a:cs typeface="Times New Roman" panose="02020603050405020304" pitchFamily="18" charset="0"/>
                </a:rPr>
                <a:t>Emergency Workers:</a:t>
              </a:r>
              <a:r>
                <a:rPr lang="en-US" sz="1200" dirty="0">
                  <a:latin typeface="Times New Roman" panose="02020603050405020304" pitchFamily="18" charset="0"/>
                  <a:cs typeface="Times New Roman" panose="02020603050405020304" pitchFamily="18" charset="0"/>
                </a:rPr>
                <a:t> Doctors, paramedics, and first responders</a:t>
              </a:r>
            </a:p>
          </p:txBody>
        </p:sp>
        <p:sp>
          <p:nvSpPr>
            <p:cNvPr id="16" name="TextBox 15"/>
            <p:cNvSpPr txBox="1"/>
            <p:nvPr/>
          </p:nvSpPr>
          <p:spPr>
            <a:xfrm>
              <a:off x="8261403" y="4692365"/>
              <a:ext cx="3642090" cy="1938992"/>
            </a:xfrm>
            <a:prstGeom prst="rect">
              <a:avLst/>
            </a:prstGeom>
            <a:noFill/>
            <a:ln>
              <a:solidFill>
                <a:schemeClr val="tx1"/>
              </a:solidFill>
              <a:prstDash val="dashDot"/>
            </a:ln>
          </p:spPr>
          <p:txBody>
            <a:bodyPr wrap="square" rtlCol="0">
              <a:spAutoFit/>
            </a:bodyPr>
            <a:lstStyle/>
            <a:p>
              <a:r>
                <a:rPr lang="en-IN" sz="1000" dirty="0">
                  <a:solidFill>
                    <a:srgbClr val="C00000"/>
                  </a:solidFill>
                </a:rPr>
                <a:t>Your Answer:</a:t>
              </a:r>
              <a:r>
                <a:rPr lang="en-US" sz="1200" dirty="0">
                  <a:latin typeface="Times New Roman" panose="02020603050405020304" pitchFamily="18" charset="0"/>
                  <a:cs typeface="Times New Roman" panose="02020603050405020304" pitchFamily="18" charset="0"/>
                </a:rPr>
                <a:t>Heart rate/GSR-based wearables measure </a:t>
              </a:r>
              <a:r>
                <a:rPr lang="en-US" sz="1200" i="1" dirty="0">
                  <a:latin typeface="Times New Roman" panose="02020603050405020304" pitchFamily="18" charset="0"/>
                  <a:cs typeface="Times New Roman" panose="02020603050405020304" pitchFamily="18" charset="0"/>
                </a:rPr>
                <a:t>physical stress</a:t>
              </a:r>
              <a:r>
                <a:rPr lang="en-US" sz="1200" dirty="0">
                  <a:latin typeface="Times New Roman" panose="02020603050405020304" pitchFamily="18" charset="0"/>
                  <a:cs typeface="Times New Roman" panose="02020603050405020304" pitchFamily="18" charset="0"/>
                </a:rPr>
                <a:t>, not </a:t>
              </a:r>
              <a:r>
                <a:rPr lang="en-US" sz="1200" i="1" dirty="0">
                  <a:latin typeface="Times New Roman" panose="02020603050405020304" pitchFamily="18" charset="0"/>
                  <a:cs typeface="Times New Roman" panose="02020603050405020304" pitchFamily="18" charset="0"/>
                </a:rPr>
                <a:t>cognitive stress</a:t>
              </a: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Meditation apps provide relaxation but cannot detect real-time brain activity</a:t>
              </a:r>
            </a:p>
            <a:p>
              <a:r>
                <a:rPr lang="en-US" sz="1200" dirty="0">
                  <a:latin typeface="Times New Roman" panose="02020603050405020304" pitchFamily="18" charset="0"/>
                  <a:cs typeface="Times New Roman" panose="02020603050405020304" pitchFamily="18" charset="0"/>
                </a:rPr>
                <a:t>Clinical EEG systems are expensive, bulky, and not portable</a:t>
              </a:r>
            </a:p>
            <a:p>
              <a:r>
                <a:rPr lang="en-US" sz="1200" dirty="0">
                  <a:latin typeface="Times New Roman" panose="02020603050405020304" pitchFamily="18" charset="0"/>
                  <a:cs typeface="Times New Roman" panose="02020603050405020304" pitchFamily="18" charset="0"/>
                </a:rPr>
                <a:t>Self-reporting is inaccurate and cannot detect early stress</a:t>
              </a:r>
            </a:p>
            <a:p>
              <a:r>
                <a:rPr lang="en-US" sz="1200" dirty="0">
                  <a:latin typeface="Times New Roman" panose="02020603050405020304" pitchFamily="18" charset="0"/>
                  <a:cs typeface="Times New Roman" panose="02020603050405020304" pitchFamily="18" charset="0"/>
                </a:rPr>
                <a:t>Alternatives do not offer personalized, scientifically-backed stress management based on brainwave activity</a:t>
              </a:r>
              <a:r>
                <a:rPr lang="en-IN" sz="1000" dirty="0">
                  <a:solidFill>
                    <a:srgbClr val="C00000"/>
                  </a:solidFill>
                  <a:latin typeface="Times New Roman" panose="02020603050405020304" pitchFamily="18" charset="0"/>
                  <a:cs typeface="Times New Roman" panose="02020603050405020304" pitchFamily="18" charset="0"/>
                </a:rPr>
                <a:t>.</a:t>
              </a:r>
              <a:endParaRPr lang="en-IN" sz="1000" dirty="0">
                <a:solidFill>
                  <a:srgbClr val="C00000"/>
                </a:solidFill>
              </a:endParaRPr>
            </a:p>
          </p:txBody>
        </p:sp>
        <p:sp>
          <p:nvSpPr>
            <p:cNvPr id="17" name="TextBox 16"/>
            <p:cNvSpPr txBox="1"/>
            <p:nvPr/>
          </p:nvSpPr>
          <p:spPr>
            <a:xfrm>
              <a:off x="4333341" y="4454818"/>
              <a:ext cx="3541513" cy="707886"/>
            </a:xfrm>
            <a:prstGeom prst="rect">
              <a:avLst/>
            </a:prstGeom>
            <a:noFill/>
            <a:ln>
              <a:solidFill>
                <a:schemeClr val="tx1"/>
              </a:solidFill>
              <a:prstDash val="dashDot"/>
            </a:ln>
          </p:spPr>
          <p:txBody>
            <a:bodyPr wrap="square" rtlCol="0">
              <a:spAutoFit/>
            </a:bodyPr>
            <a:lstStyle/>
            <a:p>
              <a:r>
                <a:rPr lang="en-IN" sz="1000" dirty="0">
                  <a:solidFill>
                    <a:srgbClr val="C00000"/>
                  </a:solidFill>
                </a:rPr>
                <a:t>Your Answer:</a:t>
              </a:r>
              <a:r>
                <a:rPr lang="en-US" sz="1000" dirty="0">
                  <a:latin typeface="Times New Roman" panose="02020603050405020304" pitchFamily="18" charset="0"/>
                  <a:cs typeface="Times New Roman" panose="02020603050405020304" pitchFamily="18" charset="0"/>
                </a:rPr>
                <a:t>Customers feel overwhelmed, anxious, mentally exhausted, and unable to focus.</a:t>
              </a:r>
              <a:endParaRPr lang="en-IN" sz="1000" dirty="0">
                <a:solidFill>
                  <a:srgbClr val="C00000"/>
                </a:solidFill>
                <a:latin typeface="Times New Roman" panose="02020603050405020304" pitchFamily="18" charset="0"/>
                <a:cs typeface="Times New Roman" panose="02020603050405020304" pitchFamily="18" charset="0"/>
              </a:endParaRPr>
            </a:p>
            <a:p>
              <a:endParaRPr lang="en-IN" sz="1000" dirty="0">
                <a:solidFill>
                  <a:srgbClr val="C00000"/>
                </a:solidFill>
                <a:latin typeface="Times New Roman" panose="02020603050405020304" pitchFamily="18" charset="0"/>
                <a:cs typeface="Times New Roman" panose="02020603050405020304" pitchFamily="18" charset="0"/>
              </a:endParaRPr>
            </a:p>
            <a:p>
              <a:endParaRPr lang="en-IN" sz="1000" dirty="0">
                <a:solidFill>
                  <a:srgbClr val="C00000"/>
                </a:solidFill>
              </a:endParaRPr>
            </a:p>
          </p:txBody>
        </p:sp>
        <p:sp>
          <p:nvSpPr>
            <p:cNvPr id="18" name="TextBox 17"/>
            <p:cNvSpPr txBox="1"/>
            <p:nvPr/>
          </p:nvSpPr>
          <p:spPr>
            <a:xfrm>
              <a:off x="4269653" y="5923471"/>
              <a:ext cx="3642090" cy="707886"/>
            </a:xfrm>
            <a:prstGeom prst="rect">
              <a:avLst/>
            </a:prstGeom>
            <a:noFill/>
            <a:ln>
              <a:solidFill>
                <a:schemeClr val="tx1"/>
              </a:solidFill>
              <a:prstDash val="dashDot"/>
            </a:ln>
          </p:spPr>
          <p:txBody>
            <a:bodyPr wrap="square" rtlCol="0">
              <a:spAutoFit/>
            </a:bodyPr>
            <a:lstStyle/>
            <a:p>
              <a:r>
                <a:rPr lang="en-IN" sz="1000" dirty="0">
                  <a:solidFill>
                    <a:srgbClr val="C00000"/>
                  </a:solidFill>
                </a:rPr>
                <a:t>Your Answer</a:t>
              </a:r>
              <a:r>
                <a:rPr lang="en-IN" sz="1000" dirty="0">
                  <a:solidFill>
                    <a:srgbClr val="C00000"/>
                  </a:solidFill>
                  <a:latin typeface="Times New Roman" panose="02020603050405020304" pitchFamily="18" charset="0"/>
                  <a:cs typeface="Times New Roman" panose="02020603050405020304" pitchFamily="18" charset="0"/>
                </a:rPr>
                <a:t>:</a:t>
              </a:r>
            </a:p>
            <a:p>
              <a:r>
                <a:rPr lang="en-US" sz="1000" dirty="0">
                  <a:latin typeface="Times New Roman" panose="02020603050405020304" pitchFamily="18" charset="0"/>
                  <a:cs typeface="Times New Roman" panose="02020603050405020304" pitchFamily="18" charset="0"/>
                </a:rPr>
                <a:t>Reduced productivity by </a:t>
              </a:r>
              <a:r>
                <a:rPr lang="en-US" sz="1000" b="1" dirty="0">
                  <a:latin typeface="Times New Roman" panose="02020603050405020304" pitchFamily="18" charset="0"/>
                  <a:cs typeface="Times New Roman" panose="02020603050405020304" pitchFamily="18" charset="0"/>
                </a:rPr>
                <a:t>up to 40%</a:t>
              </a:r>
              <a:r>
                <a:rPr lang="en-US" sz="1000" dirty="0">
                  <a:latin typeface="Times New Roman" panose="02020603050405020304" pitchFamily="18" charset="0"/>
                  <a:cs typeface="Times New Roman" panose="02020603050405020304" pitchFamily="18" charset="0"/>
                </a:rPr>
                <a:t> due to cognitive overload</a:t>
              </a:r>
            </a:p>
            <a:p>
              <a:r>
                <a:rPr lang="en-US" sz="1000" dirty="0">
                  <a:latin typeface="Times New Roman" panose="02020603050405020304" pitchFamily="18" charset="0"/>
                  <a:cs typeface="Times New Roman" panose="02020603050405020304" pitchFamily="18" charset="0"/>
                </a:rPr>
                <a:t>Increased mistakes/poor judgment under stress</a:t>
              </a:r>
            </a:p>
            <a:p>
              <a:endParaRPr lang="en-IN" sz="1000" dirty="0">
                <a:solidFill>
                  <a:srgbClr val="C00000"/>
                </a:solidFill>
              </a:endParaRPr>
            </a:p>
          </p:txBody>
        </p:sp>
      </p:grpSp>
      <p:sp>
        <p:nvSpPr>
          <p:cNvPr id="20" name="TextBox 19">
            <a:extLst>
              <a:ext uri="{FF2B5EF4-FFF2-40B4-BE49-F238E27FC236}">
                <a16:creationId xmlns:a16="http://schemas.microsoft.com/office/drawing/2014/main" id="{DE2CF1F0-AFD0-1CA1-07DA-2E5403677D4B}"/>
              </a:ext>
            </a:extLst>
          </p:cNvPr>
          <p:cNvSpPr txBox="1"/>
          <p:nvPr/>
        </p:nvSpPr>
        <p:spPr>
          <a:xfrm>
            <a:off x="3051810" y="2968675"/>
            <a:ext cx="6103620" cy="646331"/>
          </a:xfrm>
          <a:prstGeom prst="rect">
            <a:avLst/>
          </a:prstGeom>
          <a:noFill/>
        </p:spPr>
        <p:txBody>
          <a:bodyPr wrap="square">
            <a:spAutoFit/>
          </a:bodyPr>
          <a:lstStyle/>
          <a:p>
            <a:r>
              <a:rPr lang="en-US" b="0" i="0" dirty="0">
                <a:solidFill>
                  <a:srgbClr val="FFFFFF"/>
                </a:solidFill>
                <a:effectLst/>
                <a:latin typeface="ui-sans-serif"/>
              </a:rPr>
              <a:t>Students, corporate employees, healthcare patients, and defense personnel experiencing high mental load.</a:t>
            </a:r>
            <a:endParaRPr lang="en-IN" dirty="0"/>
          </a:p>
        </p:txBody>
      </p:sp>
    </p:spTree>
    <p:extLst>
      <p:ext uri="{BB962C8B-B14F-4D97-AF65-F5344CB8AC3E}">
        <p14:creationId xmlns:p14="http://schemas.microsoft.com/office/powerpoint/2010/main" val="3180977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30629"/>
            <a:ext cx="11425645" cy="6500948"/>
          </a:xfrm>
        </p:spPr>
        <p:txBody>
          <a:bodyPr>
            <a:normAutofit/>
          </a:bodyPr>
          <a:lstStyle/>
          <a:p>
            <a:r>
              <a:rPr lang="en-IN" b="1" dirty="0"/>
              <a:t>Assignment 2: Empathy Map/Opportunity Canvas</a:t>
            </a:r>
            <a:br>
              <a:rPr lang="en-IN" b="1" dirty="0"/>
            </a:br>
            <a:br>
              <a:rPr lang="en-IN" dirty="0"/>
            </a:br>
            <a:r>
              <a:rPr lang="en-IN" sz="4000" dirty="0"/>
              <a:t>Preparation and Submission of an Empathy Map/ Opportunity Canvas Sheet for Validation of your Prototype/Innovation</a:t>
            </a:r>
            <a:br>
              <a:rPr lang="en-IN" dirty="0"/>
            </a:br>
            <a:br>
              <a:rPr lang="en-IN" dirty="0"/>
            </a:br>
            <a:br>
              <a:rPr lang="en-IN" dirty="0"/>
            </a:br>
            <a:r>
              <a:rPr lang="en-IN" sz="2800" i="1" dirty="0"/>
              <a:t>Find few Sample empathy canvas copy for Reference and a Blank Format for Fill up and Upload of the same (jpg or pdf) in the YUKTI Portal. </a:t>
            </a:r>
          </a:p>
        </p:txBody>
      </p:sp>
      <p:sp>
        <p:nvSpPr>
          <p:cNvPr id="4" name="Rectangle 3"/>
          <p:cNvSpPr/>
          <p:nvPr/>
        </p:nvSpPr>
        <p:spPr>
          <a:xfrm>
            <a:off x="1177929" y="5910332"/>
            <a:ext cx="9613273" cy="523220"/>
          </a:xfrm>
          <a:prstGeom prst="rect">
            <a:avLst/>
          </a:prstGeom>
        </p:spPr>
        <p:txBody>
          <a:bodyPr wrap="none">
            <a:spAutoFit/>
          </a:bodyPr>
          <a:lstStyle/>
          <a:p>
            <a:r>
              <a:rPr lang="en-IN" sz="1400" i="1" dirty="0"/>
              <a:t>Complete Guidance of Preparing Empathy Canvas with Templet Available at </a:t>
            </a:r>
            <a:r>
              <a:rPr lang="en-IN" sz="1400" i="1" dirty="0">
                <a:hlinkClick r:id="rId2"/>
              </a:rPr>
              <a:t>https://miro.com/miroverse/empathy-map-canvas-1/</a:t>
            </a:r>
            <a:endParaRPr lang="en-IN" sz="1400" i="1" dirty="0"/>
          </a:p>
          <a:p>
            <a:r>
              <a:rPr lang="en-IN" sz="1400" i="1" dirty="0"/>
              <a:t>Opportunity Canvas at </a:t>
            </a:r>
          </a:p>
        </p:txBody>
      </p:sp>
    </p:spTree>
    <p:extLst>
      <p:ext uri="{BB962C8B-B14F-4D97-AF65-F5344CB8AC3E}">
        <p14:creationId xmlns:p14="http://schemas.microsoft.com/office/powerpoint/2010/main" val="281061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grpSp>
        <p:nvGrpSpPr>
          <p:cNvPr id="4" name="Group 3"/>
          <p:cNvGrpSpPr/>
          <p:nvPr/>
        </p:nvGrpSpPr>
        <p:grpSpPr>
          <a:xfrm>
            <a:off x="0" y="0"/>
            <a:ext cx="12192000" cy="7175921"/>
            <a:chOff x="0" y="0"/>
            <a:chExt cx="12192000" cy="7175921"/>
          </a:xfrm>
        </p:grpSpPr>
        <p:pic>
          <p:nvPicPr>
            <p:cNvPr id="1026" name="Picture 2" descr="Empathy Map Canvas | Personas | | Sof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42417" y="4037014"/>
              <a:ext cx="3334345" cy="2862322"/>
            </a:xfrm>
            <a:prstGeom prst="rect">
              <a:avLst/>
            </a:prstGeom>
            <a:noFill/>
            <a:ln>
              <a:solidFill>
                <a:schemeClr val="tx1"/>
              </a:solidFill>
              <a:prstDash val="dashDot"/>
            </a:ln>
          </p:spPr>
          <p:txBody>
            <a:bodyPr wrap="square" rtlCol="0">
              <a:spAutoFit/>
            </a:bodyPr>
            <a:lstStyle/>
            <a:p>
              <a:r>
                <a:rPr lang="en-IN" sz="1000" dirty="0">
                  <a:solidFill>
                    <a:srgbClr val="C00000"/>
                  </a:solidFill>
                </a:rPr>
                <a:t>Your Answer:</a:t>
              </a:r>
            </a:p>
            <a:p>
              <a:r>
                <a:rPr lang="en-US" sz="1000" dirty="0"/>
                <a:t>They hear from peers, teachers, co-workers, and managers that stress levels are increasing.</a:t>
              </a:r>
              <a:br>
                <a:rPr lang="en-US" sz="1000" dirty="0"/>
              </a:br>
              <a:r>
                <a:rPr lang="en-US" sz="1000" dirty="0"/>
                <a:t>They receive advice to “relax more” or “manage time better,” but not solutions for real-time stress detection.</a:t>
              </a:r>
              <a:br>
                <a:rPr lang="en-US" sz="1000" dirty="0"/>
              </a:br>
              <a:r>
                <a:rPr lang="en-US" sz="1000" dirty="0"/>
                <a:t>They hear about the importance of mental health but lack practical tools to track it.</a:t>
              </a:r>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p:txBody>
        </p:sp>
        <p:sp>
          <p:nvSpPr>
            <p:cNvPr id="8" name="TextBox 7"/>
            <p:cNvSpPr txBox="1"/>
            <p:nvPr/>
          </p:nvSpPr>
          <p:spPr>
            <a:xfrm>
              <a:off x="342580" y="1440100"/>
              <a:ext cx="5062758" cy="1477328"/>
            </a:xfrm>
            <a:prstGeom prst="rect">
              <a:avLst/>
            </a:prstGeom>
            <a:noFill/>
            <a:ln>
              <a:solidFill>
                <a:schemeClr val="tx1"/>
              </a:solidFill>
              <a:prstDash val="dashDot"/>
            </a:ln>
          </p:spPr>
          <p:txBody>
            <a:bodyPr wrap="square" rtlCol="0">
              <a:spAutoFit/>
            </a:bodyPr>
            <a:lstStyle/>
            <a:p>
              <a:r>
                <a:rPr lang="en-IN" sz="1000" dirty="0">
                  <a:solidFill>
                    <a:srgbClr val="C00000"/>
                  </a:solidFill>
                </a:rPr>
                <a:t>Your Answer:</a:t>
              </a:r>
            </a:p>
            <a:p>
              <a:endParaRPr lang="en-IN" sz="1000" dirty="0">
                <a:solidFill>
                  <a:srgbClr val="C00000"/>
                </a:solidFill>
              </a:endParaRPr>
            </a:p>
            <a:p>
              <a:r>
                <a:rPr lang="en-US" sz="1000" dirty="0">
                  <a:latin typeface="Times New Roman" panose="02020603050405020304" pitchFamily="18" charset="0"/>
                  <a:cs typeface="Times New Roman" panose="02020603050405020304" pitchFamily="18" charset="0"/>
                </a:rPr>
                <a:t>We are empathizing with individuals who frequently experience cognitive stress—students, corporate professionals, healthcare patients, defense personnel, and emergency workers.</a:t>
              </a:r>
              <a:br>
                <a:rPr lang="en-US" sz="1000" dirty="0">
                  <a:latin typeface="Times New Roman" panose="02020603050405020304" pitchFamily="18" charset="0"/>
                  <a:cs typeface="Times New Roman" panose="02020603050405020304" pitchFamily="18" charset="0"/>
                </a:rPr>
              </a:br>
              <a:r>
                <a:rPr lang="en-US" sz="1000" dirty="0">
                  <a:latin typeface="Times New Roman" panose="02020603050405020304" pitchFamily="18" charset="0"/>
                  <a:cs typeface="Times New Roman" panose="02020603050405020304" pitchFamily="18" charset="0"/>
                </a:rPr>
                <a:t>They deal with mental overload, performance pressure, and an inability to detect early stress levels. Their role is to function effectively in high-pressure environments.</a:t>
              </a:r>
            </a:p>
            <a:p>
              <a:br>
                <a:rPr lang="en-US" sz="1000" dirty="0">
                  <a:latin typeface="Times New Roman" panose="02020603050405020304" pitchFamily="18" charset="0"/>
                  <a:cs typeface="Times New Roman" panose="02020603050405020304" pitchFamily="18" charset="0"/>
                </a:rPr>
              </a:br>
              <a:endParaRPr lang="en-IN" sz="1000" dirty="0">
                <a:solidFill>
                  <a:srgbClr val="C00000"/>
                </a:solidFill>
                <a:latin typeface="Times New Roman" panose="02020603050405020304" pitchFamily="18" charset="0"/>
                <a:cs typeface="Times New Roman" panose="02020603050405020304" pitchFamily="18" charset="0"/>
              </a:endParaRPr>
            </a:p>
            <a:p>
              <a:endParaRPr lang="en-IN" sz="1000" dirty="0">
                <a:solidFill>
                  <a:srgbClr val="C00000"/>
                </a:solidFill>
              </a:endParaRPr>
            </a:p>
          </p:txBody>
        </p:sp>
        <p:sp>
          <p:nvSpPr>
            <p:cNvPr id="9" name="TextBox 8"/>
            <p:cNvSpPr txBox="1"/>
            <p:nvPr/>
          </p:nvSpPr>
          <p:spPr>
            <a:xfrm>
              <a:off x="5297130" y="197377"/>
              <a:ext cx="2156668" cy="861774"/>
            </a:xfrm>
            <a:prstGeom prst="rect">
              <a:avLst/>
            </a:prstGeom>
            <a:solidFill>
              <a:schemeClr val="bg1"/>
            </a:solidFill>
            <a:ln>
              <a:solidFill>
                <a:schemeClr val="tx1"/>
              </a:solidFill>
            </a:ln>
          </p:spPr>
          <p:txBody>
            <a:bodyPr wrap="square" rtlCol="0">
              <a:spAutoFit/>
            </a:bodyPr>
            <a:lstStyle/>
            <a:p>
              <a:r>
                <a:rPr lang="en-IN" sz="1000" dirty="0">
                  <a:solidFill>
                    <a:srgbClr val="C00000"/>
                  </a:solidFill>
                </a:rPr>
                <a:t>Who is your Customer Segment:</a:t>
              </a:r>
            </a:p>
            <a:p>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p:txBody>
        </p:sp>
        <p:sp>
          <p:nvSpPr>
            <p:cNvPr id="10" name="TextBox 9"/>
            <p:cNvSpPr txBox="1"/>
            <p:nvPr/>
          </p:nvSpPr>
          <p:spPr>
            <a:xfrm>
              <a:off x="7571155" y="197377"/>
              <a:ext cx="3584525" cy="553998"/>
            </a:xfrm>
            <a:prstGeom prst="rect">
              <a:avLst/>
            </a:prstGeom>
            <a:solidFill>
              <a:schemeClr val="bg1"/>
            </a:solidFill>
            <a:ln>
              <a:solidFill>
                <a:schemeClr val="tx1"/>
              </a:solidFill>
            </a:ln>
          </p:spPr>
          <p:txBody>
            <a:bodyPr wrap="square" rtlCol="0">
              <a:spAutoFit/>
            </a:bodyPr>
            <a:lstStyle/>
            <a:p>
              <a:r>
                <a:rPr lang="en-IN" sz="1000" dirty="0">
                  <a:solidFill>
                    <a:srgbClr val="C00000"/>
                  </a:solidFill>
                </a:rPr>
                <a:t>Idea/Innovation Title: Stress monitoring CAP</a:t>
              </a:r>
            </a:p>
            <a:p>
              <a:endParaRPr lang="en-IN" sz="1000" dirty="0">
                <a:solidFill>
                  <a:srgbClr val="C00000"/>
                </a:solidFill>
              </a:endParaRPr>
            </a:p>
            <a:p>
              <a:r>
                <a:rPr lang="en-IN" sz="1000" dirty="0">
                  <a:solidFill>
                    <a:srgbClr val="C00000"/>
                  </a:solidFill>
                </a:rPr>
                <a:t> </a:t>
              </a:r>
            </a:p>
          </p:txBody>
        </p:sp>
        <p:sp>
          <p:nvSpPr>
            <p:cNvPr id="11" name="TextBox 10"/>
            <p:cNvSpPr txBox="1"/>
            <p:nvPr/>
          </p:nvSpPr>
          <p:spPr>
            <a:xfrm>
              <a:off x="7571154" y="825641"/>
              <a:ext cx="3584525" cy="307777"/>
            </a:xfrm>
            <a:prstGeom prst="rect">
              <a:avLst/>
            </a:prstGeom>
            <a:solidFill>
              <a:schemeClr val="bg1"/>
            </a:solidFill>
            <a:ln>
              <a:solidFill>
                <a:schemeClr val="tx1"/>
              </a:solidFill>
            </a:ln>
          </p:spPr>
          <p:txBody>
            <a:bodyPr wrap="square" rtlCol="0">
              <a:spAutoFit/>
            </a:bodyPr>
            <a:lstStyle/>
            <a:p>
              <a:r>
                <a:rPr lang="en-IN" sz="1000" dirty="0">
                  <a:solidFill>
                    <a:srgbClr val="C00000"/>
                  </a:solidFill>
                </a:rPr>
                <a:t>YUKTI Proto ID: </a:t>
              </a:r>
              <a:r>
                <a:rPr lang="en-IN" sz="1400" dirty="0"/>
                <a:t>IR2025-983828</a:t>
              </a:r>
              <a:endParaRPr lang="en-IN" sz="1400" dirty="0">
                <a:solidFill>
                  <a:srgbClr val="C00000"/>
                </a:solidFill>
              </a:endParaRPr>
            </a:p>
          </p:txBody>
        </p:sp>
        <p:sp>
          <p:nvSpPr>
            <p:cNvPr id="12" name="TextBox 11"/>
            <p:cNvSpPr txBox="1"/>
            <p:nvPr/>
          </p:nvSpPr>
          <p:spPr>
            <a:xfrm>
              <a:off x="471301" y="840601"/>
              <a:ext cx="2231341" cy="246221"/>
            </a:xfrm>
            <a:prstGeom prst="rect">
              <a:avLst/>
            </a:prstGeom>
            <a:solidFill>
              <a:schemeClr val="bg1"/>
            </a:solidFill>
            <a:ln>
              <a:solidFill>
                <a:schemeClr val="tx1"/>
              </a:solidFill>
            </a:ln>
          </p:spPr>
          <p:txBody>
            <a:bodyPr wrap="square" rtlCol="0">
              <a:spAutoFit/>
            </a:bodyPr>
            <a:lstStyle/>
            <a:p>
              <a:r>
                <a:rPr lang="en-IN" sz="1000" dirty="0">
                  <a:solidFill>
                    <a:srgbClr val="C00000"/>
                  </a:solidFill>
                </a:rPr>
                <a:t>Designed By: S </a:t>
              </a:r>
              <a:r>
                <a:rPr lang="en-IN" sz="1000" dirty="0" err="1">
                  <a:solidFill>
                    <a:srgbClr val="C00000"/>
                  </a:solidFill>
                </a:rPr>
                <a:t>Sidesh</a:t>
              </a:r>
              <a:r>
                <a:rPr lang="en-IN" sz="1000" dirty="0">
                  <a:solidFill>
                    <a:srgbClr val="C00000"/>
                  </a:solidFill>
                </a:rPr>
                <a:t> Raj</a:t>
              </a:r>
            </a:p>
          </p:txBody>
        </p:sp>
        <p:sp>
          <p:nvSpPr>
            <p:cNvPr id="13" name="TextBox 12"/>
            <p:cNvSpPr txBox="1"/>
            <p:nvPr/>
          </p:nvSpPr>
          <p:spPr>
            <a:xfrm>
              <a:off x="2819998" y="825641"/>
              <a:ext cx="2199124" cy="246221"/>
            </a:xfrm>
            <a:prstGeom prst="rect">
              <a:avLst/>
            </a:prstGeom>
            <a:solidFill>
              <a:schemeClr val="bg1"/>
            </a:solidFill>
            <a:ln>
              <a:solidFill>
                <a:schemeClr val="tx1"/>
              </a:solidFill>
            </a:ln>
          </p:spPr>
          <p:txBody>
            <a:bodyPr wrap="square" rtlCol="0">
              <a:spAutoFit/>
            </a:bodyPr>
            <a:lstStyle/>
            <a:p>
              <a:r>
                <a:rPr lang="en-IN" sz="1000" dirty="0">
                  <a:solidFill>
                    <a:srgbClr val="C00000"/>
                  </a:solidFill>
                </a:rPr>
                <a:t>Date of Submission: </a:t>
              </a:r>
              <a:r>
                <a:rPr lang="en-IN" sz="1000" dirty="0"/>
                <a:t>2025-05-14</a:t>
              </a:r>
              <a:endParaRPr lang="en-IN" sz="1000" dirty="0">
                <a:solidFill>
                  <a:srgbClr val="C00000"/>
                </a:solidFill>
              </a:endParaRPr>
            </a:p>
          </p:txBody>
        </p:sp>
        <p:sp>
          <p:nvSpPr>
            <p:cNvPr id="14" name="TextBox 13"/>
            <p:cNvSpPr txBox="1"/>
            <p:nvPr/>
          </p:nvSpPr>
          <p:spPr>
            <a:xfrm>
              <a:off x="4126335" y="3001020"/>
              <a:ext cx="1969665" cy="2862322"/>
            </a:xfrm>
            <a:prstGeom prst="rect">
              <a:avLst/>
            </a:prstGeom>
            <a:noFill/>
            <a:ln>
              <a:solidFill>
                <a:schemeClr val="tx1"/>
              </a:solidFill>
              <a:prstDash val="dashDot"/>
            </a:ln>
          </p:spPr>
          <p:txBody>
            <a:bodyPr wrap="square" rtlCol="0">
              <a:spAutoFit/>
            </a:bodyPr>
            <a:lstStyle/>
            <a:p>
              <a:r>
                <a:rPr lang="en-IN" sz="1000" dirty="0">
                  <a:solidFill>
                    <a:srgbClr val="C00000"/>
                  </a:solidFill>
                  <a:latin typeface="Times New Roman" panose="02020603050405020304" pitchFamily="18" charset="0"/>
                  <a:cs typeface="Times New Roman" panose="02020603050405020304" pitchFamily="18" charset="0"/>
                </a:rPr>
                <a:t>Your Answer:</a:t>
              </a:r>
            </a:p>
            <a:p>
              <a:r>
                <a:rPr lang="en-US" sz="1000" b="1" dirty="0">
                  <a:latin typeface="Times New Roman" panose="02020603050405020304" pitchFamily="18" charset="0"/>
                  <a:cs typeface="Times New Roman" panose="02020603050405020304" pitchFamily="18" charset="0"/>
                </a:rPr>
                <a:t>Your Answer:</a:t>
              </a:r>
              <a:endParaRPr lang="en-US" sz="1000" dirty="0">
                <a:latin typeface="Times New Roman" panose="02020603050405020304" pitchFamily="18" charset="0"/>
                <a:cs typeface="Times New Roman" panose="02020603050405020304" pitchFamily="18" charset="0"/>
              </a:endParaRPr>
            </a:p>
            <a:p>
              <a:r>
                <a:rPr lang="en-US" sz="1000" dirty="0">
                  <a:latin typeface="Times New Roman" panose="02020603050405020304" pitchFamily="18" charset="0"/>
                  <a:cs typeface="Times New Roman" panose="02020603050405020304" pitchFamily="18" charset="0"/>
                </a:rPr>
                <a:t>They fear burnout and reduced performance.</a:t>
              </a:r>
            </a:p>
            <a:p>
              <a:r>
                <a:rPr lang="en-US" sz="1000" dirty="0">
                  <a:latin typeface="Times New Roman" panose="02020603050405020304" pitchFamily="18" charset="0"/>
                  <a:cs typeface="Times New Roman" panose="02020603050405020304" pitchFamily="18" charset="0"/>
                </a:rPr>
                <a:t>They feel anxious, overloaded, and unable to detect stress early.</a:t>
              </a:r>
            </a:p>
            <a:p>
              <a:r>
                <a:rPr lang="en-US" sz="1000" dirty="0">
                  <a:latin typeface="Times New Roman" panose="02020603050405020304" pitchFamily="18" charset="0"/>
                  <a:cs typeface="Times New Roman" panose="02020603050405020304" pitchFamily="18" charset="0"/>
                </a:rPr>
                <a:t>They worry about their mental health and productivity.</a:t>
              </a:r>
            </a:p>
            <a:p>
              <a:r>
                <a:rPr lang="en-US" sz="1000" dirty="0">
                  <a:latin typeface="Times New Roman" panose="02020603050405020304" pitchFamily="18" charset="0"/>
                  <a:cs typeface="Times New Roman" panose="02020603050405020304" pitchFamily="18" charset="0"/>
                </a:rPr>
                <a:t>They feel frustrated with tools that don't address cognitive stress directly.</a:t>
              </a:r>
            </a:p>
            <a:p>
              <a:endParaRPr lang="en-IN" sz="1000" dirty="0">
                <a:solidFill>
                  <a:srgbClr val="C00000"/>
                </a:solidFill>
                <a:latin typeface="Times New Roman" panose="02020603050405020304" pitchFamily="18" charset="0"/>
                <a:cs typeface="Times New Roman" panose="02020603050405020304" pitchFamily="18" charset="0"/>
              </a:endParaRPr>
            </a:p>
            <a:p>
              <a:endParaRPr lang="en-IN" sz="1000" dirty="0">
                <a:solidFill>
                  <a:srgbClr val="C00000"/>
                </a:solidFill>
                <a:latin typeface="Times New Roman" panose="02020603050405020304" pitchFamily="18" charset="0"/>
                <a:cs typeface="Times New Roman" panose="02020603050405020304" pitchFamily="18" charset="0"/>
              </a:endParaRPr>
            </a:p>
            <a:p>
              <a:endParaRPr lang="en-IN" sz="1000" dirty="0">
                <a:solidFill>
                  <a:srgbClr val="C00000"/>
                </a:solidFill>
                <a:latin typeface="Times New Roman" panose="02020603050405020304" pitchFamily="18" charset="0"/>
                <a:cs typeface="Times New Roman" panose="02020603050405020304" pitchFamily="18" charset="0"/>
              </a:endParaRPr>
            </a:p>
            <a:p>
              <a:endParaRPr lang="en-IN" sz="1000" dirty="0">
                <a:solidFill>
                  <a:srgbClr val="C00000"/>
                </a:solidFill>
                <a:latin typeface="Times New Roman" panose="02020603050405020304" pitchFamily="18" charset="0"/>
                <a:cs typeface="Times New Roman" panose="02020603050405020304" pitchFamily="18" charset="0"/>
              </a:endParaRPr>
            </a:p>
            <a:p>
              <a:endParaRPr lang="en-IN" sz="1000" dirty="0">
                <a:solidFill>
                  <a:srgbClr val="C00000"/>
                </a:solidFill>
                <a:latin typeface="Times New Roman" panose="02020603050405020304" pitchFamily="18" charset="0"/>
                <a:cs typeface="Times New Roman" panose="02020603050405020304" pitchFamily="18" charset="0"/>
              </a:endParaRPr>
            </a:p>
            <a:p>
              <a:endParaRPr lang="en-IN" sz="1000" dirty="0">
                <a:solidFill>
                  <a:srgbClr val="C00000"/>
                </a:solidFill>
                <a:latin typeface="Times New Roman" panose="02020603050405020304" pitchFamily="18" charset="0"/>
                <a:cs typeface="Times New Roman" panose="02020603050405020304" pitchFamily="18" charset="0"/>
              </a:endParaRPr>
            </a:p>
            <a:p>
              <a:endParaRPr lang="en-IN" sz="1000" dirty="0">
                <a:solidFill>
                  <a:srgbClr val="C00000"/>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6642439" y="2838252"/>
              <a:ext cx="1733165" cy="3016210"/>
            </a:xfrm>
            <a:prstGeom prst="rect">
              <a:avLst/>
            </a:prstGeom>
            <a:noFill/>
            <a:ln>
              <a:solidFill>
                <a:schemeClr val="tx1"/>
              </a:solidFill>
              <a:prstDash val="dashDot"/>
            </a:ln>
          </p:spPr>
          <p:txBody>
            <a:bodyPr wrap="square" rtlCol="0">
              <a:spAutoFit/>
            </a:bodyPr>
            <a:lstStyle/>
            <a:p>
              <a:r>
                <a:rPr lang="en-IN" sz="1000" dirty="0">
                  <a:solidFill>
                    <a:srgbClr val="C00000"/>
                  </a:solidFill>
                </a:rPr>
                <a:t>Your Answer:</a:t>
              </a:r>
            </a:p>
            <a:p>
              <a:endParaRPr lang="en-IN" sz="1000" dirty="0">
                <a:solidFill>
                  <a:srgbClr val="C00000"/>
                </a:solidFill>
              </a:endParaRPr>
            </a:p>
            <a:p>
              <a:endParaRPr lang="en-IN" sz="1000" dirty="0">
                <a:solidFill>
                  <a:srgbClr val="C00000"/>
                </a:solidFill>
              </a:endParaRPr>
            </a:p>
            <a:p>
              <a:r>
                <a:rPr lang="en-US" sz="1000" dirty="0">
                  <a:latin typeface="Times New Roman" panose="02020603050405020304" pitchFamily="18" charset="0"/>
                  <a:cs typeface="Times New Roman" panose="02020603050405020304" pitchFamily="18" charset="0"/>
                </a:rPr>
                <a:t>They hope for a simple, wearable device that alerts them when stress increases.</a:t>
              </a:r>
            </a:p>
            <a:p>
              <a:r>
                <a:rPr lang="en-US" sz="1000" dirty="0">
                  <a:latin typeface="Times New Roman" panose="02020603050405020304" pitchFamily="18" charset="0"/>
                  <a:cs typeface="Times New Roman" panose="02020603050405020304" pitchFamily="18" charset="0"/>
                </a:rPr>
                <a:t>They want personalized, science-backed solutions.</a:t>
              </a:r>
            </a:p>
            <a:p>
              <a:r>
                <a:rPr lang="en-US" sz="1000" dirty="0">
                  <a:latin typeface="Times New Roman" panose="02020603050405020304" pitchFamily="18" charset="0"/>
                  <a:cs typeface="Times New Roman" panose="02020603050405020304" pitchFamily="18" charset="0"/>
                </a:rPr>
                <a:t>They desire improved focus, mental clarity, and emotional resilience.</a:t>
              </a:r>
            </a:p>
            <a:p>
              <a:r>
                <a:rPr lang="en-US" sz="1000" dirty="0">
                  <a:latin typeface="Times New Roman" panose="02020603050405020304" pitchFamily="18" charset="0"/>
                  <a:cs typeface="Times New Roman" panose="02020603050405020304" pitchFamily="18" charset="0"/>
                </a:rPr>
                <a:t>They want better performance in studies, work, or critical tasks.</a:t>
              </a:r>
            </a:p>
            <a:p>
              <a:endParaRPr lang="en-IN" sz="1000" dirty="0">
                <a:solidFill>
                  <a:srgbClr val="C00000"/>
                </a:solidFill>
                <a:latin typeface="Times New Roman" panose="02020603050405020304" pitchFamily="18" charset="0"/>
                <a:cs typeface="Times New Roman" panose="02020603050405020304" pitchFamily="18" charset="0"/>
              </a:endParaRPr>
            </a:p>
            <a:p>
              <a:endParaRPr lang="en-IN" sz="1000" dirty="0">
                <a:solidFill>
                  <a:srgbClr val="C00000"/>
                </a:solidFill>
                <a:latin typeface="Times New Roman" panose="02020603050405020304" pitchFamily="18" charset="0"/>
                <a:cs typeface="Times New Roman" panose="02020603050405020304" pitchFamily="18" charset="0"/>
              </a:endParaRPr>
            </a:p>
            <a:p>
              <a:endParaRPr lang="en-IN" sz="1000" dirty="0">
                <a:solidFill>
                  <a:srgbClr val="C00000"/>
                </a:solidFill>
                <a:latin typeface="Times New Roman" panose="02020603050405020304" pitchFamily="18" charset="0"/>
                <a:cs typeface="Times New Roman" panose="02020603050405020304" pitchFamily="18" charset="0"/>
              </a:endParaRPr>
            </a:p>
            <a:p>
              <a:endParaRPr lang="en-IN" sz="1000" dirty="0">
                <a:solidFill>
                  <a:srgbClr val="C00000"/>
                </a:solidFill>
                <a:latin typeface="Times New Roman" panose="02020603050405020304" pitchFamily="18" charset="0"/>
                <a:cs typeface="Times New Roman" panose="02020603050405020304" pitchFamily="18" charset="0"/>
              </a:endParaRPr>
            </a:p>
            <a:p>
              <a:endParaRPr lang="en-IN" sz="1000" dirty="0">
                <a:solidFill>
                  <a:srgbClr val="C00000"/>
                </a:solidFill>
              </a:endParaRPr>
            </a:p>
          </p:txBody>
        </p:sp>
        <p:sp>
          <p:nvSpPr>
            <p:cNvPr id="16" name="TextBox 15"/>
            <p:cNvSpPr txBox="1"/>
            <p:nvPr/>
          </p:nvSpPr>
          <p:spPr>
            <a:xfrm>
              <a:off x="5079843" y="4668858"/>
              <a:ext cx="1969665" cy="707886"/>
            </a:xfrm>
            <a:prstGeom prst="rect">
              <a:avLst/>
            </a:prstGeom>
            <a:noFill/>
            <a:ln>
              <a:solidFill>
                <a:schemeClr val="tx1"/>
              </a:solidFill>
              <a:prstDash val="dashDot"/>
            </a:ln>
          </p:spPr>
          <p:txBody>
            <a:bodyPr wrap="square" rtlCol="0">
              <a:spAutoFit/>
            </a:bodyPr>
            <a:lstStyle/>
            <a:p>
              <a:r>
                <a:rPr lang="en-IN" sz="1000" dirty="0">
                  <a:solidFill>
                    <a:srgbClr val="C00000"/>
                  </a:solidFill>
                </a:rPr>
                <a:t>Your Answer:</a:t>
              </a:r>
            </a:p>
            <a:p>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p:txBody>
        </p:sp>
        <p:sp>
          <p:nvSpPr>
            <p:cNvPr id="17" name="TextBox 16"/>
            <p:cNvSpPr txBox="1"/>
            <p:nvPr/>
          </p:nvSpPr>
          <p:spPr>
            <a:xfrm>
              <a:off x="6195178" y="1544288"/>
              <a:ext cx="5062758" cy="1169551"/>
            </a:xfrm>
            <a:prstGeom prst="rect">
              <a:avLst/>
            </a:prstGeom>
            <a:noFill/>
            <a:ln>
              <a:solidFill>
                <a:schemeClr val="tx1"/>
              </a:solidFill>
              <a:prstDash val="dashDot"/>
            </a:ln>
          </p:spPr>
          <p:txBody>
            <a:bodyPr wrap="square" rtlCol="0">
              <a:spAutoFit/>
            </a:bodyPr>
            <a:lstStyle/>
            <a:p>
              <a:r>
                <a:rPr lang="en-IN" sz="1000" dirty="0">
                  <a:solidFill>
                    <a:srgbClr val="C00000"/>
                  </a:solidFill>
                </a:rPr>
                <a:t>Your Answer:</a:t>
              </a:r>
            </a:p>
            <a:p>
              <a:endParaRPr lang="en-IN" sz="1000" dirty="0">
                <a:solidFill>
                  <a:srgbClr val="C00000"/>
                </a:solidFill>
              </a:endParaRPr>
            </a:p>
            <a:p>
              <a:r>
                <a:rPr lang="en-US" sz="1000" dirty="0">
                  <a:latin typeface="Times New Roman" panose="02020603050405020304" pitchFamily="18" charset="0"/>
                  <a:cs typeface="Times New Roman" panose="02020603050405020304" pitchFamily="18" charset="0"/>
                </a:rPr>
                <a:t>They need to monitor their stress levels in real time and identify when their cognitive load becomes too high.</a:t>
              </a:r>
              <a:br>
                <a:rPr lang="en-US" sz="1000" dirty="0">
                  <a:latin typeface="Times New Roman" panose="02020603050405020304" pitchFamily="18" charset="0"/>
                  <a:cs typeface="Times New Roman" panose="02020603050405020304" pitchFamily="18" charset="0"/>
                </a:rPr>
              </a:br>
              <a:r>
                <a:rPr lang="en-US" sz="1000" dirty="0">
                  <a:latin typeface="Times New Roman" panose="02020603050405020304" pitchFamily="18" charset="0"/>
                  <a:cs typeface="Times New Roman" panose="02020603050405020304" pitchFamily="18" charset="0"/>
                </a:rPr>
                <a:t>They need a reliable, non-invasive tool that alerts them before stress affects performance.</a:t>
              </a:r>
              <a:br>
                <a:rPr lang="en-US" sz="1000" dirty="0">
                  <a:latin typeface="Times New Roman" panose="02020603050405020304" pitchFamily="18" charset="0"/>
                  <a:cs typeface="Times New Roman" panose="02020603050405020304" pitchFamily="18" charset="0"/>
                </a:rPr>
              </a:br>
              <a:r>
                <a:rPr lang="en-US" sz="1000" dirty="0">
                  <a:latin typeface="Times New Roman" panose="02020603050405020304" pitchFamily="18" charset="0"/>
                  <a:cs typeface="Times New Roman" panose="02020603050405020304" pitchFamily="18" charset="0"/>
                </a:rPr>
                <a:t>They want actionable recommendations to manage stress effectively.</a:t>
              </a:r>
              <a:endParaRPr lang="en-IN" sz="1000" dirty="0">
                <a:solidFill>
                  <a:srgbClr val="C00000"/>
                </a:solidFill>
                <a:latin typeface="Times New Roman" panose="02020603050405020304" pitchFamily="18" charset="0"/>
                <a:cs typeface="Times New Roman" panose="02020603050405020304" pitchFamily="18" charset="0"/>
              </a:endParaRPr>
            </a:p>
            <a:p>
              <a:endParaRPr lang="en-IN" sz="1000" dirty="0">
                <a:solidFill>
                  <a:srgbClr val="C00000"/>
                </a:solidFill>
              </a:endParaRPr>
            </a:p>
          </p:txBody>
        </p:sp>
        <p:sp>
          <p:nvSpPr>
            <p:cNvPr id="18" name="TextBox 17"/>
            <p:cNvSpPr txBox="1"/>
            <p:nvPr/>
          </p:nvSpPr>
          <p:spPr>
            <a:xfrm>
              <a:off x="8754291" y="2408788"/>
              <a:ext cx="2920198" cy="2400657"/>
            </a:xfrm>
            <a:prstGeom prst="rect">
              <a:avLst/>
            </a:prstGeom>
            <a:noFill/>
            <a:ln>
              <a:solidFill>
                <a:schemeClr val="tx1"/>
              </a:solidFill>
              <a:prstDash val="dashDot"/>
            </a:ln>
          </p:spPr>
          <p:txBody>
            <a:bodyPr wrap="square" rtlCol="0">
              <a:spAutoFit/>
            </a:bodyPr>
            <a:lstStyle/>
            <a:p>
              <a:r>
                <a:rPr lang="en-IN" sz="1000" dirty="0">
                  <a:solidFill>
                    <a:srgbClr val="C00000"/>
                  </a:solidFill>
                </a:rPr>
                <a:t>Your Answer:</a:t>
              </a:r>
            </a:p>
            <a:p>
              <a:r>
                <a:rPr lang="en-US" sz="1000" dirty="0">
                  <a:latin typeface="Times New Roman" panose="02020603050405020304" pitchFamily="18" charset="0"/>
                  <a:cs typeface="Times New Roman" panose="02020603050405020304" pitchFamily="18" charset="0"/>
                </a:rPr>
                <a:t>They see increasing stress levels in their daily tasks—academic pressure, deadlines, long work hours, or high-risk environments.</a:t>
              </a:r>
              <a:br>
                <a:rPr lang="en-US" sz="1000" dirty="0">
                  <a:latin typeface="Times New Roman" panose="02020603050405020304" pitchFamily="18" charset="0"/>
                  <a:cs typeface="Times New Roman" panose="02020603050405020304" pitchFamily="18" charset="0"/>
                </a:rPr>
              </a:br>
              <a:r>
                <a:rPr lang="en-US" sz="1000" dirty="0">
                  <a:latin typeface="Times New Roman" panose="02020603050405020304" pitchFamily="18" charset="0"/>
                  <a:cs typeface="Times New Roman" panose="02020603050405020304" pitchFamily="18" charset="0"/>
                </a:rPr>
                <a:t>They observe others using fitness trackers or meditation apps, but none that track brain activity directly.</a:t>
              </a:r>
              <a:br>
                <a:rPr lang="en-US" sz="1000" dirty="0">
                  <a:latin typeface="Times New Roman" panose="02020603050405020304" pitchFamily="18" charset="0"/>
                  <a:cs typeface="Times New Roman" panose="02020603050405020304" pitchFamily="18" charset="0"/>
                </a:rPr>
              </a:br>
              <a:r>
                <a:rPr lang="en-US" sz="1000" dirty="0">
                  <a:latin typeface="Times New Roman" panose="02020603050405020304" pitchFamily="18" charset="0"/>
                  <a:cs typeface="Times New Roman" panose="02020603050405020304" pitchFamily="18" charset="0"/>
                </a:rPr>
                <a:t>They see rising mental health issues around them and understand the need for better monitoring tools.</a:t>
              </a:r>
              <a:endParaRPr lang="en-IN" sz="1000" dirty="0">
                <a:solidFill>
                  <a:srgbClr val="C00000"/>
                </a:solidFill>
                <a:latin typeface="Times New Roman" panose="02020603050405020304" pitchFamily="18" charset="0"/>
                <a:cs typeface="Times New Roman" panose="02020603050405020304" pitchFamily="18" charset="0"/>
              </a:endParaRPr>
            </a:p>
            <a:p>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p:txBody>
        </p:sp>
        <p:sp>
          <p:nvSpPr>
            <p:cNvPr id="19" name="TextBox 18"/>
            <p:cNvSpPr txBox="1"/>
            <p:nvPr/>
          </p:nvSpPr>
          <p:spPr>
            <a:xfrm>
              <a:off x="8800501" y="4775264"/>
              <a:ext cx="2920198" cy="2400657"/>
            </a:xfrm>
            <a:prstGeom prst="rect">
              <a:avLst/>
            </a:prstGeom>
            <a:noFill/>
            <a:ln>
              <a:solidFill>
                <a:schemeClr val="tx1"/>
              </a:solidFill>
              <a:prstDash val="dashDot"/>
            </a:ln>
          </p:spPr>
          <p:txBody>
            <a:bodyPr wrap="square" rtlCol="0">
              <a:spAutoFit/>
            </a:bodyPr>
            <a:lstStyle/>
            <a:p>
              <a:r>
                <a:rPr lang="en-IN" sz="1000" dirty="0">
                  <a:solidFill>
                    <a:srgbClr val="C00000"/>
                  </a:solidFill>
                </a:rPr>
                <a:t>Your Answer:</a:t>
              </a:r>
              <a:r>
                <a:rPr lang="en-US" sz="1000" dirty="0">
                  <a:latin typeface="Times New Roman" panose="02020603050405020304" pitchFamily="18" charset="0"/>
                  <a:cs typeface="Times New Roman" panose="02020603050405020304" pitchFamily="18" charset="0"/>
                </a:rPr>
                <a:t>They express frustration about not knowing when stress is building up.</a:t>
              </a:r>
              <a:br>
                <a:rPr lang="en-US" sz="1000" dirty="0">
                  <a:latin typeface="Times New Roman" panose="02020603050405020304" pitchFamily="18" charset="0"/>
                  <a:cs typeface="Times New Roman" panose="02020603050405020304" pitchFamily="18" charset="0"/>
                </a:rPr>
              </a:br>
              <a:r>
                <a:rPr lang="en-US" sz="1000" dirty="0">
                  <a:latin typeface="Times New Roman" panose="02020603050405020304" pitchFamily="18" charset="0"/>
                  <a:cs typeface="Times New Roman" panose="02020603050405020304" pitchFamily="18" charset="0"/>
                </a:rPr>
                <a:t>They say they feel overwhelmed, mentally tired, and wish for a simple tool to help them manage stress.</a:t>
              </a:r>
              <a:br>
                <a:rPr lang="en-US" sz="1000" dirty="0">
                  <a:latin typeface="Times New Roman" panose="02020603050405020304" pitchFamily="18" charset="0"/>
                  <a:cs typeface="Times New Roman" panose="02020603050405020304" pitchFamily="18" charset="0"/>
                </a:rPr>
              </a:br>
              <a:r>
                <a:rPr lang="en-US" sz="1000" dirty="0">
                  <a:latin typeface="Times New Roman" panose="02020603050405020304" pitchFamily="18" charset="0"/>
                  <a:cs typeface="Times New Roman" panose="02020603050405020304" pitchFamily="18" charset="0"/>
                </a:rPr>
                <a:t>They often complain about burnout, poor sleep, and reduced focus.</a:t>
              </a:r>
            </a:p>
            <a:p>
              <a:br>
                <a:rPr lang="en-US" sz="1000" dirty="0"/>
              </a:br>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a:p>
              <a:endParaRPr lang="en-IN" sz="1000" dirty="0">
                <a:solidFill>
                  <a:srgbClr val="C00000"/>
                </a:solidFill>
              </a:endParaRPr>
            </a:p>
          </p:txBody>
        </p:sp>
        <p:sp>
          <p:nvSpPr>
            <p:cNvPr id="20" name="TextBox 19"/>
            <p:cNvSpPr txBox="1"/>
            <p:nvPr/>
          </p:nvSpPr>
          <p:spPr>
            <a:xfrm>
              <a:off x="2579787" y="5669131"/>
              <a:ext cx="7121561" cy="1015663"/>
            </a:xfrm>
            <a:prstGeom prst="rect">
              <a:avLst/>
            </a:prstGeom>
            <a:noFill/>
            <a:ln>
              <a:solidFill>
                <a:schemeClr val="tx1"/>
              </a:solidFill>
              <a:prstDash val="dashDot"/>
            </a:ln>
          </p:spPr>
          <p:txBody>
            <a:bodyPr wrap="square" rtlCol="0">
              <a:spAutoFit/>
            </a:bodyPr>
            <a:lstStyle/>
            <a:p>
              <a:r>
                <a:rPr lang="en-IN" sz="1000" dirty="0">
                  <a:solidFill>
                    <a:srgbClr val="C00000"/>
                  </a:solidFill>
                </a:rPr>
                <a:t>Your Answer:</a:t>
              </a:r>
            </a:p>
            <a:p>
              <a:endParaRPr lang="en-IN" sz="1000" dirty="0">
                <a:solidFill>
                  <a:srgbClr val="C00000"/>
                </a:solidFill>
              </a:endParaRPr>
            </a:p>
            <a:p>
              <a:r>
                <a:rPr lang="en-US" sz="1000" dirty="0"/>
                <a:t>They try using meditation apps, take breaks, drink coffee/energy drinks, or rely on guesswork to manage stress.</a:t>
              </a:r>
              <a:br>
                <a:rPr lang="en-US" sz="1000" dirty="0"/>
              </a:br>
              <a:r>
                <a:rPr lang="en-US" sz="1000" dirty="0"/>
                <a:t>They sometimes avoid tasks, delay deadlines, or struggle with decision-making when stressed.</a:t>
              </a:r>
              <a:br>
                <a:rPr lang="en-US" sz="1000" dirty="0"/>
              </a:br>
              <a:r>
                <a:rPr lang="en-US" sz="1000" dirty="0"/>
                <a:t>They look for solutions online but rarely find tools that measure cognitive stress directly.</a:t>
              </a:r>
              <a:endParaRPr lang="en-IN" sz="1000" dirty="0">
                <a:solidFill>
                  <a:srgbClr val="C00000"/>
                </a:solidFill>
              </a:endParaRPr>
            </a:p>
            <a:p>
              <a:endParaRPr lang="en-IN" sz="1000" dirty="0">
                <a:solidFill>
                  <a:srgbClr val="C00000"/>
                </a:solidFill>
              </a:endParaRPr>
            </a:p>
          </p:txBody>
        </p:sp>
      </p:grpSp>
    </p:spTree>
    <p:extLst>
      <p:ext uri="{BB962C8B-B14F-4D97-AF65-F5344CB8AC3E}">
        <p14:creationId xmlns:p14="http://schemas.microsoft.com/office/powerpoint/2010/main" val="532345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30629"/>
            <a:ext cx="11425645" cy="6500948"/>
          </a:xfrm>
        </p:spPr>
        <p:txBody>
          <a:bodyPr>
            <a:normAutofit/>
          </a:bodyPr>
          <a:lstStyle/>
          <a:p>
            <a:r>
              <a:rPr lang="en-IN" b="1" dirty="0"/>
              <a:t>Assignment 3: Business Model Canvas</a:t>
            </a:r>
            <a:br>
              <a:rPr lang="en-IN" b="1" dirty="0"/>
            </a:br>
            <a:br>
              <a:rPr lang="en-IN" dirty="0"/>
            </a:br>
            <a:r>
              <a:rPr lang="en-IN" sz="3200" dirty="0"/>
              <a:t>Preparation and Submission of an Business Model Canvas Sheet for Business Opportunity Validation your Prototype/Innovation</a:t>
            </a:r>
            <a:br>
              <a:rPr lang="en-IN" dirty="0"/>
            </a:br>
            <a:br>
              <a:rPr lang="en-IN" dirty="0"/>
            </a:br>
            <a:br>
              <a:rPr lang="en-IN" dirty="0"/>
            </a:br>
            <a:r>
              <a:rPr lang="en-IN" sz="2800" i="1" dirty="0"/>
              <a:t>Find few Sample Business Model Validation copy for Reference and a Blank Framework for Fill up and Upload of the same (jpg or pdf) in the YUKTI Portal. </a:t>
            </a:r>
          </a:p>
        </p:txBody>
      </p:sp>
    </p:spTree>
    <p:extLst>
      <p:ext uri="{BB962C8B-B14F-4D97-AF65-F5344CB8AC3E}">
        <p14:creationId xmlns:p14="http://schemas.microsoft.com/office/powerpoint/2010/main" val="2884646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Placeholder 24">
            <a:extLst>
              <a:ext uri="{FF2B5EF4-FFF2-40B4-BE49-F238E27FC236}">
                <a16:creationId xmlns:a16="http://schemas.microsoft.com/office/drawing/2014/main" id="{36E2773F-F0A6-43E3-A16E-251DFD4A3BD6}"/>
              </a:ext>
            </a:extLst>
          </p:cNvPr>
          <p:cNvSpPr>
            <a:spLocks noGrp="1"/>
          </p:cNvSpPr>
          <p:nvPr>
            <p:ph type="body" sz="quarter" idx="28"/>
          </p:nvPr>
        </p:nvSpPr>
        <p:spPr/>
        <p:txBody>
          <a:bodyPr/>
          <a:lstStyle/>
          <a:p>
            <a:r>
              <a:rPr lang="en-US" dirty="0"/>
              <a:t>Hardware production (EEG sensors, wearables, batteries)</a:t>
            </a:r>
          </a:p>
          <a:p>
            <a:r>
              <a:rPr lang="en-US" dirty="0"/>
              <a:t>Cloud hosting and app development</a:t>
            </a:r>
          </a:p>
          <a:p>
            <a:r>
              <a:rPr lang="en-US" dirty="0"/>
              <a:t>R&amp;D and prototyping costs</a:t>
            </a:r>
          </a:p>
          <a:p>
            <a:r>
              <a:rPr lang="en-US" dirty="0"/>
              <a:t>Marketing and customer acquisition</a:t>
            </a:r>
          </a:p>
          <a:p>
            <a:r>
              <a:rPr lang="en-US" dirty="0"/>
              <a:t>Manufacturing and packaging</a:t>
            </a:r>
          </a:p>
          <a:p>
            <a:r>
              <a:rPr lang="en-US" dirty="0"/>
              <a:t>Staff salaries (developers, engineers, support)</a:t>
            </a:r>
          </a:p>
          <a:p>
            <a:r>
              <a:rPr lang="en-US" dirty="0"/>
              <a:t>Testing and certification from health/tech authorities</a:t>
            </a:r>
          </a:p>
          <a:p>
            <a:r>
              <a:rPr lang="en-US" dirty="0"/>
              <a:t>Maintenance, support, and update</a:t>
            </a:r>
          </a:p>
          <a:p>
            <a:endParaRPr lang="en-AU" dirty="0"/>
          </a:p>
        </p:txBody>
      </p:sp>
      <p:sp>
        <p:nvSpPr>
          <p:cNvPr id="18" name="Text Placeholder 17">
            <a:extLst>
              <a:ext uri="{FF2B5EF4-FFF2-40B4-BE49-F238E27FC236}">
                <a16:creationId xmlns:a16="http://schemas.microsoft.com/office/drawing/2014/main" id="{84F5A431-A5FC-4E1F-A322-8A1F91107DB7}"/>
              </a:ext>
            </a:extLst>
          </p:cNvPr>
          <p:cNvSpPr>
            <a:spLocks noGrp="1"/>
          </p:cNvSpPr>
          <p:nvPr>
            <p:ph type="body" sz="quarter" idx="21"/>
          </p:nvPr>
        </p:nvSpPr>
        <p:spPr/>
        <p:txBody>
          <a:bodyPr/>
          <a:lstStyle/>
          <a:p>
            <a:r>
              <a:rPr lang="en-US" dirty="0"/>
              <a:t>Hardware component suppliers (EEG sensors, ESP modules)</a:t>
            </a:r>
          </a:p>
          <a:p>
            <a:r>
              <a:rPr lang="en-US" dirty="0"/>
              <a:t>Manufacturing and prototyping companies</a:t>
            </a:r>
          </a:p>
          <a:p>
            <a:r>
              <a:rPr lang="en-US" dirty="0"/>
              <a:t>Cloud service providers (Firebase)</a:t>
            </a:r>
          </a:p>
          <a:p>
            <a:r>
              <a:rPr lang="en-US" dirty="0"/>
              <a:t>Universities and research labs for clinical validation</a:t>
            </a:r>
          </a:p>
          <a:p>
            <a:r>
              <a:rPr lang="en-US" dirty="0"/>
              <a:t>Corporate wellness programs and HR departments</a:t>
            </a:r>
          </a:p>
          <a:p>
            <a:r>
              <a:rPr lang="en-US" dirty="0"/>
              <a:t>Hospitals and mental health clinics</a:t>
            </a:r>
          </a:p>
          <a:p>
            <a:r>
              <a:rPr lang="en-US" dirty="0"/>
              <a:t>Defense organizations for specialized use cases</a:t>
            </a:r>
          </a:p>
          <a:p>
            <a:r>
              <a:rPr lang="en-US" dirty="0"/>
              <a:t>EdTech and health-tech distributors</a:t>
            </a:r>
          </a:p>
          <a:p>
            <a:endParaRPr lang="en-AU" dirty="0"/>
          </a:p>
        </p:txBody>
      </p:sp>
      <p:sp>
        <p:nvSpPr>
          <p:cNvPr id="19" name="Text Placeholder 18">
            <a:extLst>
              <a:ext uri="{FF2B5EF4-FFF2-40B4-BE49-F238E27FC236}">
                <a16:creationId xmlns:a16="http://schemas.microsoft.com/office/drawing/2014/main" id="{C2F723AA-2DA6-49DC-ABC9-5DF78E6443D5}"/>
              </a:ext>
            </a:extLst>
          </p:cNvPr>
          <p:cNvSpPr>
            <a:spLocks noGrp="1"/>
          </p:cNvSpPr>
          <p:nvPr>
            <p:ph type="body" sz="quarter" idx="22"/>
          </p:nvPr>
        </p:nvSpPr>
        <p:spPr/>
        <p:txBody>
          <a:bodyPr>
            <a:normAutofit fontScale="92500" lnSpcReduction="10000"/>
          </a:bodyPr>
          <a:lstStyle/>
          <a:p>
            <a:r>
              <a:rPr lang="en-US" dirty="0"/>
              <a:t>Develop and refine EEG-based wearable technology</a:t>
            </a:r>
          </a:p>
          <a:p>
            <a:r>
              <a:rPr lang="en-US" dirty="0"/>
              <a:t>Ensure accurate signal processing and stress-level detection</a:t>
            </a:r>
          </a:p>
          <a:p>
            <a:r>
              <a:rPr lang="en-US" dirty="0"/>
              <a:t>Cloud integration and app development</a:t>
            </a:r>
          </a:p>
          <a:p>
            <a:r>
              <a:rPr lang="en-US" dirty="0"/>
              <a:t>Conduct user testing and validation</a:t>
            </a:r>
          </a:p>
          <a:p>
            <a:r>
              <a:rPr lang="en-US" dirty="0"/>
              <a:t>Manufacturing and quality assurance</a:t>
            </a:r>
          </a:p>
          <a:p>
            <a:r>
              <a:rPr lang="en-US" dirty="0"/>
              <a:t>Customer onboarding and support</a:t>
            </a:r>
          </a:p>
          <a:p>
            <a:r>
              <a:rPr lang="en-US" dirty="0"/>
              <a:t>Marketing, promotion, and distribution</a:t>
            </a:r>
          </a:p>
          <a:p>
            <a:r>
              <a:rPr lang="en-US" dirty="0"/>
              <a:t>Partnerships with institutions for deployment</a:t>
            </a:r>
          </a:p>
          <a:p>
            <a:pPr marL="0" indent="0">
              <a:buNone/>
            </a:pPr>
            <a:endParaRPr lang="en-AU" dirty="0"/>
          </a:p>
        </p:txBody>
      </p:sp>
      <p:sp>
        <p:nvSpPr>
          <p:cNvPr id="20" name="Text Placeholder 19">
            <a:extLst>
              <a:ext uri="{FF2B5EF4-FFF2-40B4-BE49-F238E27FC236}">
                <a16:creationId xmlns:a16="http://schemas.microsoft.com/office/drawing/2014/main" id="{88BC8C9C-844D-4430-BE5A-D9A0F084C8E7}"/>
              </a:ext>
            </a:extLst>
          </p:cNvPr>
          <p:cNvSpPr>
            <a:spLocks noGrp="1"/>
          </p:cNvSpPr>
          <p:nvPr>
            <p:ph type="body" sz="quarter" idx="23"/>
          </p:nvPr>
        </p:nvSpPr>
        <p:spPr/>
        <p:txBody>
          <a:bodyPr/>
          <a:lstStyle/>
          <a:p>
            <a:pPr marL="0" indent="0">
              <a:buNone/>
            </a:pPr>
            <a:r>
              <a:rPr lang="en-US" dirty="0"/>
              <a:t>We provide a portable, non-invasive EEG-based cap that detects cognitive stress in real-time and alerts users through a mobile app.</a:t>
            </a:r>
            <a:br>
              <a:rPr lang="en-US" dirty="0"/>
            </a:br>
            <a:r>
              <a:rPr lang="en-US" dirty="0"/>
              <a:t>Our solution measures brainwave activity (alpha/beta waves), identifies early signs of cognitive overload, and recommends personalized stress-relief activities.</a:t>
            </a:r>
            <a:br>
              <a:rPr lang="en-US" dirty="0"/>
            </a:br>
            <a:r>
              <a:rPr lang="en-US" dirty="0"/>
              <a:t>This creates proactive mental health support, improves decision-making, and prevents burnout, all through an affordable wearable system.</a:t>
            </a:r>
            <a:endParaRPr lang="en-AU" dirty="0"/>
          </a:p>
        </p:txBody>
      </p:sp>
      <p:sp>
        <p:nvSpPr>
          <p:cNvPr id="22" name="Text Placeholder 21">
            <a:extLst>
              <a:ext uri="{FF2B5EF4-FFF2-40B4-BE49-F238E27FC236}">
                <a16:creationId xmlns:a16="http://schemas.microsoft.com/office/drawing/2014/main" id="{2E68275F-F252-44FA-99F3-CB9FEE90F55A}"/>
              </a:ext>
            </a:extLst>
          </p:cNvPr>
          <p:cNvSpPr>
            <a:spLocks noGrp="1"/>
          </p:cNvSpPr>
          <p:nvPr>
            <p:ph type="body" sz="quarter" idx="25"/>
          </p:nvPr>
        </p:nvSpPr>
        <p:spPr/>
        <p:txBody>
          <a:bodyPr>
            <a:normAutofit fontScale="92500" lnSpcReduction="20000"/>
          </a:bodyPr>
          <a:lstStyle/>
          <a:p>
            <a:r>
              <a:rPr lang="en-US" dirty="0"/>
              <a:t>Continuous support through the mobile app</a:t>
            </a:r>
          </a:p>
          <a:p>
            <a:r>
              <a:rPr lang="en-US" dirty="0"/>
              <a:t>Personalized stress insights and recommendations</a:t>
            </a:r>
          </a:p>
          <a:p>
            <a:r>
              <a:rPr lang="en-US" dirty="0"/>
              <a:t>Automated alerts and notifications</a:t>
            </a:r>
          </a:p>
          <a:p>
            <a:r>
              <a:rPr lang="en-US" dirty="0"/>
              <a:t>Subscription-based premium analytics</a:t>
            </a:r>
          </a:p>
          <a:p>
            <a:r>
              <a:rPr lang="en-US" dirty="0"/>
              <a:t>Training and onboarding for institutions (B2B)</a:t>
            </a:r>
          </a:p>
          <a:p>
            <a:r>
              <a:rPr lang="en-US" dirty="0"/>
              <a:t>Customer support channels (chat, email, call)</a:t>
            </a:r>
            <a:br>
              <a:rPr lang="en-US" dirty="0"/>
            </a:br>
            <a:r>
              <a:rPr lang="en-US" dirty="0"/>
              <a:t>Customers feel guided, supported, and empowered in managing their mental well-being.</a:t>
            </a:r>
          </a:p>
          <a:p>
            <a:pPr marL="0" indent="0">
              <a:buNone/>
            </a:pPr>
            <a:endParaRPr lang="en-AU" dirty="0"/>
          </a:p>
        </p:txBody>
      </p:sp>
      <p:sp>
        <p:nvSpPr>
          <p:cNvPr id="23" name="Text Placeholder 22">
            <a:extLst>
              <a:ext uri="{FF2B5EF4-FFF2-40B4-BE49-F238E27FC236}">
                <a16:creationId xmlns:a16="http://schemas.microsoft.com/office/drawing/2014/main" id="{AD2AEB4F-ADEA-4599-A640-4F07432E2A9A}"/>
              </a:ext>
            </a:extLst>
          </p:cNvPr>
          <p:cNvSpPr>
            <a:spLocks noGrp="1"/>
          </p:cNvSpPr>
          <p:nvPr>
            <p:ph type="body" sz="quarter" idx="26"/>
          </p:nvPr>
        </p:nvSpPr>
        <p:spPr/>
        <p:txBody>
          <a:bodyPr/>
          <a:lstStyle/>
          <a:p>
            <a:r>
              <a:rPr lang="en-US" dirty="0"/>
              <a:t>Students facing academic pressure</a:t>
            </a:r>
          </a:p>
          <a:p>
            <a:r>
              <a:rPr lang="en-US" dirty="0"/>
              <a:t>Corporate professionals dealing with stress and workload</a:t>
            </a:r>
          </a:p>
          <a:p>
            <a:r>
              <a:rPr lang="en-US" dirty="0"/>
              <a:t>Healthcare patients with anxiety or cognitive challenges</a:t>
            </a:r>
          </a:p>
          <a:p>
            <a:r>
              <a:rPr lang="en-US" dirty="0"/>
              <a:t>Defense and military personnel in high-risk environments</a:t>
            </a:r>
          </a:p>
          <a:p>
            <a:r>
              <a:rPr lang="en-US" dirty="0"/>
              <a:t>Emergency service workers (doctors, paramedics, firefighters)</a:t>
            </a:r>
          </a:p>
          <a:p>
            <a:r>
              <a:rPr lang="en-US" dirty="0"/>
              <a:t>Wellness centers and mental health clinics</a:t>
            </a:r>
          </a:p>
          <a:p>
            <a:r>
              <a:rPr lang="en-US" dirty="0"/>
              <a:t>Educational institutions and organizations promoting mental well-being</a:t>
            </a:r>
          </a:p>
          <a:p>
            <a:pPr marL="0" indent="0">
              <a:buNone/>
            </a:pPr>
            <a:endParaRPr lang="en-AU" dirty="0"/>
          </a:p>
        </p:txBody>
      </p:sp>
      <p:sp>
        <p:nvSpPr>
          <p:cNvPr id="24" name="Text Placeholder 23">
            <a:extLst>
              <a:ext uri="{FF2B5EF4-FFF2-40B4-BE49-F238E27FC236}">
                <a16:creationId xmlns:a16="http://schemas.microsoft.com/office/drawing/2014/main" id="{53413FFE-1ED3-43E3-B2F3-8440B1FAB550}"/>
              </a:ext>
            </a:extLst>
          </p:cNvPr>
          <p:cNvSpPr>
            <a:spLocks noGrp="1"/>
          </p:cNvSpPr>
          <p:nvPr>
            <p:ph type="body" sz="quarter" idx="27"/>
          </p:nvPr>
        </p:nvSpPr>
        <p:spPr/>
        <p:txBody>
          <a:bodyPr>
            <a:normAutofit fontScale="92500" lnSpcReduction="10000"/>
          </a:bodyPr>
          <a:lstStyle/>
          <a:p>
            <a:r>
              <a:rPr lang="en-US" dirty="0"/>
              <a:t>Mobile app and online platform</a:t>
            </a:r>
          </a:p>
          <a:p>
            <a:r>
              <a:rPr lang="en-US" dirty="0"/>
              <a:t>Website and e-commerce stores</a:t>
            </a:r>
          </a:p>
          <a:p>
            <a:r>
              <a:rPr lang="en-US" dirty="0"/>
              <a:t>B2B sales to corporates, schools, and defense institutions</a:t>
            </a:r>
          </a:p>
          <a:p>
            <a:r>
              <a:rPr lang="en-US" dirty="0"/>
              <a:t>Partnerships with hospitals and wellness centers</a:t>
            </a:r>
          </a:p>
          <a:p>
            <a:r>
              <a:rPr lang="en-US" dirty="0"/>
              <a:t>Social media marketing and digital promotion</a:t>
            </a:r>
          </a:p>
          <a:p>
            <a:r>
              <a:rPr lang="en-US" dirty="0"/>
              <a:t>University innovation hubs and startups expos</a:t>
            </a:r>
          </a:p>
          <a:p>
            <a:r>
              <a:rPr lang="en-US" dirty="0"/>
              <a:t>Retail outlets for wearable tech and health devices</a:t>
            </a:r>
          </a:p>
          <a:p>
            <a:endParaRPr lang="en-AU" dirty="0"/>
          </a:p>
        </p:txBody>
      </p:sp>
      <p:sp>
        <p:nvSpPr>
          <p:cNvPr id="26" name="Text Placeholder 25">
            <a:extLst>
              <a:ext uri="{FF2B5EF4-FFF2-40B4-BE49-F238E27FC236}">
                <a16:creationId xmlns:a16="http://schemas.microsoft.com/office/drawing/2014/main" id="{4A53F81F-464C-4D15-95A4-AB2639B59460}"/>
              </a:ext>
            </a:extLst>
          </p:cNvPr>
          <p:cNvSpPr>
            <a:spLocks noGrp="1"/>
          </p:cNvSpPr>
          <p:nvPr>
            <p:ph type="body" sz="quarter" idx="29"/>
          </p:nvPr>
        </p:nvSpPr>
        <p:spPr/>
        <p:txBody>
          <a:bodyPr/>
          <a:lstStyle/>
          <a:p>
            <a:r>
              <a:rPr lang="en-US" b="1" dirty="0"/>
              <a:t>Hardware Sales:</a:t>
            </a:r>
            <a:r>
              <a:rPr lang="en-US" dirty="0"/>
              <a:t> EEG-based stress monitoring cap</a:t>
            </a:r>
          </a:p>
          <a:p>
            <a:r>
              <a:rPr lang="en-US" b="1" dirty="0"/>
              <a:t>Subscription Model:</a:t>
            </a:r>
            <a:r>
              <a:rPr lang="en-US" dirty="0"/>
              <a:t> Premium mobile app features (advanced analytics, guided programs)</a:t>
            </a:r>
          </a:p>
          <a:p>
            <a:r>
              <a:rPr lang="en-US" b="1" dirty="0"/>
              <a:t>Enterprise Licensing:</a:t>
            </a:r>
            <a:r>
              <a:rPr lang="en-US" dirty="0"/>
              <a:t> Corporate and institutional dashboards</a:t>
            </a:r>
          </a:p>
          <a:p>
            <a:r>
              <a:rPr lang="en-US" b="1" dirty="0"/>
              <a:t>Maintenance and Support Contracts</a:t>
            </a:r>
            <a:endParaRPr lang="en-US" dirty="0"/>
          </a:p>
          <a:p>
            <a:r>
              <a:rPr lang="en-US" b="1" dirty="0"/>
              <a:t>Data Analytics Services</a:t>
            </a:r>
            <a:r>
              <a:rPr lang="en-US" dirty="0"/>
              <a:t> (optional anonymized insights for research institutions)</a:t>
            </a:r>
          </a:p>
          <a:p>
            <a:r>
              <a:rPr lang="en-US" b="1" dirty="0"/>
              <a:t>Bulk orders</a:t>
            </a:r>
            <a:r>
              <a:rPr lang="en-US" dirty="0"/>
              <a:t> from defense, universities, or wellness centers</a:t>
            </a:r>
          </a:p>
          <a:p>
            <a:pPr marL="0" indent="0">
              <a:buNone/>
            </a:pPr>
            <a:endParaRPr lang="en-AU" dirty="0"/>
          </a:p>
        </p:txBody>
      </p:sp>
      <p:sp>
        <p:nvSpPr>
          <p:cNvPr id="2" name="Text Placeholder 1">
            <a:extLst>
              <a:ext uri="{FF2B5EF4-FFF2-40B4-BE49-F238E27FC236}">
                <a16:creationId xmlns:a16="http://schemas.microsoft.com/office/drawing/2014/main" id="{9E14CEAE-DC56-4439-B12E-8564CB8B6AFB}"/>
              </a:ext>
            </a:extLst>
          </p:cNvPr>
          <p:cNvSpPr>
            <a:spLocks noGrp="1"/>
          </p:cNvSpPr>
          <p:nvPr>
            <p:ph type="body" sz="quarter" idx="12"/>
          </p:nvPr>
        </p:nvSpPr>
        <p:spPr/>
        <p:txBody>
          <a:bodyPr/>
          <a:lstStyle/>
          <a:p>
            <a:endParaRPr lang="en-AU" dirty="0"/>
          </a:p>
        </p:txBody>
      </p:sp>
      <p:sp>
        <p:nvSpPr>
          <p:cNvPr id="21" name="Text Placeholder 20">
            <a:extLst>
              <a:ext uri="{FF2B5EF4-FFF2-40B4-BE49-F238E27FC236}">
                <a16:creationId xmlns:a16="http://schemas.microsoft.com/office/drawing/2014/main" id="{4943064A-A560-4004-B693-73D5E4FE2FF6}"/>
              </a:ext>
            </a:extLst>
          </p:cNvPr>
          <p:cNvSpPr>
            <a:spLocks noGrp="1"/>
          </p:cNvSpPr>
          <p:nvPr>
            <p:ph type="body" sz="quarter" idx="24"/>
          </p:nvPr>
        </p:nvSpPr>
        <p:spPr/>
        <p:txBody>
          <a:bodyPr>
            <a:normAutofit fontScale="85000" lnSpcReduction="10000"/>
          </a:bodyPr>
          <a:lstStyle/>
          <a:p>
            <a:r>
              <a:rPr lang="en-US" dirty="0"/>
              <a:t>EEG sensors and wearable hardware components</a:t>
            </a:r>
          </a:p>
          <a:p>
            <a:r>
              <a:rPr lang="en-US" dirty="0"/>
              <a:t>ESP32/IoT modules for wireless data transfer</a:t>
            </a:r>
          </a:p>
          <a:p>
            <a:r>
              <a:rPr lang="en-US" dirty="0"/>
              <a:t>Mobile app and cloud infrastructure (Firebase)</a:t>
            </a:r>
          </a:p>
          <a:p>
            <a:r>
              <a:rPr lang="en-US" dirty="0"/>
              <a:t>Technical team: software developers, IoT engineers, data analysts</a:t>
            </a:r>
          </a:p>
          <a:p>
            <a:r>
              <a:rPr lang="en-US" dirty="0"/>
              <a:t>Manufacturing partners for product assembly</a:t>
            </a:r>
          </a:p>
          <a:p>
            <a:r>
              <a:rPr lang="en-US" dirty="0"/>
              <a:t>AI/ML models for advanced stress detection (future expansion)</a:t>
            </a:r>
          </a:p>
          <a:p>
            <a:r>
              <a:rPr lang="en-US" dirty="0"/>
              <a:t>Customer support and sales teams</a:t>
            </a:r>
          </a:p>
          <a:p>
            <a:r>
              <a:rPr lang="en-US" dirty="0"/>
              <a:t>Research partnerships with mental health experts</a:t>
            </a:r>
          </a:p>
          <a:p>
            <a:pPr marL="0" indent="0">
              <a:buNone/>
            </a:pPr>
            <a:endParaRPr lang="en-AU" dirty="0"/>
          </a:p>
        </p:txBody>
      </p:sp>
      <p:sp>
        <p:nvSpPr>
          <p:cNvPr id="4" name="Slide Number Placeholder 3">
            <a:extLst>
              <a:ext uri="{FF2B5EF4-FFF2-40B4-BE49-F238E27FC236}">
                <a16:creationId xmlns:a16="http://schemas.microsoft.com/office/drawing/2014/main" id="{754EC0C4-9EB4-48D6-BDC6-0E67AB01A297}"/>
              </a:ext>
            </a:extLst>
          </p:cNvPr>
          <p:cNvSpPr>
            <a:spLocks noGrp="1"/>
          </p:cNvSpPr>
          <p:nvPr>
            <p:ph type="sldNum" sz="quarter" idx="4294967295"/>
          </p:nvPr>
        </p:nvSpPr>
        <p:spPr>
          <a:xfrm>
            <a:off x="9448800" y="6356350"/>
            <a:ext cx="2743200" cy="365125"/>
          </a:xfrm>
        </p:spPr>
        <p:txBody>
          <a:bodyPr/>
          <a:lstStyle/>
          <a:p>
            <a:fld id="{360E4C09-33CD-4429-8113-4336EE2661D1}" type="slidenum">
              <a:rPr lang="en-AU" smtClean="0"/>
              <a:t>7</a:t>
            </a:fld>
            <a:endParaRPr lang="en-AU"/>
          </a:p>
        </p:txBody>
      </p:sp>
      <p:sp>
        <p:nvSpPr>
          <p:cNvPr id="28" name="Text Placeholder 16">
            <a:extLst>
              <a:ext uri="{FF2B5EF4-FFF2-40B4-BE49-F238E27FC236}">
                <a16:creationId xmlns:a16="http://schemas.microsoft.com/office/drawing/2014/main" id="{F1946070-EBC9-431A-BA99-4C35152B0FA3}"/>
              </a:ext>
            </a:extLst>
          </p:cNvPr>
          <p:cNvSpPr>
            <a:spLocks noGrp="1"/>
          </p:cNvSpPr>
          <p:nvPr>
            <p:ph type="body" sz="quarter" idx="14"/>
          </p:nvPr>
        </p:nvSpPr>
        <p:spPr>
          <a:xfrm>
            <a:off x="370624" y="214118"/>
            <a:ext cx="1350169" cy="108000"/>
          </a:xfrm>
        </p:spPr>
        <p:txBody>
          <a:bodyPr>
            <a:normAutofit fontScale="92500" lnSpcReduction="20000"/>
          </a:bodyPr>
          <a:lstStyle/>
          <a:p>
            <a:endParaRPr lang="en-IN"/>
          </a:p>
        </p:txBody>
      </p:sp>
      <p:sp>
        <p:nvSpPr>
          <p:cNvPr id="29" name="TextBox 28"/>
          <p:cNvSpPr txBox="1"/>
          <p:nvPr/>
        </p:nvSpPr>
        <p:spPr>
          <a:xfrm>
            <a:off x="1739843" y="20468"/>
            <a:ext cx="8696833" cy="400110"/>
          </a:xfrm>
          <a:prstGeom prst="rect">
            <a:avLst/>
          </a:prstGeom>
          <a:solidFill>
            <a:schemeClr val="bg1"/>
          </a:solidFill>
          <a:ln>
            <a:solidFill>
              <a:schemeClr val="tx1"/>
            </a:solidFill>
          </a:ln>
        </p:spPr>
        <p:txBody>
          <a:bodyPr wrap="square" rtlCol="0">
            <a:spAutoFit/>
          </a:bodyPr>
          <a:lstStyle/>
          <a:p>
            <a:r>
              <a:rPr lang="en-IN" sz="1000" b="1" dirty="0">
                <a:solidFill>
                  <a:srgbClr val="C00000"/>
                </a:solidFill>
              </a:rPr>
              <a:t>Idea/Innovation Title:</a:t>
            </a:r>
          </a:p>
          <a:p>
            <a:r>
              <a:rPr lang="en-IN" sz="1000" dirty="0">
                <a:solidFill>
                  <a:srgbClr val="C00000"/>
                </a:solidFill>
              </a:rPr>
              <a:t> 	Stress Monitoring CAP</a:t>
            </a:r>
          </a:p>
        </p:txBody>
      </p:sp>
      <p:sp>
        <p:nvSpPr>
          <p:cNvPr id="30" name="TextBox 29"/>
          <p:cNvSpPr txBox="1"/>
          <p:nvPr/>
        </p:nvSpPr>
        <p:spPr>
          <a:xfrm>
            <a:off x="10453854" y="25140"/>
            <a:ext cx="1633371" cy="400110"/>
          </a:xfrm>
          <a:prstGeom prst="rect">
            <a:avLst/>
          </a:prstGeom>
          <a:solidFill>
            <a:schemeClr val="bg1"/>
          </a:solidFill>
          <a:ln>
            <a:solidFill>
              <a:schemeClr val="tx1"/>
            </a:solidFill>
          </a:ln>
        </p:spPr>
        <p:txBody>
          <a:bodyPr wrap="square" rtlCol="0">
            <a:spAutoFit/>
          </a:bodyPr>
          <a:lstStyle/>
          <a:p>
            <a:r>
              <a:rPr lang="en-IN" sz="1000" dirty="0">
                <a:solidFill>
                  <a:srgbClr val="C00000"/>
                </a:solidFill>
              </a:rPr>
              <a:t>YUKTI Proto ID: </a:t>
            </a:r>
          </a:p>
          <a:p>
            <a:r>
              <a:rPr lang="en-IN" sz="1000" dirty="0"/>
              <a:t>IR2025-983828</a:t>
            </a:r>
            <a:endParaRPr lang="en-IN" sz="1000" dirty="0">
              <a:solidFill>
                <a:srgbClr val="C00000"/>
              </a:solidFill>
            </a:endParaRPr>
          </a:p>
        </p:txBody>
      </p:sp>
    </p:spTree>
    <p:extLst>
      <p:ext uri="{BB962C8B-B14F-4D97-AF65-F5344CB8AC3E}">
        <p14:creationId xmlns:p14="http://schemas.microsoft.com/office/powerpoint/2010/main" val="359230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30629"/>
            <a:ext cx="11425645" cy="6500948"/>
          </a:xfrm>
        </p:spPr>
        <p:txBody>
          <a:bodyPr>
            <a:normAutofit/>
          </a:bodyPr>
          <a:lstStyle/>
          <a:p>
            <a:r>
              <a:rPr lang="en-IN" b="1" dirty="0"/>
              <a:t>Assignment 4: Recent Images of Prototype/Innovation</a:t>
            </a:r>
            <a:br>
              <a:rPr lang="en-IN" b="1" dirty="0"/>
            </a:br>
            <a:br>
              <a:rPr lang="en-IN" b="1" dirty="0"/>
            </a:br>
            <a:br>
              <a:rPr lang="en-IN" b="1" dirty="0"/>
            </a:br>
            <a:endParaRPr lang="en-IN" sz="1600" i="1" dirty="0"/>
          </a:p>
        </p:txBody>
      </p:sp>
      <p:sp>
        <p:nvSpPr>
          <p:cNvPr id="4" name="Rectangle 3"/>
          <p:cNvSpPr/>
          <p:nvPr/>
        </p:nvSpPr>
        <p:spPr>
          <a:xfrm>
            <a:off x="214210" y="2086245"/>
            <a:ext cx="6690173" cy="2677656"/>
          </a:xfrm>
          <a:prstGeom prst="rect">
            <a:avLst/>
          </a:prstGeom>
        </p:spPr>
        <p:txBody>
          <a:bodyPr wrap="square">
            <a:spAutoFit/>
          </a:bodyPr>
          <a:lstStyle/>
          <a:p>
            <a:r>
              <a:rPr lang="en-IN" sz="2400" b="1" dirty="0">
                <a:latin typeface="+mj-lt"/>
              </a:rPr>
              <a:t>Place at least two –three recent images of your product/innovation</a:t>
            </a:r>
            <a:br>
              <a:rPr lang="en-IN" sz="2400" b="1" dirty="0">
                <a:latin typeface="+mj-lt"/>
              </a:rPr>
            </a:br>
            <a:br>
              <a:rPr lang="en-IN" sz="2400" b="1" dirty="0">
                <a:latin typeface="+mj-lt"/>
              </a:rPr>
            </a:br>
            <a:r>
              <a:rPr lang="en-IN" sz="2400" b="1" dirty="0">
                <a:latin typeface="+mj-lt"/>
              </a:rPr>
              <a:t>&amp; </a:t>
            </a:r>
            <a:br>
              <a:rPr lang="en-IN" sz="2400" b="1" dirty="0">
                <a:latin typeface="+mj-lt"/>
              </a:rPr>
            </a:br>
            <a:r>
              <a:rPr lang="en-IN" sz="2400" b="1" dirty="0">
                <a:latin typeface="+mj-lt"/>
              </a:rPr>
              <a:t> </a:t>
            </a:r>
            <a:br>
              <a:rPr lang="en-IN" sz="2400" b="1" dirty="0">
                <a:latin typeface="+mj-lt"/>
              </a:rPr>
            </a:br>
            <a:r>
              <a:rPr lang="en-IN" sz="2400" b="1" dirty="0">
                <a:latin typeface="+mj-lt"/>
              </a:rPr>
              <a:t>Place the URL of maximum 3 minutes video on your product/innovation. Refer video preparation guideline</a:t>
            </a:r>
            <a:endParaRPr lang="en-US" sz="2400" dirty="0">
              <a:latin typeface="+mj-lt"/>
            </a:endParaRPr>
          </a:p>
        </p:txBody>
      </p:sp>
      <p:sp>
        <p:nvSpPr>
          <p:cNvPr id="5" name="Rectangle 4"/>
          <p:cNvSpPr/>
          <p:nvPr/>
        </p:nvSpPr>
        <p:spPr>
          <a:xfrm>
            <a:off x="5791200" y="5550424"/>
            <a:ext cx="6291942" cy="1200329"/>
          </a:xfrm>
          <a:prstGeom prst="rect">
            <a:avLst/>
          </a:prstGeom>
        </p:spPr>
        <p:txBody>
          <a:bodyPr wrap="square">
            <a:spAutoFit/>
          </a:bodyPr>
          <a:lstStyle/>
          <a:p>
            <a:r>
              <a:rPr lang="en-US" sz="1200" dirty="0"/>
              <a:t>Note:</a:t>
            </a:r>
          </a:p>
          <a:p>
            <a:pPr marL="228600" indent="-228600">
              <a:buAutoNum type="arabicPeriod"/>
            </a:pPr>
            <a:r>
              <a:rPr lang="en-US" sz="1200" dirty="0"/>
              <a:t>If video contains the IP component then video may be uploaded in the google drive and access shall be given to  </a:t>
            </a:r>
            <a:r>
              <a:rPr lang="en-US" sz="1200" dirty="0">
                <a:hlinkClick r:id="rId2"/>
              </a:rPr>
              <a:t>yukti@aicte-india.org</a:t>
            </a:r>
            <a:endParaRPr lang="en-US" sz="1200" dirty="0"/>
          </a:p>
          <a:p>
            <a:pPr marL="228600" indent="-228600">
              <a:buAutoNum type="arabicPeriod"/>
            </a:pPr>
            <a:r>
              <a:rPr lang="en-US" sz="1200" dirty="0"/>
              <a:t>Due to ease of accessibility, the video may be uploaded on YouTube and video link should be provided. </a:t>
            </a:r>
          </a:p>
          <a:p>
            <a:pPr marL="228600" indent="-228600">
              <a:buAutoNum type="arabicPeriod"/>
            </a:pPr>
            <a:r>
              <a:rPr lang="en-US" sz="1200" dirty="0"/>
              <a:t>Only provide video URL/Link and no video should be sent in email to MIC</a:t>
            </a:r>
          </a:p>
        </p:txBody>
      </p:sp>
      <p:pic>
        <p:nvPicPr>
          <p:cNvPr id="6" name="Picture 5"/>
          <p:cNvPicPr>
            <a:picLocks noChangeAspect="1"/>
          </p:cNvPicPr>
          <p:nvPr/>
        </p:nvPicPr>
        <p:blipFill>
          <a:blip r:embed="rId3"/>
          <a:stretch>
            <a:fillRect/>
          </a:stretch>
        </p:blipFill>
        <p:spPr>
          <a:xfrm>
            <a:off x="7013241" y="819673"/>
            <a:ext cx="5069901" cy="4849926"/>
          </a:xfrm>
          <a:prstGeom prst="rect">
            <a:avLst/>
          </a:prstGeom>
        </p:spPr>
      </p:pic>
    </p:spTree>
    <p:extLst>
      <p:ext uri="{BB962C8B-B14F-4D97-AF65-F5344CB8AC3E}">
        <p14:creationId xmlns:p14="http://schemas.microsoft.com/office/powerpoint/2010/main" val="3533321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hand holding a device with wires and a blue light">
            <a:extLst>
              <a:ext uri="{FF2B5EF4-FFF2-40B4-BE49-F238E27FC236}">
                <a16:creationId xmlns:a16="http://schemas.microsoft.com/office/drawing/2014/main" id="{D1654E3E-0429-486C-60DD-64A4114618EA}"/>
              </a:ext>
            </a:extLst>
          </p:cNvPr>
          <p:cNvPicPr>
            <a:picLocks noChangeAspect="1"/>
          </p:cNvPicPr>
          <p:nvPr/>
        </p:nvPicPr>
        <p:blipFill>
          <a:blip r:embed="rId2" cstate="print">
            <a:extLst>
              <a:ext uri="{28A0092B-C50C-407E-A947-70E740481C1C}">
                <a14:useLocalDpi xmlns:a14="http://schemas.microsoft.com/office/drawing/2010/main" val="0"/>
              </a:ext>
            </a:extLst>
          </a:blip>
          <a:srcRect r="25250" b="-1"/>
          <a:stretch>
            <a:fillRect/>
          </a:stretch>
        </p:blipFill>
        <p:spPr>
          <a:xfrm>
            <a:off x="3793813" y="744344"/>
            <a:ext cx="4627646" cy="4627648"/>
          </a:xfrm>
          <a:custGeom>
            <a:avLst/>
            <a:gdLst/>
            <a:ahLst/>
            <a:cxnLst/>
            <a:rect l="l" t="t" r="r" b="b"/>
            <a:pathLst>
              <a:path w="4627646" h="4627648">
                <a:moveTo>
                  <a:pt x="2313823" y="0"/>
                </a:moveTo>
                <a:cubicBezTo>
                  <a:pt x="3591712" y="0"/>
                  <a:pt x="4627646" y="1035934"/>
                  <a:pt x="4627646" y="2313824"/>
                </a:cubicBezTo>
                <a:cubicBezTo>
                  <a:pt x="4627646" y="3591714"/>
                  <a:pt x="3591712" y="4627648"/>
                  <a:pt x="2313823" y="4627648"/>
                </a:cubicBezTo>
                <a:cubicBezTo>
                  <a:pt x="1035934" y="4627648"/>
                  <a:pt x="0" y="3591714"/>
                  <a:pt x="0" y="2313824"/>
                </a:cubicBezTo>
                <a:cubicBezTo>
                  <a:pt x="0" y="1035934"/>
                  <a:pt x="1035934" y="0"/>
                  <a:pt x="2313823" y="0"/>
                </a:cubicBezTo>
                <a:close/>
              </a:path>
            </a:pathLst>
          </a:custGeom>
        </p:spPr>
      </p:pic>
      <p:pic>
        <p:nvPicPr>
          <p:cNvPr id="11" name="Picture 10" descr="A person wearing a red hat&#10;&#10;AI-generated content may be incorrect.">
            <a:extLst>
              <a:ext uri="{FF2B5EF4-FFF2-40B4-BE49-F238E27FC236}">
                <a16:creationId xmlns:a16="http://schemas.microsoft.com/office/drawing/2014/main" id="{563AB5F3-9FD0-F9AA-9545-7CA154D63A60}"/>
              </a:ext>
            </a:extLst>
          </p:cNvPr>
          <p:cNvPicPr>
            <a:picLocks noChangeAspect="1"/>
          </p:cNvPicPr>
          <p:nvPr/>
        </p:nvPicPr>
        <p:blipFill>
          <a:blip r:embed="rId3" cstate="print">
            <a:extLst>
              <a:ext uri="{28A0092B-C50C-407E-A947-70E740481C1C}">
                <a14:useLocalDpi xmlns:a14="http://schemas.microsoft.com/office/drawing/2010/main" val="0"/>
              </a:ext>
            </a:extLst>
          </a:blip>
          <a:srcRect r="1098" b="-5"/>
          <a:stretch>
            <a:fillRect/>
          </a:stretch>
        </p:blipFill>
        <p:spPr>
          <a:xfrm>
            <a:off x="1319706" y="1757695"/>
            <a:ext cx="2590737" cy="2926956"/>
          </a:xfrm>
          <a:custGeom>
            <a:avLst/>
            <a:gdLst/>
            <a:ahLst/>
            <a:cxnLst/>
            <a:rect l="l" t="t" r="r" b="b"/>
            <a:pathLst>
              <a:path w="2590737" h="2926956">
                <a:moveTo>
                  <a:pt x="1463478" y="0"/>
                </a:moveTo>
                <a:cubicBezTo>
                  <a:pt x="1867606" y="0"/>
                  <a:pt x="2233476" y="163805"/>
                  <a:pt x="2498313" y="428643"/>
                </a:cubicBezTo>
                <a:lnTo>
                  <a:pt x="2501029" y="431631"/>
                </a:lnTo>
                <a:lnTo>
                  <a:pt x="2445696" y="582811"/>
                </a:lnTo>
                <a:cubicBezTo>
                  <a:pt x="2374039" y="813196"/>
                  <a:pt x="2335437" y="1058145"/>
                  <a:pt x="2335437" y="1312109"/>
                </a:cubicBezTo>
                <a:cubicBezTo>
                  <a:pt x="2335437" y="1650728"/>
                  <a:pt x="2404063" y="1973319"/>
                  <a:pt x="2528166" y="2266732"/>
                </a:cubicBezTo>
                <a:lnTo>
                  <a:pt x="2590737" y="2396622"/>
                </a:lnTo>
                <a:lnTo>
                  <a:pt x="2498313" y="2498313"/>
                </a:lnTo>
                <a:cubicBezTo>
                  <a:pt x="2233476" y="2763151"/>
                  <a:pt x="1867606" y="2926956"/>
                  <a:pt x="1463478" y="2926956"/>
                </a:cubicBezTo>
                <a:cubicBezTo>
                  <a:pt x="655221" y="2926956"/>
                  <a:pt x="0" y="2271735"/>
                  <a:pt x="0" y="1463478"/>
                </a:cubicBezTo>
                <a:cubicBezTo>
                  <a:pt x="0" y="655221"/>
                  <a:pt x="655221" y="0"/>
                  <a:pt x="1463478" y="0"/>
                </a:cubicBezTo>
                <a:close/>
              </a:path>
            </a:pathLst>
          </a:custGeom>
        </p:spPr>
      </p:pic>
      <p:pic>
        <p:nvPicPr>
          <p:cNvPr id="9" name="Picture 8" descr="A red hat with wires inside&#10;&#10;AI-generated content may be incorrect.">
            <a:extLst>
              <a:ext uri="{FF2B5EF4-FFF2-40B4-BE49-F238E27FC236}">
                <a16:creationId xmlns:a16="http://schemas.microsoft.com/office/drawing/2014/main" id="{3477A99D-D40A-3C06-7C47-370CB81E4D87}"/>
              </a:ext>
            </a:extLst>
          </p:cNvPr>
          <p:cNvPicPr>
            <a:picLocks noChangeAspect="1"/>
          </p:cNvPicPr>
          <p:nvPr/>
        </p:nvPicPr>
        <p:blipFill>
          <a:blip r:embed="rId4">
            <a:extLst>
              <a:ext uri="{28A0092B-C50C-407E-A947-70E740481C1C}">
                <a14:useLocalDpi xmlns:a14="http://schemas.microsoft.com/office/drawing/2010/main" val="0"/>
              </a:ext>
            </a:extLst>
          </a:blip>
          <a:srcRect t="8891" r="4" b="1981"/>
          <a:stretch>
            <a:fillRect/>
          </a:stretch>
        </p:blipFill>
        <p:spPr>
          <a:xfrm>
            <a:off x="8297994" y="1757695"/>
            <a:ext cx="2577829" cy="2926956"/>
          </a:xfrm>
          <a:custGeom>
            <a:avLst/>
            <a:gdLst/>
            <a:ahLst/>
            <a:cxnLst/>
            <a:rect l="l" t="t" r="r" b="b"/>
            <a:pathLst>
              <a:path w="2577829" h="2926956">
                <a:moveTo>
                  <a:pt x="1114351" y="0"/>
                </a:moveTo>
                <a:cubicBezTo>
                  <a:pt x="1922608" y="0"/>
                  <a:pt x="2577829" y="655221"/>
                  <a:pt x="2577829" y="1463478"/>
                </a:cubicBezTo>
                <a:cubicBezTo>
                  <a:pt x="2577829" y="2271735"/>
                  <a:pt x="1922608" y="2926956"/>
                  <a:pt x="1114351" y="2926956"/>
                </a:cubicBezTo>
                <a:cubicBezTo>
                  <a:pt x="710223" y="2926956"/>
                  <a:pt x="344353" y="2763151"/>
                  <a:pt x="79516" y="2498313"/>
                </a:cubicBezTo>
                <a:lnTo>
                  <a:pt x="0" y="2410824"/>
                </a:lnTo>
                <a:lnTo>
                  <a:pt x="69413" y="2266732"/>
                </a:lnTo>
                <a:cubicBezTo>
                  <a:pt x="193516" y="1973319"/>
                  <a:pt x="262142" y="1650728"/>
                  <a:pt x="262142" y="1312109"/>
                </a:cubicBezTo>
                <a:cubicBezTo>
                  <a:pt x="262142" y="1058145"/>
                  <a:pt x="223540" y="813196"/>
                  <a:pt x="151883" y="582811"/>
                </a:cubicBezTo>
                <a:lnTo>
                  <a:pt x="91478" y="417771"/>
                </a:lnTo>
                <a:lnTo>
                  <a:pt x="183443" y="334187"/>
                </a:lnTo>
                <a:cubicBezTo>
                  <a:pt x="436418" y="125413"/>
                  <a:pt x="760739" y="0"/>
                  <a:pt x="1114351" y="0"/>
                </a:cubicBezTo>
                <a:close/>
              </a:path>
            </a:pathLst>
          </a:custGeom>
        </p:spPr>
      </p:pic>
      <p:sp>
        <p:nvSpPr>
          <p:cNvPr id="2" name="Title 1"/>
          <p:cNvSpPr>
            <a:spLocks noGrp="1"/>
          </p:cNvSpPr>
          <p:nvPr>
            <p:ph type="title"/>
          </p:nvPr>
        </p:nvSpPr>
        <p:spPr/>
        <p:txBody>
          <a:bodyPr/>
          <a:lstStyle/>
          <a:p>
            <a:r>
              <a:rPr lang="en-US" dirty="0"/>
              <a:t> </a:t>
            </a:r>
          </a:p>
        </p:txBody>
      </p:sp>
      <p:pic>
        <p:nvPicPr>
          <p:cNvPr id="5" name="Content Placeholder 4" descr="A hand holding a device with wires and a blue light&#10;&#10;AI-generated content may be incorrect.">
            <a:extLst>
              <a:ext uri="{FF2B5EF4-FFF2-40B4-BE49-F238E27FC236}">
                <a16:creationId xmlns:a16="http://schemas.microsoft.com/office/drawing/2014/main" id="{3DD4F3E6-A34D-77D0-2D47-7E62B3B24EB9}"/>
              </a:ext>
            </a:extLst>
          </p:cNvPr>
          <p:cNvPicPr>
            <a:picLocks noGrp="1" noChangeAspect="1"/>
          </p:cNvPicPr>
          <p:nvPr>
            <p:ph idx="1"/>
          </p:nvPr>
        </p:nvPicPr>
        <p:blipFill>
          <a:blip r:embed="rId2"/>
          <a:stretch>
            <a:fillRect/>
          </a:stretch>
        </p:blipFill>
        <p:spPr/>
      </p:pic>
    </p:spTree>
    <p:extLst>
      <p:ext uri="{BB962C8B-B14F-4D97-AF65-F5344CB8AC3E}">
        <p14:creationId xmlns:p14="http://schemas.microsoft.com/office/powerpoint/2010/main" val="692094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040835"/>
            <a:ext cx="11425645" cy="3061252"/>
          </a:xfrm>
        </p:spPr>
        <p:txBody>
          <a:bodyPr>
            <a:normAutofit/>
          </a:bodyPr>
          <a:lstStyle/>
          <a:p>
            <a:r>
              <a:rPr lang="en-IN" b="1" dirty="0"/>
              <a:t>Assignment 5: Submit Brief Presentation on your Innovation and Business Opportunity Plan</a:t>
            </a:r>
            <a:br>
              <a:rPr lang="en-IN" b="1" dirty="0"/>
            </a:br>
            <a:br>
              <a:rPr lang="en-IN" dirty="0"/>
            </a:br>
            <a:endParaRPr lang="en-IN" sz="2800" i="1" dirty="0"/>
          </a:p>
        </p:txBody>
      </p:sp>
    </p:spTree>
    <p:extLst>
      <p:ext uri="{BB962C8B-B14F-4D97-AF65-F5344CB8AC3E}">
        <p14:creationId xmlns:p14="http://schemas.microsoft.com/office/powerpoint/2010/main" val="1098855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390698" y="474269"/>
            <a:ext cx="11048827" cy="68326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1. The Overview</a:t>
            </a:r>
            <a:endParaRPr lang="id-ID" sz="4800" b="1" dirty="0">
              <a:gradFill>
                <a:gsLst>
                  <a:gs pos="0">
                    <a:schemeClr val="accent1"/>
                  </a:gs>
                  <a:gs pos="100000">
                    <a:schemeClr val="accent4"/>
                  </a:gs>
                </a:gsLst>
                <a:lin ang="2700000" scaled="1"/>
              </a:gradFill>
            </a:endParaRPr>
          </a:p>
        </p:txBody>
      </p:sp>
      <p:sp>
        <p:nvSpPr>
          <p:cNvPr id="23" name="TextBox 22">
            <a:extLst>
              <a:ext uri="{FF2B5EF4-FFF2-40B4-BE49-F238E27FC236}">
                <a16:creationId xmlns:a16="http://schemas.microsoft.com/office/drawing/2014/main" id="{9A00F556-EC6F-4389-BD91-6456C88E992D}"/>
              </a:ext>
            </a:extLst>
          </p:cNvPr>
          <p:cNvSpPr txBox="1"/>
          <p:nvPr/>
        </p:nvSpPr>
        <p:spPr>
          <a:xfrm>
            <a:off x="1711583" y="1107700"/>
            <a:ext cx="8768834" cy="400110"/>
          </a:xfrm>
          <a:prstGeom prst="rect">
            <a:avLst/>
          </a:prstGeom>
          <a:noFill/>
        </p:spPr>
        <p:txBody>
          <a:bodyPr wrap="square">
            <a:spAutoFit/>
          </a:bodyPr>
          <a:lstStyle/>
          <a:p>
            <a:pPr algn="ctr"/>
            <a:r>
              <a:rPr lang="en-US" sz="2000" dirty="0">
                <a:solidFill>
                  <a:srgbClr val="F04034"/>
                </a:solidFill>
                <a:latin typeface="Montserrat" panose="00000500000000000000" pitchFamily="2" charset="0"/>
              </a:rPr>
              <a:t>C</a:t>
            </a:r>
            <a:r>
              <a:rPr lang="en-US" sz="2000" b="0" i="0" dirty="0">
                <a:solidFill>
                  <a:srgbClr val="F04034"/>
                </a:solidFill>
                <a:effectLst/>
                <a:latin typeface="Montserrat" panose="00000500000000000000" pitchFamily="2" charset="0"/>
              </a:rPr>
              <a:t>reate a very high-level overview of your product or service</a:t>
            </a:r>
          </a:p>
        </p:txBody>
      </p:sp>
      <p:graphicFrame>
        <p:nvGraphicFramePr>
          <p:cNvPr id="5" name="Diagram 4">
            <a:extLst>
              <a:ext uri="{FF2B5EF4-FFF2-40B4-BE49-F238E27FC236}">
                <a16:creationId xmlns:a16="http://schemas.microsoft.com/office/drawing/2014/main" id="{9150172D-D509-44DC-9C25-9968874D3D5A}"/>
              </a:ext>
            </a:extLst>
          </p:cNvPr>
          <p:cNvGraphicFramePr/>
          <p:nvPr>
            <p:extLst>
              <p:ext uri="{D42A27DB-BD31-4B8C-83A1-F6EECF244321}">
                <p14:modId xmlns:p14="http://schemas.microsoft.com/office/powerpoint/2010/main" val="625549602"/>
              </p:ext>
            </p:extLst>
          </p:nvPr>
        </p:nvGraphicFramePr>
        <p:xfrm>
          <a:off x="220717" y="1107701"/>
          <a:ext cx="11423793" cy="56588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50645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752475" y="474269"/>
            <a:ext cx="10687050" cy="68762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2. The Problem</a:t>
            </a:r>
            <a:endParaRPr lang="id-ID" sz="4800" b="1" dirty="0">
              <a:gradFill>
                <a:gsLst>
                  <a:gs pos="0">
                    <a:schemeClr val="accent1"/>
                  </a:gs>
                  <a:gs pos="100000">
                    <a:schemeClr val="accent4"/>
                  </a:gs>
                </a:gsLst>
                <a:lin ang="2700000" scaled="1"/>
              </a:gradFill>
            </a:endParaRPr>
          </a:p>
        </p:txBody>
      </p:sp>
      <p:sp>
        <p:nvSpPr>
          <p:cNvPr id="23" name="TextBox 22">
            <a:extLst>
              <a:ext uri="{FF2B5EF4-FFF2-40B4-BE49-F238E27FC236}">
                <a16:creationId xmlns:a16="http://schemas.microsoft.com/office/drawing/2014/main" id="{9A00F556-EC6F-4389-BD91-6456C88E992D}"/>
              </a:ext>
            </a:extLst>
          </p:cNvPr>
          <p:cNvSpPr txBox="1"/>
          <p:nvPr/>
        </p:nvSpPr>
        <p:spPr>
          <a:xfrm>
            <a:off x="1711583" y="1127724"/>
            <a:ext cx="8768834" cy="400110"/>
          </a:xfrm>
          <a:prstGeom prst="rect">
            <a:avLst/>
          </a:prstGeom>
          <a:noFill/>
        </p:spPr>
        <p:txBody>
          <a:bodyPr wrap="square">
            <a:spAutoFit/>
          </a:bodyPr>
          <a:lstStyle/>
          <a:p>
            <a:pPr algn="ctr"/>
            <a:r>
              <a:rPr lang="en-US" sz="2000" dirty="0">
                <a:solidFill>
                  <a:srgbClr val="F04034"/>
                </a:solidFill>
                <a:latin typeface="Montserrat" panose="00000500000000000000" pitchFamily="2" charset="0"/>
              </a:rPr>
              <a:t>What problem are you trying to solve? Is it really a problem?</a:t>
            </a:r>
            <a:endParaRPr lang="en-US" sz="2000" b="0" i="0" dirty="0">
              <a:solidFill>
                <a:srgbClr val="F04034"/>
              </a:solidFill>
              <a:effectLst/>
              <a:latin typeface="Montserrat" panose="00000500000000000000" pitchFamily="2" charset="0"/>
            </a:endParaRPr>
          </a:p>
        </p:txBody>
      </p:sp>
      <p:graphicFrame>
        <p:nvGraphicFramePr>
          <p:cNvPr id="5" name="Diagram 4">
            <a:extLst>
              <a:ext uri="{FF2B5EF4-FFF2-40B4-BE49-F238E27FC236}">
                <a16:creationId xmlns:a16="http://schemas.microsoft.com/office/drawing/2014/main" id="{9150172D-D509-44DC-9C25-9968874D3D5A}"/>
              </a:ext>
            </a:extLst>
          </p:cNvPr>
          <p:cNvGraphicFramePr/>
          <p:nvPr>
            <p:extLst>
              <p:ext uri="{D42A27DB-BD31-4B8C-83A1-F6EECF244321}">
                <p14:modId xmlns:p14="http://schemas.microsoft.com/office/powerpoint/2010/main" val="466951289"/>
              </p:ext>
            </p:extLst>
          </p:nvPr>
        </p:nvGraphicFramePr>
        <p:xfrm>
          <a:off x="791815" y="1611271"/>
          <a:ext cx="10608370" cy="4996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93202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752475" y="474269"/>
            <a:ext cx="10687050" cy="68762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3.The Solution</a:t>
            </a:r>
            <a:endParaRPr lang="id-ID" sz="4800" b="1" dirty="0">
              <a:gradFill>
                <a:gsLst>
                  <a:gs pos="0">
                    <a:schemeClr val="accent1"/>
                  </a:gs>
                  <a:gs pos="100000">
                    <a:schemeClr val="accent4"/>
                  </a:gs>
                </a:gsLst>
                <a:lin ang="2700000" scaled="1"/>
              </a:gradFill>
            </a:endParaRPr>
          </a:p>
        </p:txBody>
      </p:sp>
      <p:sp>
        <p:nvSpPr>
          <p:cNvPr id="23" name="TextBox 22">
            <a:extLst>
              <a:ext uri="{FF2B5EF4-FFF2-40B4-BE49-F238E27FC236}">
                <a16:creationId xmlns:a16="http://schemas.microsoft.com/office/drawing/2014/main" id="{9A00F556-EC6F-4389-BD91-6456C88E992D}"/>
              </a:ext>
            </a:extLst>
          </p:cNvPr>
          <p:cNvSpPr txBox="1"/>
          <p:nvPr/>
        </p:nvSpPr>
        <p:spPr>
          <a:xfrm>
            <a:off x="1711583" y="1131457"/>
            <a:ext cx="8768834" cy="400110"/>
          </a:xfrm>
          <a:prstGeom prst="rect">
            <a:avLst/>
          </a:prstGeom>
          <a:noFill/>
        </p:spPr>
        <p:txBody>
          <a:bodyPr wrap="square">
            <a:spAutoFit/>
          </a:bodyPr>
          <a:lstStyle/>
          <a:p>
            <a:pPr algn="ctr"/>
            <a:r>
              <a:rPr lang="en-US" sz="2000" b="0" i="0" dirty="0">
                <a:solidFill>
                  <a:srgbClr val="F04034"/>
                </a:solidFill>
                <a:effectLst/>
                <a:latin typeface="Montserrat" panose="00000500000000000000" pitchFamily="2" charset="0"/>
              </a:rPr>
              <a:t>Describe how are you solving the problem</a:t>
            </a:r>
          </a:p>
        </p:txBody>
      </p:sp>
      <p:graphicFrame>
        <p:nvGraphicFramePr>
          <p:cNvPr id="5" name="Diagram 4">
            <a:extLst>
              <a:ext uri="{FF2B5EF4-FFF2-40B4-BE49-F238E27FC236}">
                <a16:creationId xmlns:a16="http://schemas.microsoft.com/office/drawing/2014/main" id="{9150172D-D509-44DC-9C25-9968874D3D5A}"/>
              </a:ext>
            </a:extLst>
          </p:cNvPr>
          <p:cNvGraphicFramePr/>
          <p:nvPr>
            <p:extLst>
              <p:ext uri="{D42A27DB-BD31-4B8C-83A1-F6EECF244321}">
                <p14:modId xmlns:p14="http://schemas.microsoft.com/office/powerpoint/2010/main" val="27135020"/>
              </p:ext>
            </p:extLst>
          </p:nvPr>
        </p:nvGraphicFramePr>
        <p:xfrm>
          <a:off x="791815" y="1611271"/>
          <a:ext cx="10608370" cy="4996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51736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752475" y="474269"/>
            <a:ext cx="10687050" cy="68762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4. The Product/Service</a:t>
            </a:r>
            <a:endParaRPr lang="id-ID" sz="4800" b="1" dirty="0">
              <a:gradFill>
                <a:gsLst>
                  <a:gs pos="0">
                    <a:schemeClr val="accent1"/>
                  </a:gs>
                  <a:gs pos="100000">
                    <a:schemeClr val="accent4"/>
                  </a:gs>
                </a:gsLst>
                <a:lin ang="2700000" scaled="1"/>
              </a:gradFill>
            </a:endParaRPr>
          </a:p>
        </p:txBody>
      </p:sp>
      <p:sp>
        <p:nvSpPr>
          <p:cNvPr id="23" name="TextBox 22">
            <a:extLst>
              <a:ext uri="{FF2B5EF4-FFF2-40B4-BE49-F238E27FC236}">
                <a16:creationId xmlns:a16="http://schemas.microsoft.com/office/drawing/2014/main" id="{9A00F556-EC6F-4389-BD91-6456C88E992D}"/>
              </a:ext>
            </a:extLst>
          </p:cNvPr>
          <p:cNvSpPr txBox="1"/>
          <p:nvPr/>
        </p:nvSpPr>
        <p:spPr>
          <a:xfrm>
            <a:off x="1711583" y="1131457"/>
            <a:ext cx="8768834" cy="400110"/>
          </a:xfrm>
          <a:prstGeom prst="rect">
            <a:avLst/>
          </a:prstGeom>
          <a:noFill/>
        </p:spPr>
        <p:txBody>
          <a:bodyPr wrap="square">
            <a:spAutoFit/>
          </a:bodyPr>
          <a:lstStyle/>
          <a:p>
            <a:pPr algn="ctr"/>
            <a:r>
              <a:rPr lang="en-US" sz="2000" b="0" i="0" dirty="0">
                <a:solidFill>
                  <a:srgbClr val="F04034"/>
                </a:solidFill>
                <a:effectLst/>
                <a:latin typeface="Montserrat" panose="00000500000000000000" pitchFamily="2" charset="0"/>
              </a:rPr>
              <a:t>Describe how are you solving the problem</a:t>
            </a:r>
          </a:p>
        </p:txBody>
      </p:sp>
      <p:graphicFrame>
        <p:nvGraphicFramePr>
          <p:cNvPr id="5" name="Diagram 4">
            <a:extLst>
              <a:ext uri="{FF2B5EF4-FFF2-40B4-BE49-F238E27FC236}">
                <a16:creationId xmlns:a16="http://schemas.microsoft.com/office/drawing/2014/main" id="{9150172D-D509-44DC-9C25-9968874D3D5A}"/>
              </a:ext>
            </a:extLst>
          </p:cNvPr>
          <p:cNvGraphicFramePr/>
          <p:nvPr>
            <p:extLst>
              <p:ext uri="{D42A27DB-BD31-4B8C-83A1-F6EECF244321}">
                <p14:modId xmlns:p14="http://schemas.microsoft.com/office/powerpoint/2010/main" val="1041584629"/>
              </p:ext>
            </p:extLst>
          </p:nvPr>
        </p:nvGraphicFramePr>
        <p:xfrm>
          <a:off x="791815" y="1611270"/>
          <a:ext cx="10874668" cy="51048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50168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191032" y="474269"/>
            <a:ext cx="11804233" cy="68326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5. Market &amp; Opportunity</a:t>
            </a:r>
            <a:endParaRPr lang="id-ID" sz="4800" b="1" dirty="0">
              <a:gradFill>
                <a:gsLst>
                  <a:gs pos="0">
                    <a:schemeClr val="accent1"/>
                  </a:gs>
                  <a:gs pos="100000">
                    <a:schemeClr val="accent4"/>
                  </a:gs>
                </a:gsLst>
                <a:lin ang="2700000" scaled="1"/>
              </a:gradFill>
            </a:endParaRPr>
          </a:p>
        </p:txBody>
      </p:sp>
      <p:sp>
        <p:nvSpPr>
          <p:cNvPr id="23" name="TextBox 22">
            <a:extLst>
              <a:ext uri="{FF2B5EF4-FFF2-40B4-BE49-F238E27FC236}">
                <a16:creationId xmlns:a16="http://schemas.microsoft.com/office/drawing/2014/main" id="{9A00F556-EC6F-4389-BD91-6456C88E992D}"/>
              </a:ext>
            </a:extLst>
          </p:cNvPr>
          <p:cNvSpPr txBox="1"/>
          <p:nvPr/>
        </p:nvSpPr>
        <p:spPr>
          <a:xfrm>
            <a:off x="1711583" y="1131457"/>
            <a:ext cx="8768834" cy="400110"/>
          </a:xfrm>
          <a:prstGeom prst="rect">
            <a:avLst/>
          </a:prstGeom>
          <a:noFill/>
        </p:spPr>
        <p:txBody>
          <a:bodyPr wrap="square">
            <a:spAutoFit/>
          </a:bodyPr>
          <a:lstStyle/>
          <a:p>
            <a:pPr algn="ctr"/>
            <a:r>
              <a:rPr lang="en-US" sz="2000" b="0" i="0" dirty="0">
                <a:solidFill>
                  <a:srgbClr val="F04034"/>
                </a:solidFill>
                <a:effectLst/>
                <a:latin typeface="Montserrat" panose="00000500000000000000" pitchFamily="2" charset="0"/>
              </a:rPr>
              <a:t>Describe/Highlight the size of your target market</a:t>
            </a:r>
          </a:p>
        </p:txBody>
      </p:sp>
      <p:graphicFrame>
        <p:nvGraphicFramePr>
          <p:cNvPr id="5" name="Diagram 4">
            <a:extLst>
              <a:ext uri="{FF2B5EF4-FFF2-40B4-BE49-F238E27FC236}">
                <a16:creationId xmlns:a16="http://schemas.microsoft.com/office/drawing/2014/main" id="{9150172D-D509-44DC-9C25-9968874D3D5A}"/>
              </a:ext>
            </a:extLst>
          </p:cNvPr>
          <p:cNvGraphicFramePr/>
          <p:nvPr>
            <p:extLst>
              <p:ext uri="{D42A27DB-BD31-4B8C-83A1-F6EECF244321}">
                <p14:modId xmlns:p14="http://schemas.microsoft.com/office/powerpoint/2010/main" val="221052387"/>
              </p:ext>
            </p:extLst>
          </p:nvPr>
        </p:nvGraphicFramePr>
        <p:xfrm>
          <a:off x="791815" y="1611271"/>
          <a:ext cx="10608370" cy="4996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7045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752475" y="474269"/>
            <a:ext cx="10687050" cy="68326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6. The Technology/Innovation</a:t>
            </a:r>
            <a:endParaRPr lang="id-ID" sz="4800" b="1" dirty="0">
              <a:gradFill>
                <a:gsLst>
                  <a:gs pos="0">
                    <a:schemeClr val="accent1"/>
                  </a:gs>
                  <a:gs pos="100000">
                    <a:schemeClr val="accent4"/>
                  </a:gs>
                </a:gsLst>
                <a:lin ang="2700000" scaled="1"/>
              </a:gradFill>
            </a:endParaRPr>
          </a:p>
        </p:txBody>
      </p:sp>
      <p:sp>
        <p:nvSpPr>
          <p:cNvPr id="23" name="TextBox 22">
            <a:extLst>
              <a:ext uri="{FF2B5EF4-FFF2-40B4-BE49-F238E27FC236}">
                <a16:creationId xmlns:a16="http://schemas.microsoft.com/office/drawing/2014/main" id="{9A00F556-EC6F-4389-BD91-6456C88E992D}"/>
              </a:ext>
            </a:extLst>
          </p:cNvPr>
          <p:cNvSpPr txBox="1"/>
          <p:nvPr/>
        </p:nvSpPr>
        <p:spPr>
          <a:xfrm>
            <a:off x="1711583" y="1131457"/>
            <a:ext cx="9688602" cy="400110"/>
          </a:xfrm>
          <a:prstGeom prst="rect">
            <a:avLst/>
          </a:prstGeom>
          <a:noFill/>
        </p:spPr>
        <p:txBody>
          <a:bodyPr wrap="square">
            <a:spAutoFit/>
          </a:bodyPr>
          <a:lstStyle/>
          <a:p>
            <a:pPr algn="ctr"/>
            <a:r>
              <a:rPr lang="en-US" sz="2000" b="0" i="0" dirty="0">
                <a:solidFill>
                  <a:srgbClr val="F04034"/>
                </a:solidFill>
                <a:effectLst/>
                <a:latin typeface="Montserrat" panose="00000500000000000000" pitchFamily="2" charset="0"/>
              </a:rPr>
              <a:t>Describe the technologies you are using to solve the problem</a:t>
            </a:r>
          </a:p>
        </p:txBody>
      </p:sp>
      <p:graphicFrame>
        <p:nvGraphicFramePr>
          <p:cNvPr id="5" name="Diagram 4">
            <a:extLst>
              <a:ext uri="{FF2B5EF4-FFF2-40B4-BE49-F238E27FC236}">
                <a16:creationId xmlns:a16="http://schemas.microsoft.com/office/drawing/2014/main" id="{9150172D-D509-44DC-9C25-9968874D3D5A}"/>
              </a:ext>
            </a:extLst>
          </p:cNvPr>
          <p:cNvGraphicFramePr/>
          <p:nvPr>
            <p:extLst>
              <p:ext uri="{D42A27DB-BD31-4B8C-83A1-F6EECF244321}">
                <p14:modId xmlns:p14="http://schemas.microsoft.com/office/powerpoint/2010/main" val="2111949296"/>
              </p:ext>
            </p:extLst>
          </p:nvPr>
        </p:nvGraphicFramePr>
        <p:xfrm>
          <a:off x="791815" y="1611271"/>
          <a:ext cx="10608370" cy="4996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74084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752475" y="474269"/>
            <a:ext cx="10687050" cy="68762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7. Competitive Landscape</a:t>
            </a:r>
            <a:endParaRPr lang="id-ID" sz="4800" b="1" dirty="0">
              <a:gradFill>
                <a:gsLst>
                  <a:gs pos="0">
                    <a:schemeClr val="accent1"/>
                  </a:gs>
                  <a:gs pos="100000">
                    <a:schemeClr val="accent4"/>
                  </a:gs>
                </a:gsLst>
                <a:lin ang="2700000" scaled="1"/>
              </a:gradFill>
            </a:endParaRPr>
          </a:p>
        </p:txBody>
      </p:sp>
      <p:sp>
        <p:nvSpPr>
          <p:cNvPr id="23" name="TextBox 22">
            <a:extLst>
              <a:ext uri="{FF2B5EF4-FFF2-40B4-BE49-F238E27FC236}">
                <a16:creationId xmlns:a16="http://schemas.microsoft.com/office/drawing/2014/main" id="{9A00F556-EC6F-4389-BD91-6456C88E992D}"/>
              </a:ext>
            </a:extLst>
          </p:cNvPr>
          <p:cNvSpPr txBox="1"/>
          <p:nvPr/>
        </p:nvSpPr>
        <p:spPr>
          <a:xfrm>
            <a:off x="1198692" y="1131457"/>
            <a:ext cx="9794617" cy="400110"/>
          </a:xfrm>
          <a:prstGeom prst="rect">
            <a:avLst/>
          </a:prstGeom>
          <a:noFill/>
        </p:spPr>
        <p:txBody>
          <a:bodyPr wrap="square">
            <a:spAutoFit/>
          </a:bodyPr>
          <a:lstStyle/>
          <a:p>
            <a:pPr algn="ctr"/>
            <a:r>
              <a:rPr lang="en-US" sz="2000" b="0" i="0" dirty="0">
                <a:solidFill>
                  <a:srgbClr val="F04034"/>
                </a:solidFill>
                <a:effectLst/>
                <a:latin typeface="Montserrat" panose="00000500000000000000" pitchFamily="2" charset="0"/>
              </a:rPr>
              <a:t>What are the alternative solutions available in th</a:t>
            </a:r>
            <a:r>
              <a:rPr lang="en-US" sz="2000" dirty="0">
                <a:solidFill>
                  <a:srgbClr val="F04034"/>
                </a:solidFill>
                <a:latin typeface="Montserrat" panose="00000500000000000000" pitchFamily="2" charset="0"/>
              </a:rPr>
              <a:t>e market</a:t>
            </a:r>
            <a:r>
              <a:rPr lang="en-US" sz="2000" b="0" i="0" dirty="0">
                <a:solidFill>
                  <a:srgbClr val="F04034"/>
                </a:solidFill>
                <a:effectLst/>
                <a:latin typeface="Montserrat" panose="00000500000000000000" pitchFamily="2" charset="0"/>
              </a:rPr>
              <a:t>?</a:t>
            </a:r>
          </a:p>
        </p:txBody>
      </p:sp>
      <p:graphicFrame>
        <p:nvGraphicFramePr>
          <p:cNvPr id="5" name="Diagram 4">
            <a:extLst>
              <a:ext uri="{FF2B5EF4-FFF2-40B4-BE49-F238E27FC236}">
                <a16:creationId xmlns:a16="http://schemas.microsoft.com/office/drawing/2014/main" id="{9150172D-D509-44DC-9C25-9968874D3D5A}"/>
              </a:ext>
            </a:extLst>
          </p:cNvPr>
          <p:cNvGraphicFramePr/>
          <p:nvPr>
            <p:extLst>
              <p:ext uri="{D42A27DB-BD31-4B8C-83A1-F6EECF244321}">
                <p14:modId xmlns:p14="http://schemas.microsoft.com/office/powerpoint/2010/main" val="1732711699"/>
              </p:ext>
            </p:extLst>
          </p:nvPr>
        </p:nvGraphicFramePr>
        <p:xfrm>
          <a:off x="791815" y="1611271"/>
          <a:ext cx="10608370" cy="4996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51798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752475" y="474269"/>
            <a:ext cx="10687050" cy="68762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8. Business Model</a:t>
            </a:r>
            <a:endParaRPr lang="id-ID" sz="4800" b="1" dirty="0">
              <a:gradFill>
                <a:gsLst>
                  <a:gs pos="0">
                    <a:schemeClr val="accent1"/>
                  </a:gs>
                  <a:gs pos="100000">
                    <a:schemeClr val="accent4"/>
                  </a:gs>
                </a:gsLst>
                <a:lin ang="2700000" scaled="1"/>
              </a:gradFill>
            </a:endParaRPr>
          </a:p>
        </p:txBody>
      </p:sp>
      <p:sp>
        <p:nvSpPr>
          <p:cNvPr id="23" name="TextBox 22">
            <a:extLst>
              <a:ext uri="{FF2B5EF4-FFF2-40B4-BE49-F238E27FC236}">
                <a16:creationId xmlns:a16="http://schemas.microsoft.com/office/drawing/2014/main" id="{9A00F556-EC6F-4389-BD91-6456C88E992D}"/>
              </a:ext>
            </a:extLst>
          </p:cNvPr>
          <p:cNvSpPr txBox="1"/>
          <p:nvPr/>
        </p:nvSpPr>
        <p:spPr>
          <a:xfrm>
            <a:off x="752475" y="1131457"/>
            <a:ext cx="10810530" cy="384721"/>
          </a:xfrm>
          <a:prstGeom prst="rect">
            <a:avLst/>
          </a:prstGeom>
          <a:noFill/>
        </p:spPr>
        <p:txBody>
          <a:bodyPr wrap="square">
            <a:spAutoFit/>
          </a:bodyPr>
          <a:lstStyle/>
          <a:p>
            <a:pPr algn="ctr"/>
            <a:r>
              <a:rPr lang="en-US" sz="1900" b="0" i="0" dirty="0">
                <a:solidFill>
                  <a:srgbClr val="F04034"/>
                </a:solidFill>
                <a:effectLst/>
                <a:latin typeface="Montserrat" panose="00000500000000000000" pitchFamily="2" charset="0"/>
              </a:rPr>
              <a:t>What is your revenue model? </a:t>
            </a:r>
          </a:p>
        </p:txBody>
      </p:sp>
      <p:graphicFrame>
        <p:nvGraphicFramePr>
          <p:cNvPr id="5" name="Diagram 4">
            <a:extLst>
              <a:ext uri="{FF2B5EF4-FFF2-40B4-BE49-F238E27FC236}">
                <a16:creationId xmlns:a16="http://schemas.microsoft.com/office/drawing/2014/main" id="{9150172D-D509-44DC-9C25-9968874D3D5A}"/>
              </a:ext>
            </a:extLst>
          </p:cNvPr>
          <p:cNvGraphicFramePr/>
          <p:nvPr>
            <p:extLst>
              <p:ext uri="{D42A27DB-BD31-4B8C-83A1-F6EECF244321}">
                <p14:modId xmlns:p14="http://schemas.microsoft.com/office/powerpoint/2010/main" val="3556824310"/>
              </p:ext>
            </p:extLst>
          </p:nvPr>
        </p:nvGraphicFramePr>
        <p:xfrm>
          <a:off x="791815" y="1611271"/>
          <a:ext cx="10608370" cy="4996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9390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752475" y="474269"/>
            <a:ext cx="10687050" cy="68762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9 Traction</a:t>
            </a:r>
            <a:endParaRPr lang="id-ID" sz="4800" b="1" dirty="0">
              <a:gradFill>
                <a:gsLst>
                  <a:gs pos="0">
                    <a:schemeClr val="accent1"/>
                  </a:gs>
                  <a:gs pos="100000">
                    <a:schemeClr val="accent4"/>
                  </a:gs>
                </a:gsLst>
                <a:lin ang="2700000" scaled="1"/>
              </a:gradFill>
            </a:endParaRPr>
          </a:p>
        </p:txBody>
      </p:sp>
      <p:sp>
        <p:nvSpPr>
          <p:cNvPr id="23" name="TextBox 22">
            <a:extLst>
              <a:ext uri="{FF2B5EF4-FFF2-40B4-BE49-F238E27FC236}">
                <a16:creationId xmlns:a16="http://schemas.microsoft.com/office/drawing/2014/main" id="{9A00F556-EC6F-4389-BD91-6456C88E992D}"/>
              </a:ext>
            </a:extLst>
          </p:cNvPr>
          <p:cNvSpPr txBox="1"/>
          <p:nvPr/>
        </p:nvSpPr>
        <p:spPr>
          <a:xfrm>
            <a:off x="-66716" y="1131457"/>
            <a:ext cx="12325432" cy="384721"/>
          </a:xfrm>
          <a:prstGeom prst="rect">
            <a:avLst/>
          </a:prstGeom>
          <a:noFill/>
        </p:spPr>
        <p:txBody>
          <a:bodyPr wrap="square">
            <a:spAutoFit/>
          </a:bodyPr>
          <a:lstStyle/>
          <a:p>
            <a:pPr algn="ctr"/>
            <a:r>
              <a:rPr lang="en-US" sz="1900" dirty="0">
                <a:solidFill>
                  <a:srgbClr val="F04034"/>
                </a:solidFill>
                <a:latin typeface="Montserrat" panose="00000500000000000000" pitchFamily="2" charset="0"/>
              </a:rPr>
              <a:t>Customer Validation</a:t>
            </a:r>
            <a:endParaRPr lang="en-US" sz="1900" b="0" i="0" dirty="0">
              <a:solidFill>
                <a:srgbClr val="F04034"/>
              </a:solidFill>
              <a:effectLst/>
              <a:latin typeface="Montserrat" panose="00000500000000000000" pitchFamily="2" charset="0"/>
            </a:endParaRPr>
          </a:p>
        </p:txBody>
      </p:sp>
      <p:graphicFrame>
        <p:nvGraphicFramePr>
          <p:cNvPr id="5" name="Diagram 4">
            <a:extLst>
              <a:ext uri="{FF2B5EF4-FFF2-40B4-BE49-F238E27FC236}">
                <a16:creationId xmlns:a16="http://schemas.microsoft.com/office/drawing/2014/main" id="{9150172D-D509-44DC-9C25-9968874D3D5A}"/>
              </a:ext>
            </a:extLst>
          </p:cNvPr>
          <p:cNvGraphicFramePr/>
          <p:nvPr>
            <p:extLst>
              <p:ext uri="{D42A27DB-BD31-4B8C-83A1-F6EECF244321}">
                <p14:modId xmlns:p14="http://schemas.microsoft.com/office/powerpoint/2010/main" val="2586929597"/>
              </p:ext>
            </p:extLst>
          </p:nvPr>
        </p:nvGraphicFramePr>
        <p:xfrm>
          <a:off x="791815" y="1611271"/>
          <a:ext cx="10608370" cy="4996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946555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47474" y="472096"/>
            <a:ext cx="12022606" cy="68326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10. Resource Mobilisation Plan</a:t>
            </a:r>
            <a:endParaRPr lang="id-ID" sz="4800" b="1" dirty="0">
              <a:gradFill>
                <a:gsLst>
                  <a:gs pos="0">
                    <a:schemeClr val="accent1"/>
                  </a:gs>
                  <a:gs pos="100000">
                    <a:schemeClr val="accent4"/>
                  </a:gs>
                </a:gsLst>
                <a:lin ang="2700000" scaled="1"/>
              </a:gradFill>
            </a:endParaRPr>
          </a:p>
        </p:txBody>
      </p:sp>
      <p:sp>
        <p:nvSpPr>
          <p:cNvPr id="23" name="TextBox 22">
            <a:extLst>
              <a:ext uri="{FF2B5EF4-FFF2-40B4-BE49-F238E27FC236}">
                <a16:creationId xmlns:a16="http://schemas.microsoft.com/office/drawing/2014/main" id="{9A00F556-EC6F-4389-BD91-6456C88E992D}"/>
              </a:ext>
            </a:extLst>
          </p:cNvPr>
          <p:cNvSpPr txBox="1"/>
          <p:nvPr/>
        </p:nvSpPr>
        <p:spPr>
          <a:xfrm>
            <a:off x="-66716" y="1131457"/>
            <a:ext cx="12325432" cy="384721"/>
          </a:xfrm>
          <a:prstGeom prst="rect">
            <a:avLst/>
          </a:prstGeom>
          <a:noFill/>
        </p:spPr>
        <p:txBody>
          <a:bodyPr wrap="square">
            <a:spAutoFit/>
          </a:bodyPr>
          <a:lstStyle/>
          <a:p>
            <a:pPr algn="ctr"/>
            <a:r>
              <a:rPr lang="en-US" sz="1900" dirty="0">
                <a:solidFill>
                  <a:srgbClr val="F04034"/>
                </a:solidFill>
                <a:latin typeface="Montserrat" panose="00000500000000000000" pitchFamily="2" charset="0"/>
              </a:rPr>
              <a:t>What is your Resource Mobilization Strategy and What you have done so far? </a:t>
            </a:r>
            <a:endParaRPr lang="en-US" sz="1900" b="0" i="0" dirty="0">
              <a:solidFill>
                <a:srgbClr val="F04034"/>
              </a:solidFill>
              <a:effectLst/>
              <a:latin typeface="Montserrat" panose="00000500000000000000" pitchFamily="2" charset="0"/>
            </a:endParaRPr>
          </a:p>
        </p:txBody>
      </p:sp>
      <p:graphicFrame>
        <p:nvGraphicFramePr>
          <p:cNvPr id="2" name="Diagram 1">
            <a:extLst>
              <a:ext uri="{FF2B5EF4-FFF2-40B4-BE49-F238E27FC236}">
                <a16:creationId xmlns:a16="http://schemas.microsoft.com/office/drawing/2014/main" id="{C6F2617C-0CCB-480D-A055-56858B538146}"/>
              </a:ext>
            </a:extLst>
          </p:cNvPr>
          <p:cNvGraphicFramePr/>
          <p:nvPr>
            <p:extLst>
              <p:ext uri="{D42A27DB-BD31-4B8C-83A1-F6EECF244321}">
                <p14:modId xmlns:p14="http://schemas.microsoft.com/office/powerpoint/2010/main" val="3841881094"/>
              </p:ext>
            </p:extLst>
          </p:nvPr>
        </p:nvGraphicFramePr>
        <p:xfrm>
          <a:off x="619015" y="1408439"/>
          <a:ext cx="11068160" cy="50195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900597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47474" y="472096"/>
            <a:ext cx="12022606" cy="68326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11. Way forward Strategy</a:t>
            </a:r>
            <a:endParaRPr lang="id-ID" sz="4800" b="1" dirty="0">
              <a:gradFill>
                <a:gsLst>
                  <a:gs pos="0">
                    <a:schemeClr val="accent1"/>
                  </a:gs>
                  <a:gs pos="100000">
                    <a:schemeClr val="accent4"/>
                  </a:gs>
                </a:gsLst>
                <a:lin ang="2700000" scaled="1"/>
              </a:gradFill>
            </a:endParaRPr>
          </a:p>
        </p:txBody>
      </p:sp>
      <p:sp>
        <p:nvSpPr>
          <p:cNvPr id="23" name="TextBox 22">
            <a:extLst>
              <a:ext uri="{FF2B5EF4-FFF2-40B4-BE49-F238E27FC236}">
                <a16:creationId xmlns:a16="http://schemas.microsoft.com/office/drawing/2014/main" id="{9A00F556-EC6F-4389-BD91-6456C88E992D}"/>
              </a:ext>
            </a:extLst>
          </p:cNvPr>
          <p:cNvSpPr txBox="1"/>
          <p:nvPr/>
        </p:nvSpPr>
        <p:spPr>
          <a:xfrm>
            <a:off x="-66716" y="1131457"/>
            <a:ext cx="12325432" cy="384721"/>
          </a:xfrm>
          <a:prstGeom prst="rect">
            <a:avLst/>
          </a:prstGeom>
          <a:noFill/>
        </p:spPr>
        <p:txBody>
          <a:bodyPr wrap="square">
            <a:spAutoFit/>
          </a:bodyPr>
          <a:lstStyle/>
          <a:p>
            <a:pPr algn="ctr"/>
            <a:r>
              <a:rPr lang="en-US" sz="1900" dirty="0">
                <a:solidFill>
                  <a:srgbClr val="F04034"/>
                </a:solidFill>
                <a:latin typeface="Montserrat" panose="00000500000000000000" pitchFamily="2" charset="0"/>
              </a:rPr>
              <a:t>What is your implementation strategy in short-term, midterm and long-term?</a:t>
            </a:r>
            <a:endParaRPr lang="en-US" sz="1900" b="0" i="0" dirty="0">
              <a:solidFill>
                <a:srgbClr val="F04034"/>
              </a:solidFill>
              <a:effectLst/>
              <a:latin typeface="Montserrat" panose="00000500000000000000" pitchFamily="2" charset="0"/>
            </a:endParaRPr>
          </a:p>
        </p:txBody>
      </p:sp>
      <p:graphicFrame>
        <p:nvGraphicFramePr>
          <p:cNvPr id="2" name="Diagram 1">
            <a:extLst>
              <a:ext uri="{FF2B5EF4-FFF2-40B4-BE49-F238E27FC236}">
                <a16:creationId xmlns:a16="http://schemas.microsoft.com/office/drawing/2014/main" id="{C6F2617C-0CCB-480D-A055-56858B538146}"/>
              </a:ext>
            </a:extLst>
          </p:cNvPr>
          <p:cNvGraphicFramePr/>
          <p:nvPr>
            <p:extLst>
              <p:ext uri="{D42A27DB-BD31-4B8C-83A1-F6EECF244321}">
                <p14:modId xmlns:p14="http://schemas.microsoft.com/office/powerpoint/2010/main" val="3969263758"/>
              </p:ext>
            </p:extLst>
          </p:nvPr>
        </p:nvGraphicFramePr>
        <p:xfrm>
          <a:off x="47474" y="1465049"/>
          <a:ext cx="12022605" cy="49629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296419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752475" y="474269"/>
            <a:ext cx="10687050" cy="68762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12. The Team</a:t>
            </a:r>
            <a:endParaRPr lang="id-ID" sz="4800" b="1" dirty="0">
              <a:gradFill>
                <a:gsLst>
                  <a:gs pos="0">
                    <a:schemeClr val="accent1"/>
                  </a:gs>
                  <a:gs pos="100000">
                    <a:schemeClr val="accent4"/>
                  </a:gs>
                </a:gsLst>
                <a:lin ang="2700000" scaled="1"/>
              </a:gradFill>
            </a:endParaRPr>
          </a:p>
        </p:txBody>
      </p:sp>
      <p:sp>
        <p:nvSpPr>
          <p:cNvPr id="23" name="TextBox 22">
            <a:extLst>
              <a:ext uri="{FF2B5EF4-FFF2-40B4-BE49-F238E27FC236}">
                <a16:creationId xmlns:a16="http://schemas.microsoft.com/office/drawing/2014/main" id="{9A00F556-EC6F-4389-BD91-6456C88E992D}"/>
              </a:ext>
            </a:extLst>
          </p:cNvPr>
          <p:cNvSpPr txBox="1"/>
          <p:nvPr/>
        </p:nvSpPr>
        <p:spPr>
          <a:xfrm>
            <a:off x="1711583" y="1099149"/>
            <a:ext cx="8768834" cy="400110"/>
          </a:xfrm>
          <a:prstGeom prst="rect">
            <a:avLst/>
          </a:prstGeom>
          <a:noFill/>
        </p:spPr>
        <p:txBody>
          <a:bodyPr wrap="square">
            <a:spAutoFit/>
          </a:bodyPr>
          <a:lstStyle/>
          <a:p>
            <a:pPr algn="ctr"/>
            <a:r>
              <a:rPr lang="en-US" sz="2000" dirty="0">
                <a:solidFill>
                  <a:srgbClr val="F04034"/>
                </a:solidFill>
                <a:latin typeface="Montserrat" panose="00000500000000000000" pitchFamily="2" charset="0"/>
              </a:rPr>
              <a:t>Show the people behind the idea and briefly describe their role</a:t>
            </a:r>
            <a:endParaRPr lang="en-US" sz="2000" b="0" i="0" dirty="0">
              <a:solidFill>
                <a:srgbClr val="F04034"/>
              </a:solidFill>
              <a:effectLst/>
              <a:latin typeface="Montserrat" panose="00000500000000000000" pitchFamily="2" charset="0"/>
            </a:endParaRPr>
          </a:p>
        </p:txBody>
      </p:sp>
      <p:graphicFrame>
        <p:nvGraphicFramePr>
          <p:cNvPr id="5" name="Diagram 4">
            <a:extLst>
              <a:ext uri="{FF2B5EF4-FFF2-40B4-BE49-F238E27FC236}">
                <a16:creationId xmlns:a16="http://schemas.microsoft.com/office/drawing/2014/main" id="{9150172D-D509-44DC-9C25-9968874D3D5A}"/>
              </a:ext>
            </a:extLst>
          </p:cNvPr>
          <p:cNvGraphicFramePr/>
          <p:nvPr>
            <p:extLst>
              <p:ext uri="{D42A27DB-BD31-4B8C-83A1-F6EECF244321}">
                <p14:modId xmlns:p14="http://schemas.microsoft.com/office/powerpoint/2010/main" val="3198894747"/>
              </p:ext>
            </p:extLst>
          </p:nvPr>
        </p:nvGraphicFramePr>
        <p:xfrm>
          <a:off x="791815" y="1611271"/>
          <a:ext cx="10608370" cy="4996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29626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5185754" y="1465049"/>
            <a:ext cx="1390650"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498085" y="5121340"/>
            <a:ext cx="904415" cy="261610"/>
          </a:xfrm>
          <a:prstGeom prst="rect">
            <a:avLst/>
          </a:prstGeom>
          <a:noFill/>
        </p:spPr>
        <p:txBody>
          <a:bodyPr wrap="none" rtlCol="0">
            <a:spAutoFit/>
          </a:bodyPr>
          <a:lstStyle/>
          <a:p>
            <a:pPr algn="ctr"/>
            <a:r>
              <a:rPr lang="en-US" sz="1100" dirty="0">
                <a:solidFill>
                  <a:schemeClr val="bg1"/>
                </a:solidFill>
              </a:rPr>
              <a:t>LEARN NOW</a:t>
            </a:r>
          </a:p>
        </p:txBody>
      </p:sp>
      <p:sp>
        <p:nvSpPr>
          <p:cNvPr id="22" name="Title 3">
            <a:extLst>
              <a:ext uri="{FF2B5EF4-FFF2-40B4-BE49-F238E27FC236}">
                <a16:creationId xmlns:a16="http://schemas.microsoft.com/office/drawing/2014/main" id="{50DAB186-A58A-4DB0-8D12-49244C1CB1FC}"/>
              </a:ext>
            </a:extLst>
          </p:cNvPr>
          <p:cNvSpPr txBox="1">
            <a:spLocks/>
          </p:cNvSpPr>
          <p:nvPr/>
        </p:nvSpPr>
        <p:spPr>
          <a:xfrm>
            <a:off x="752475" y="472096"/>
            <a:ext cx="10687050" cy="687624"/>
          </a:xfrm>
          <a:prstGeom prst="rect">
            <a:avLst/>
          </a:prstGeom>
          <a:noFill/>
        </p:spPr>
        <p:txBody>
          <a:bodyPr wrap="square" rtlCol="0">
            <a:spAutoFit/>
          </a:bodyPr>
          <a:lstStyle>
            <a:defPPr>
              <a:defRPr lang="en-US"/>
            </a:defPPr>
            <a:lvl1pPr>
              <a:lnSpc>
                <a:spcPct val="80000"/>
              </a:lnSpc>
              <a:defRPr sz="6000">
                <a:solidFill>
                  <a:schemeClr val="bg1"/>
                </a:solidFill>
                <a:latin typeface="Montserrat" panose="02000000000000000000" pitchFamily="2" charset="0"/>
                <a:cs typeface="Montserrat" panose="02000000000000000000" pitchFamily="2" charset="0"/>
              </a:defRPr>
            </a:lvl1pPr>
          </a:lstStyle>
          <a:p>
            <a:pPr algn="ctr"/>
            <a:r>
              <a:rPr lang="en-IN" sz="4800" b="1" dirty="0">
                <a:solidFill>
                  <a:srgbClr val="545454"/>
                </a:solidFill>
              </a:rPr>
              <a:t>13. Contact</a:t>
            </a:r>
            <a:endParaRPr lang="id-ID" sz="4800" b="1" dirty="0">
              <a:gradFill>
                <a:gsLst>
                  <a:gs pos="0">
                    <a:schemeClr val="accent1"/>
                  </a:gs>
                  <a:gs pos="100000">
                    <a:schemeClr val="accent4"/>
                  </a:gs>
                </a:gsLst>
                <a:lin ang="2700000" scaled="1"/>
              </a:gradFill>
            </a:endParaRPr>
          </a:p>
        </p:txBody>
      </p:sp>
      <p:sp>
        <p:nvSpPr>
          <p:cNvPr id="23" name="TextBox 22">
            <a:extLst>
              <a:ext uri="{FF2B5EF4-FFF2-40B4-BE49-F238E27FC236}">
                <a16:creationId xmlns:a16="http://schemas.microsoft.com/office/drawing/2014/main" id="{9A00F556-EC6F-4389-BD91-6456C88E992D}"/>
              </a:ext>
            </a:extLst>
          </p:cNvPr>
          <p:cNvSpPr txBox="1"/>
          <p:nvPr/>
        </p:nvSpPr>
        <p:spPr>
          <a:xfrm>
            <a:off x="-66716" y="1131457"/>
            <a:ext cx="12325432" cy="384721"/>
          </a:xfrm>
          <a:prstGeom prst="rect">
            <a:avLst/>
          </a:prstGeom>
          <a:noFill/>
        </p:spPr>
        <p:txBody>
          <a:bodyPr wrap="square">
            <a:spAutoFit/>
          </a:bodyPr>
          <a:lstStyle/>
          <a:p>
            <a:pPr algn="ctr"/>
            <a:r>
              <a:rPr lang="en-US" sz="1900" dirty="0">
                <a:solidFill>
                  <a:srgbClr val="F04034"/>
                </a:solidFill>
                <a:latin typeface="Montserrat" panose="00000500000000000000" pitchFamily="2" charset="0"/>
              </a:rPr>
              <a:t>Leave your contact details and let people know how to reach you quickly</a:t>
            </a:r>
            <a:endParaRPr lang="en-US" sz="1900" b="0" i="0" dirty="0">
              <a:solidFill>
                <a:srgbClr val="F04034"/>
              </a:solidFill>
              <a:effectLst/>
              <a:latin typeface="Montserrat" panose="00000500000000000000" pitchFamily="2" charset="0"/>
            </a:endParaRPr>
          </a:p>
        </p:txBody>
      </p:sp>
      <p:graphicFrame>
        <p:nvGraphicFramePr>
          <p:cNvPr id="2" name="Diagram 1">
            <a:extLst>
              <a:ext uri="{FF2B5EF4-FFF2-40B4-BE49-F238E27FC236}">
                <a16:creationId xmlns:a16="http://schemas.microsoft.com/office/drawing/2014/main" id="{C6F2617C-0CCB-480D-A055-56858B538146}"/>
              </a:ext>
            </a:extLst>
          </p:cNvPr>
          <p:cNvGraphicFramePr/>
          <p:nvPr>
            <p:extLst>
              <p:ext uri="{D42A27DB-BD31-4B8C-83A1-F6EECF244321}">
                <p14:modId xmlns:p14="http://schemas.microsoft.com/office/powerpoint/2010/main" val="1900986699"/>
              </p:ext>
            </p:extLst>
          </p:nvPr>
        </p:nvGraphicFramePr>
        <p:xfrm>
          <a:off x="619015" y="1408439"/>
          <a:ext cx="11068160" cy="50195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770098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shadeToTitle="1">
        <a:solidFill>
          <a:schemeClr val="bg1"/>
        </a:solidFill>
        <a:effectLst/>
      </p:bgPr>
    </p:bg>
    <p:spTree>
      <p:nvGrpSpPr>
        <p:cNvPr id="1" name=""/>
        <p:cNvGrpSpPr/>
        <p:nvPr/>
      </p:nvGrpSpPr>
      <p:grpSpPr>
        <a:xfrm>
          <a:off x="0" y="0"/>
          <a:ext cx="0" cy="0"/>
          <a:chOff x="0" y="0"/>
          <a:chExt cx="0" cy="0"/>
        </a:xfrm>
      </p:grpSpPr>
      <p:sp>
        <p:nvSpPr>
          <p:cNvPr id="6" name="Circle: Hollow 5">
            <a:extLst>
              <a:ext uri="{FF2B5EF4-FFF2-40B4-BE49-F238E27FC236}">
                <a16:creationId xmlns:a16="http://schemas.microsoft.com/office/drawing/2014/main" id="{97ACA13C-58B6-4BC3-A6B8-14B40AA351A6}"/>
              </a:ext>
            </a:extLst>
          </p:cNvPr>
          <p:cNvSpPr/>
          <p:nvPr/>
        </p:nvSpPr>
        <p:spPr>
          <a:xfrm>
            <a:off x="2313991" y="223933"/>
            <a:ext cx="7008534" cy="6450253"/>
          </a:xfrm>
          <a:prstGeom prst="donut">
            <a:avLst>
              <a:gd name="adj" fmla="val 22544"/>
            </a:avLst>
          </a:prstGeom>
          <a:solidFill>
            <a:srgbClr val="F9F9F9"/>
          </a:solidFill>
          <a:ln>
            <a:noFill/>
          </a:ln>
          <a:effectLst>
            <a:outerShdw blurRad="6731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ectangle 8">
            <a:extLst>
              <a:ext uri="{FF2B5EF4-FFF2-40B4-BE49-F238E27FC236}">
                <a16:creationId xmlns:a16="http://schemas.microsoft.com/office/drawing/2014/main" id="{472B2FAB-385E-41D5-BFD5-0E6058CF3BED}"/>
              </a:ext>
            </a:extLst>
          </p:cNvPr>
          <p:cNvSpPr/>
          <p:nvPr/>
        </p:nvSpPr>
        <p:spPr>
          <a:xfrm>
            <a:off x="3082833" y="2332957"/>
            <a:ext cx="3233533" cy="1746913"/>
          </a:xfrm>
          <a:prstGeom prst="rect">
            <a:avLst/>
          </a:prstGeom>
          <a:noFill/>
          <a:ln w="571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 name="Rectangle 9">
            <a:extLst>
              <a:ext uri="{FF2B5EF4-FFF2-40B4-BE49-F238E27FC236}">
                <a16:creationId xmlns:a16="http://schemas.microsoft.com/office/drawing/2014/main" id="{8388ACB6-E0DB-4E25-9B73-FB3450893755}"/>
              </a:ext>
            </a:extLst>
          </p:cNvPr>
          <p:cNvSpPr/>
          <p:nvPr/>
        </p:nvSpPr>
        <p:spPr>
          <a:xfrm>
            <a:off x="5553228" y="2552458"/>
            <a:ext cx="1326108" cy="1307910"/>
          </a:xfrm>
          <a:prstGeom prst="rect">
            <a:avLst/>
          </a:prstGeom>
          <a:solidFill>
            <a:schemeClr val="bg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B9D6EEB4-FBA9-4485-A351-F1CE6BD5232A}"/>
              </a:ext>
            </a:extLst>
          </p:cNvPr>
          <p:cNvSpPr txBox="1"/>
          <p:nvPr/>
        </p:nvSpPr>
        <p:spPr>
          <a:xfrm>
            <a:off x="3428443" y="2421583"/>
            <a:ext cx="5335115" cy="1446550"/>
          </a:xfrm>
          <a:prstGeom prst="rect">
            <a:avLst/>
          </a:prstGeom>
          <a:noFill/>
        </p:spPr>
        <p:txBody>
          <a:bodyPr wrap="none" rtlCol="0">
            <a:spAutoFit/>
          </a:bodyPr>
          <a:lstStyle/>
          <a:p>
            <a:r>
              <a:rPr lang="en-US" sz="8800" b="1" spc="600" dirty="0">
                <a:solidFill>
                  <a:schemeClr val="tx1">
                    <a:lumMod val="85000"/>
                    <a:lumOff val="15000"/>
                  </a:schemeClr>
                </a:solidFill>
              </a:rPr>
              <a:t>Thank</a:t>
            </a:r>
            <a:r>
              <a:rPr lang="en-US" sz="8800" i="1" spc="600" dirty="0">
                <a:solidFill>
                  <a:srgbClr val="EE2516"/>
                </a:solidFill>
              </a:rPr>
              <a:t>you</a:t>
            </a:r>
            <a:endParaRPr lang="id-ID" sz="8800" i="1" spc="600" dirty="0">
              <a:gradFill>
                <a:gsLst>
                  <a:gs pos="0">
                    <a:schemeClr val="accent1"/>
                  </a:gs>
                  <a:gs pos="100000">
                    <a:schemeClr val="accent4"/>
                  </a:gs>
                </a:gsLst>
                <a:lin ang="2700000" scaled="1"/>
              </a:gradFill>
            </a:endParaRPr>
          </a:p>
        </p:txBody>
      </p:sp>
    </p:spTree>
    <p:extLst>
      <p:ext uri="{BB962C8B-B14F-4D97-AF65-F5344CB8AC3E}">
        <p14:creationId xmlns:p14="http://schemas.microsoft.com/office/powerpoint/2010/main" val="2590207439"/>
      </p:ext>
    </p:extLst>
  </p:cSld>
  <p:clrMapOvr>
    <a:masterClrMapping/>
  </p:clrMapOvr>
</p:sld>
</file>

<file path=ppt/theme/theme1.xml><?xml version="1.0" encoding="utf-8"?>
<a:theme xmlns:a="http://schemas.openxmlformats.org/drawingml/2006/main" name="Office Theme">
  <a:themeElements>
    <a:clrScheme name="Custom 3">
      <a:dk1>
        <a:sysClr val="windowText" lastClr="000000"/>
      </a:dk1>
      <a:lt1>
        <a:sysClr val="window" lastClr="FFFFFF"/>
      </a:lt1>
      <a:dk2>
        <a:srgbClr val="44546A"/>
      </a:dk2>
      <a:lt2>
        <a:srgbClr val="E7E6E6"/>
      </a:lt2>
      <a:accent1>
        <a:srgbClr val="FF3399"/>
      </a:accent1>
      <a:accent2>
        <a:srgbClr val="FF6600"/>
      </a:accent2>
      <a:accent3>
        <a:srgbClr val="FF3399"/>
      </a:accent3>
      <a:accent4>
        <a:srgbClr val="FF6600"/>
      </a:accent4>
      <a:accent5>
        <a:srgbClr val="FF3399"/>
      </a:accent5>
      <a:accent6>
        <a:srgbClr val="FF6600"/>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3308</TotalTime>
  <Words>2669</Words>
  <Application>Microsoft Office PowerPoint</Application>
  <PresentationFormat>Widescreen</PresentationFormat>
  <Paragraphs>304</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Montserrat</vt:lpstr>
      <vt:lpstr>Times New Roman</vt:lpstr>
      <vt:lpstr>ui-sans-serif</vt:lpstr>
      <vt:lpstr>Office Theme</vt:lpstr>
      <vt:lpstr>PowerPoint Presentation</vt:lpstr>
      <vt:lpstr>Assignment 1: Problem Framing/Statement Canvas  Preparation and Submission of a Problem Statement Canvas Sheet for Validation of your Idea/Prototype/Innovation  Find few Sample Problem Statement/Framing Canvas copy for Reference and Blank Formats for Fill up and Upload of the same (jpg or pdf) in the YUKTI Portal. </vt:lpstr>
      <vt:lpstr>PowerPoint Presentation</vt:lpstr>
      <vt:lpstr>Assignment 2: Empathy Map/Opportunity Canvas  Preparation and Submission of an Empathy Map/ Opportunity Canvas Sheet for Validation of your Prototype/Innovation   Find few Sample empathy canvas copy for Reference and a Blank Format for Fill up and Upload of the same (jpg or pdf) in the YUKTI Portal. </vt:lpstr>
      <vt:lpstr>PowerPoint Presentation</vt:lpstr>
      <vt:lpstr>Assignment 3: Business Model Canvas  Preparation and Submission of an Business Model Canvas Sheet for Business Opportunity Validation your Prototype/Innovation   Find few Sample Business Model Validation copy for Reference and a Blank Framework for Fill up and Upload of the same (jpg or pdf) in the YUKTI Portal. </vt:lpstr>
      <vt:lpstr>PowerPoint Presentation</vt:lpstr>
      <vt:lpstr>Assignment 4: Recent Images of Prototype/Innovation   </vt:lpstr>
      <vt:lpstr> </vt:lpstr>
      <vt:lpstr>Assignment 5: Submit Brief Presentation on your Innovation and Business Opportunity Plan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 ROG</dc:creator>
  <cp:lastModifiedBy>Gokul Hutaasan Nekkanti</cp:lastModifiedBy>
  <cp:revision>236</cp:revision>
  <dcterms:created xsi:type="dcterms:W3CDTF">2018-08-17T08:14:21Z</dcterms:created>
  <dcterms:modified xsi:type="dcterms:W3CDTF">2025-12-02T08:37:57Z</dcterms:modified>
</cp:coreProperties>
</file>